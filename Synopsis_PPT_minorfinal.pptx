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8288000" cy="10287000"/>
  <p:notesSz cx="18288000" cy="10287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56" d="100"/>
          <a:sy n="56" d="100"/>
        </p:scale>
        <p:origin x="610" y="6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7924800" cy="5159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10358438" y="0"/>
            <a:ext cx="7924800" cy="5159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89208C3-B7A4-4758-8F43-E8C982659427}" type="datetimeFigureOut">
              <a:rPr lang="en-IN" smtClean="0"/>
              <a:t>20-08-2026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057900" y="1285875"/>
            <a:ext cx="6172200" cy="34718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828800" y="4951413"/>
            <a:ext cx="14630400" cy="4049712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771063"/>
            <a:ext cx="7924800" cy="5159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10358438" y="9771063"/>
            <a:ext cx="7924800" cy="5159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CE8DEF2-C719-4851-AC23-2BBB8C574F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201712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E8DEF2-C719-4851-AC23-2BBB8C574FFD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00508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71600" y="3188970"/>
            <a:ext cx="15544800" cy="21602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8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8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48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8/20/2026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8/20/2026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8/20/2026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126843" y="108318"/>
            <a:ext cx="18040985" cy="10070465"/>
          </a:xfrm>
          <a:custGeom>
            <a:avLst/>
            <a:gdLst/>
            <a:ahLst/>
            <a:cxnLst/>
            <a:rect l="l" t="t" r="r" b="b"/>
            <a:pathLst>
              <a:path w="18040985" h="10070465">
                <a:moveTo>
                  <a:pt x="0" y="0"/>
                </a:moveTo>
                <a:lnTo>
                  <a:pt x="18040451" y="0"/>
                </a:lnTo>
                <a:lnTo>
                  <a:pt x="18040451" y="10070401"/>
                </a:lnTo>
                <a:lnTo>
                  <a:pt x="0" y="10070401"/>
                </a:lnTo>
                <a:lnTo>
                  <a:pt x="0" y="0"/>
                </a:lnTo>
                <a:close/>
              </a:path>
            </a:pathLst>
          </a:custGeom>
          <a:ln w="42862">
            <a:solidFill>
              <a:srgbClr val="46B0F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bg object 1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6257976" y="255572"/>
            <a:ext cx="1778297" cy="600851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60888" y="62591"/>
            <a:ext cx="5858877" cy="13092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8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153904" y="3919467"/>
            <a:ext cx="15980191" cy="21837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8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hyperlink" Target="https://arxiv.org/pdf/2408.06724" TargetMode="External"/><Relationship Id="rId3" Type="http://schemas.openxmlformats.org/officeDocument/2006/relationships/hyperlink" Target="https://www.kimballgroup.com/data-warehouse-business-intelligence-resources/books/data-warehouse-dw-toolkit/?utm_source=chatgpt.com" TargetMode="External"/><Relationship Id="rId7" Type="http://schemas.openxmlformats.org/officeDocument/2006/relationships/hyperlink" Target="https://christophm.github.io/interpretable-ml-book/?utm_source=chatgpt.com" TargetMode="External"/><Relationship Id="rId2" Type="http://schemas.openxmlformats.org/officeDocument/2006/relationships/hyperlink" Target="https://iiardjournals.org/get/IJCSMT/VOL.%2011%20NO.%207%202025/Optimizing%20Extract%20Transform%20Load%20118-126.pdf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arxiv.org/pdf/2506.05941" TargetMode="External"/><Relationship Id="rId5" Type="http://schemas.openxmlformats.org/officeDocument/2006/relationships/hyperlink" Target="https://otexts.com/fpp3/?utm_source=chatgpt.com" TargetMode="External"/><Relationship Id="rId4" Type="http://schemas.openxmlformats.org/officeDocument/2006/relationships/hyperlink" Target="https://sergiolujanmora.es/reducing-inconsistency-integrating-data-different-sources" TargetMode="Externa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6002000" y="225704"/>
            <a:ext cx="2072005" cy="1024890"/>
          </a:xfrm>
          <a:custGeom>
            <a:avLst/>
            <a:gdLst/>
            <a:ahLst/>
            <a:cxnLst/>
            <a:rect l="l" t="t" r="r" b="b"/>
            <a:pathLst>
              <a:path w="2072005" h="1024890">
                <a:moveTo>
                  <a:pt x="2071877" y="0"/>
                </a:moveTo>
                <a:lnTo>
                  <a:pt x="0" y="0"/>
                </a:lnTo>
                <a:lnTo>
                  <a:pt x="0" y="1024318"/>
                </a:lnTo>
                <a:lnTo>
                  <a:pt x="2071877" y="1024318"/>
                </a:lnTo>
                <a:lnTo>
                  <a:pt x="2071877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7250" y="189166"/>
            <a:ext cx="1314233" cy="2237511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423574" y="215544"/>
            <a:ext cx="6650201" cy="2147785"/>
          </a:xfrm>
          <a:prstGeom prst="rect">
            <a:avLst/>
          </a:prstGeom>
        </p:spPr>
      </p:pic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xfrm>
            <a:off x="5891833" y="2289530"/>
            <a:ext cx="5711825" cy="12598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100" b="0" dirty="0">
                <a:latin typeface="Times New Roman"/>
                <a:cs typeface="Times New Roman"/>
              </a:rPr>
              <a:t>Major</a:t>
            </a:r>
            <a:r>
              <a:rPr sz="8100" b="0" spc="-220" dirty="0">
                <a:latin typeface="Times New Roman"/>
                <a:cs typeface="Times New Roman"/>
              </a:rPr>
              <a:t> </a:t>
            </a:r>
            <a:r>
              <a:rPr sz="8100" b="0" spc="-10" dirty="0">
                <a:latin typeface="Times New Roman"/>
                <a:cs typeface="Times New Roman"/>
              </a:rPr>
              <a:t>Project</a:t>
            </a:r>
            <a:endParaRPr sz="81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40" algn="ctr">
              <a:lnSpc>
                <a:spcPts val="5690"/>
              </a:lnSpc>
              <a:spcBef>
                <a:spcPts val="100"/>
              </a:spcBef>
            </a:pPr>
            <a:r>
              <a:rPr spc="-10" dirty="0"/>
              <a:t>Title:</a:t>
            </a:r>
          </a:p>
          <a:p>
            <a:pPr marL="15240" marR="5080" algn="ctr">
              <a:lnSpc>
                <a:spcPts val="5620"/>
              </a:lnSpc>
              <a:spcBef>
                <a:spcPts val="165"/>
              </a:spcBef>
            </a:pPr>
            <a:r>
              <a:rPr dirty="0"/>
              <a:t>Retail</a:t>
            </a:r>
            <a:r>
              <a:rPr spc="-45" dirty="0"/>
              <a:t> </a:t>
            </a:r>
            <a:r>
              <a:rPr dirty="0"/>
              <a:t>Pulse</a:t>
            </a:r>
            <a:r>
              <a:rPr spc="-40" dirty="0"/>
              <a:t> </a:t>
            </a:r>
            <a:r>
              <a:rPr dirty="0"/>
              <a:t>-</a:t>
            </a:r>
            <a:r>
              <a:rPr spc="-300" dirty="0"/>
              <a:t> </a:t>
            </a:r>
            <a:r>
              <a:rPr dirty="0"/>
              <a:t>A</a:t>
            </a:r>
            <a:r>
              <a:rPr spc="-295" dirty="0"/>
              <a:t> </a:t>
            </a:r>
            <a:r>
              <a:rPr spc="-30" dirty="0"/>
              <a:t>Multi-</a:t>
            </a:r>
            <a:r>
              <a:rPr dirty="0"/>
              <a:t>Source</a:t>
            </a:r>
            <a:r>
              <a:rPr spc="-40" dirty="0"/>
              <a:t> </a:t>
            </a:r>
            <a:r>
              <a:rPr dirty="0"/>
              <a:t>Pipeline</a:t>
            </a:r>
            <a:r>
              <a:rPr spc="-40" dirty="0"/>
              <a:t> </a:t>
            </a:r>
            <a:r>
              <a:rPr dirty="0"/>
              <a:t>for</a:t>
            </a:r>
            <a:r>
              <a:rPr spc="-40" dirty="0"/>
              <a:t> </a:t>
            </a:r>
            <a:r>
              <a:rPr dirty="0"/>
              <a:t>E-Commerce</a:t>
            </a:r>
            <a:r>
              <a:rPr spc="-45" dirty="0"/>
              <a:t> </a:t>
            </a:r>
            <a:r>
              <a:rPr spc="-10" dirty="0"/>
              <a:t>Business Intelligence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535988" y="7703483"/>
            <a:ext cx="2028189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700" b="1" spc="-10" dirty="0">
                <a:latin typeface="Times New Roman"/>
                <a:cs typeface="Times New Roman"/>
              </a:rPr>
              <a:t>Presented</a:t>
            </a:r>
            <a:r>
              <a:rPr sz="2700" b="1" spc="-110" dirty="0">
                <a:latin typeface="Times New Roman"/>
                <a:cs typeface="Times New Roman"/>
              </a:rPr>
              <a:t> </a:t>
            </a:r>
            <a:r>
              <a:rPr sz="2700" b="1" spc="-25" dirty="0">
                <a:latin typeface="Times New Roman"/>
                <a:cs typeface="Times New Roman"/>
              </a:rPr>
              <a:t>by:</a:t>
            </a:r>
            <a:endParaRPr sz="27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776153" y="7774120"/>
            <a:ext cx="4998720" cy="1640839"/>
          </a:xfrm>
          <a:prstGeom prst="rect">
            <a:avLst/>
          </a:prstGeom>
        </p:spPr>
        <p:txBody>
          <a:bodyPr vert="horz" wrap="square" lIns="0" tIns="34290" rIns="0" bIns="0" rtlCol="0">
            <a:spAutoFit/>
          </a:bodyPr>
          <a:lstStyle/>
          <a:p>
            <a:pPr marL="79375" marR="5080" indent="-67310">
              <a:lnSpc>
                <a:spcPts val="3160"/>
              </a:lnSpc>
              <a:spcBef>
                <a:spcPts val="270"/>
              </a:spcBef>
            </a:pPr>
            <a:r>
              <a:rPr sz="2700" b="1" dirty="0">
                <a:latin typeface="Times New Roman"/>
                <a:cs typeface="Times New Roman"/>
              </a:rPr>
              <a:t>Akash</a:t>
            </a:r>
            <a:r>
              <a:rPr sz="2700" b="1" spc="-25" dirty="0">
                <a:latin typeface="Times New Roman"/>
                <a:cs typeface="Times New Roman"/>
              </a:rPr>
              <a:t> </a:t>
            </a:r>
            <a:r>
              <a:rPr sz="2700" b="1" dirty="0">
                <a:latin typeface="Times New Roman"/>
                <a:cs typeface="Times New Roman"/>
              </a:rPr>
              <a:t>Chauhan</a:t>
            </a:r>
            <a:r>
              <a:rPr sz="2700" b="1" spc="-20" dirty="0">
                <a:latin typeface="Times New Roman"/>
                <a:cs typeface="Times New Roman"/>
              </a:rPr>
              <a:t> </a:t>
            </a:r>
            <a:r>
              <a:rPr sz="2700" b="1" dirty="0">
                <a:latin typeface="Times New Roman"/>
                <a:cs typeface="Times New Roman"/>
              </a:rPr>
              <a:t>—</a:t>
            </a:r>
            <a:r>
              <a:rPr sz="2700" b="1" spc="-15" dirty="0">
                <a:latin typeface="Times New Roman"/>
                <a:cs typeface="Times New Roman"/>
              </a:rPr>
              <a:t> </a:t>
            </a:r>
            <a:r>
              <a:rPr sz="2700" b="1" spc="-10" dirty="0">
                <a:latin typeface="Times New Roman"/>
                <a:cs typeface="Times New Roman"/>
              </a:rPr>
              <a:t>500123838 </a:t>
            </a:r>
            <a:r>
              <a:rPr sz="2700" b="1" dirty="0">
                <a:latin typeface="Times New Roman"/>
                <a:cs typeface="Times New Roman"/>
              </a:rPr>
              <a:t>Suryansh</a:t>
            </a:r>
            <a:r>
              <a:rPr sz="2700" b="1" spc="-30" dirty="0">
                <a:latin typeface="Times New Roman"/>
                <a:cs typeface="Times New Roman"/>
              </a:rPr>
              <a:t> </a:t>
            </a:r>
            <a:r>
              <a:rPr sz="2700" b="1" dirty="0">
                <a:latin typeface="Times New Roman"/>
                <a:cs typeface="Times New Roman"/>
              </a:rPr>
              <a:t>Chauhan</a:t>
            </a:r>
            <a:r>
              <a:rPr sz="2700" b="1" spc="-25" dirty="0">
                <a:latin typeface="Times New Roman"/>
                <a:cs typeface="Times New Roman"/>
              </a:rPr>
              <a:t> </a:t>
            </a:r>
            <a:r>
              <a:rPr sz="2700" b="1" dirty="0">
                <a:latin typeface="Times New Roman"/>
                <a:cs typeface="Times New Roman"/>
              </a:rPr>
              <a:t>—</a:t>
            </a:r>
            <a:r>
              <a:rPr sz="2700" b="1" spc="-20" dirty="0">
                <a:latin typeface="Times New Roman"/>
                <a:cs typeface="Times New Roman"/>
              </a:rPr>
              <a:t> </a:t>
            </a:r>
            <a:r>
              <a:rPr sz="2700" b="1" spc="-10" dirty="0">
                <a:latin typeface="Times New Roman"/>
                <a:cs typeface="Times New Roman"/>
              </a:rPr>
              <a:t>500121527 </a:t>
            </a:r>
            <a:r>
              <a:rPr sz="2700" b="1" dirty="0">
                <a:latin typeface="Times New Roman"/>
                <a:cs typeface="Times New Roman"/>
              </a:rPr>
              <a:t>Himanshu</a:t>
            </a:r>
            <a:r>
              <a:rPr sz="2700" b="1" spc="-30" dirty="0">
                <a:latin typeface="Times New Roman"/>
                <a:cs typeface="Times New Roman"/>
              </a:rPr>
              <a:t> </a:t>
            </a:r>
            <a:r>
              <a:rPr sz="2700" b="1" dirty="0">
                <a:latin typeface="Times New Roman"/>
                <a:cs typeface="Times New Roman"/>
              </a:rPr>
              <a:t>Bhaker</a:t>
            </a:r>
            <a:r>
              <a:rPr sz="2700" b="1" spc="-60" dirty="0">
                <a:latin typeface="Times New Roman"/>
                <a:cs typeface="Times New Roman"/>
              </a:rPr>
              <a:t> </a:t>
            </a:r>
            <a:r>
              <a:rPr sz="2700" b="1" dirty="0">
                <a:latin typeface="Times New Roman"/>
                <a:cs typeface="Times New Roman"/>
              </a:rPr>
              <a:t>—</a:t>
            </a:r>
            <a:r>
              <a:rPr sz="2700" b="1" spc="-10" dirty="0">
                <a:latin typeface="Times New Roman"/>
                <a:cs typeface="Times New Roman"/>
              </a:rPr>
              <a:t> 500123230 </a:t>
            </a:r>
            <a:r>
              <a:rPr sz="2700" b="1" dirty="0">
                <a:latin typeface="Times New Roman"/>
                <a:cs typeface="Times New Roman"/>
              </a:rPr>
              <a:t>Abhay Chaudhary — </a:t>
            </a:r>
            <a:r>
              <a:rPr sz="2700" b="1" spc="-10" dirty="0">
                <a:latin typeface="Times New Roman"/>
                <a:cs typeface="Times New Roman"/>
              </a:rPr>
              <a:t>500122710</a:t>
            </a:r>
            <a:endParaRPr sz="27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3861425" y="7635246"/>
            <a:ext cx="4169410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700" b="1" dirty="0">
                <a:latin typeface="Times New Roman"/>
                <a:cs typeface="Times New Roman"/>
              </a:rPr>
              <a:t>Guided</a:t>
            </a:r>
            <a:r>
              <a:rPr sz="2700" b="1" spc="-65" dirty="0">
                <a:latin typeface="Times New Roman"/>
                <a:cs typeface="Times New Roman"/>
              </a:rPr>
              <a:t> </a:t>
            </a:r>
            <a:r>
              <a:rPr sz="2700" b="1" dirty="0">
                <a:latin typeface="Times New Roman"/>
                <a:cs typeface="Times New Roman"/>
              </a:rPr>
              <a:t>by:</a:t>
            </a:r>
            <a:r>
              <a:rPr sz="2700" b="1" spc="-175" dirty="0">
                <a:latin typeface="Times New Roman"/>
                <a:cs typeface="Times New Roman"/>
              </a:rPr>
              <a:t> </a:t>
            </a:r>
            <a:r>
              <a:rPr sz="2700" b="1" spc="-25" dirty="0">
                <a:latin typeface="Times New Roman"/>
                <a:cs typeface="Times New Roman"/>
              </a:rPr>
              <a:t>Dr</a:t>
            </a:r>
            <a:r>
              <a:rPr sz="2700" b="1" spc="-200" dirty="0">
                <a:latin typeface="Times New Roman"/>
                <a:cs typeface="Times New Roman"/>
              </a:rPr>
              <a:t> </a:t>
            </a:r>
            <a:r>
              <a:rPr sz="2700" b="1" dirty="0">
                <a:latin typeface="Times New Roman"/>
                <a:cs typeface="Times New Roman"/>
              </a:rPr>
              <a:t>Amit</a:t>
            </a:r>
            <a:r>
              <a:rPr sz="2700" b="1" spc="-15" dirty="0">
                <a:latin typeface="Times New Roman"/>
                <a:cs typeface="Times New Roman"/>
              </a:rPr>
              <a:t> </a:t>
            </a:r>
            <a:r>
              <a:rPr sz="2700" b="1" spc="-10" dirty="0">
                <a:latin typeface="Times New Roman"/>
                <a:cs typeface="Times New Roman"/>
              </a:rPr>
              <a:t>Panwar</a:t>
            </a:r>
            <a:endParaRPr sz="27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257976" y="255572"/>
            <a:ext cx="1778297" cy="600851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7800" spc="-10" dirty="0">
                <a:solidFill>
                  <a:srgbClr val="46B0FA"/>
                </a:solidFill>
                <a:latin typeface="Times New Roman"/>
                <a:cs typeface="Times New Roman"/>
              </a:rPr>
              <a:t>Content</a:t>
            </a:r>
            <a:endParaRPr sz="7800">
              <a:latin typeface="Times New Roman"/>
              <a:cs typeface="Times New Roman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-241" y="-702"/>
            <a:ext cx="18288635" cy="10288270"/>
            <a:chOff x="-241" y="-702"/>
            <a:chExt cx="18288635" cy="10288270"/>
          </a:xfrm>
        </p:grpSpPr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61176" y="3173488"/>
              <a:ext cx="18126823" cy="678119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27565" y="27104"/>
              <a:ext cx="18232755" cy="10233025"/>
            </a:xfrm>
            <a:custGeom>
              <a:avLst/>
              <a:gdLst/>
              <a:ahLst/>
              <a:cxnLst/>
              <a:rect l="l" t="t" r="r" b="b"/>
              <a:pathLst>
                <a:path w="18232755" h="10233025">
                  <a:moveTo>
                    <a:pt x="0" y="0"/>
                  </a:moveTo>
                  <a:lnTo>
                    <a:pt x="18232513" y="0"/>
                  </a:lnTo>
                  <a:lnTo>
                    <a:pt x="18232513" y="10232491"/>
                  </a:lnTo>
                  <a:lnTo>
                    <a:pt x="0" y="10232491"/>
                  </a:lnTo>
                  <a:lnTo>
                    <a:pt x="0" y="0"/>
                  </a:lnTo>
                  <a:close/>
                </a:path>
              </a:pathLst>
            </a:custGeom>
            <a:ln w="55613">
              <a:solidFill>
                <a:srgbClr val="46B0F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1199060" y="4102932"/>
            <a:ext cx="1645285" cy="59944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3750" spc="-10" dirty="0">
                <a:latin typeface="Times New Roman"/>
                <a:cs typeface="Times New Roman"/>
              </a:rPr>
              <a:t>Abstract</a:t>
            </a:r>
            <a:endParaRPr sz="375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742961" y="3080210"/>
            <a:ext cx="2388235" cy="59944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3750" spc="-10" dirty="0">
                <a:latin typeface="Times New Roman"/>
                <a:cs typeface="Times New Roman"/>
              </a:rPr>
              <a:t>Introduction</a:t>
            </a:r>
            <a:endParaRPr sz="375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407772" y="5287186"/>
            <a:ext cx="3489960" cy="59944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3750" dirty="0">
                <a:latin typeface="Times New Roman"/>
                <a:cs typeface="Times New Roman"/>
              </a:rPr>
              <a:t>Literature </a:t>
            </a:r>
            <a:r>
              <a:rPr sz="3750" spc="-10" dirty="0">
                <a:latin typeface="Times New Roman"/>
                <a:cs typeface="Times New Roman"/>
              </a:rPr>
              <a:t>Review</a:t>
            </a:r>
            <a:endParaRPr sz="375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9311465" y="3100082"/>
            <a:ext cx="3550285" cy="5791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600" dirty="0">
                <a:latin typeface="Times New Roman"/>
                <a:cs typeface="Times New Roman"/>
              </a:rPr>
              <a:t>Problem</a:t>
            </a:r>
            <a:r>
              <a:rPr sz="3600" spc="-5" dirty="0">
                <a:latin typeface="Times New Roman"/>
                <a:cs typeface="Times New Roman"/>
              </a:rPr>
              <a:t> </a:t>
            </a:r>
            <a:r>
              <a:rPr sz="3600" spc="-10" dirty="0">
                <a:latin typeface="Times New Roman"/>
                <a:cs typeface="Times New Roman"/>
              </a:rPr>
              <a:t>Statement</a:t>
            </a:r>
            <a:endParaRPr sz="36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2835719" y="5413359"/>
            <a:ext cx="1884045" cy="59944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3750" spc="-10" dirty="0">
                <a:latin typeface="Times New Roman"/>
                <a:cs typeface="Times New Roman"/>
              </a:rPr>
              <a:t>Objective</a:t>
            </a:r>
            <a:endParaRPr sz="375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2906102" y="9084130"/>
            <a:ext cx="2600960" cy="59944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3750" spc="-10" dirty="0">
                <a:latin typeface="Times New Roman"/>
                <a:cs typeface="Times New Roman"/>
              </a:rPr>
              <a:t>Methodology</a:t>
            </a:r>
            <a:endParaRPr sz="375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0025082" y="6454787"/>
            <a:ext cx="1977389" cy="59944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3750" dirty="0">
                <a:latin typeface="Times New Roman"/>
                <a:cs typeface="Times New Roman"/>
              </a:rPr>
              <a:t>Pert </a:t>
            </a:r>
            <a:r>
              <a:rPr sz="3750" spc="-10" dirty="0">
                <a:latin typeface="Times New Roman"/>
                <a:cs typeface="Times New Roman"/>
              </a:rPr>
              <a:t>Chart</a:t>
            </a:r>
            <a:endParaRPr sz="375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890124" y="9084130"/>
            <a:ext cx="2202815" cy="59944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3750" spc="-10" dirty="0">
                <a:latin typeface="Times New Roman"/>
                <a:cs typeface="Times New Roman"/>
              </a:rPr>
              <a:t>Conclusion</a:t>
            </a:r>
            <a:endParaRPr sz="375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466012" y="6434750"/>
            <a:ext cx="2220595" cy="6191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3900" spc="-10" dirty="0">
                <a:latin typeface="Times New Roman"/>
                <a:cs typeface="Times New Roman"/>
              </a:rPr>
              <a:t>References</a:t>
            </a:r>
            <a:endParaRPr sz="39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51719" rIns="0" bIns="0" rtlCol="0">
            <a:spAutoFit/>
          </a:bodyPr>
          <a:lstStyle/>
          <a:p>
            <a:pPr marL="219075">
              <a:lnSpc>
                <a:spcPct val="100000"/>
              </a:lnSpc>
              <a:spcBef>
                <a:spcPts val="100"/>
              </a:spcBef>
            </a:pPr>
            <a:r>
              <a:rPr sz="6200" dirty="0">
                <a:latin typeface="Times New Roman"/>
                <a:cs typeface="Times New Roman"/>
              </a:rPr>
              <a:t>1.</a:t>
            </a:r>
            <a:r>
              <a:rPr sz="6200" spc="-345" dirty="0">
                <a:latin typeface="Times New Roman"/>
                <a:cs typeface="Times New Roman"/>
              </a:rPr>
              <a:t> </a:t>
            </a:r>
            <a:r>
              <a:rPr sz="6200" spc="-10" dirty="0">
                <a:latin typeface="Times New Roman"/>
                <a:cs typeface="Times New Roman"/>
              </a:rPr>
              <a:t>Abstract</a:t>
            </a:r>
            <a:endParaRPr sz="6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71393" y="2043693"/>
            <a:ext cx="12601575" cy="6120130"/>
          </a:xfrm>
          <a:prstGeom prst="rect">
            <a:avLst/>
          </a:prstGeom>
        </p:spPr>
        <p:txBody>
          <a:bodyPr vert="horz" wrap="square" lIns="0" tIns="40005" rIns="0" bIns="0" rtlCol="0">
            <a:spAutoFit/>
          </a:bodyPr>
          <a:lstStyle/>
          <a:p>
            <a:pPr marL="380365" marR="123825" indent="-368300">
              <a:lnSpc>
                <a:spcPts val="3990"/>
              </a:lnSpc>
              <a:spcBef>
                <a:spcPts val="315"/>
              </a:spcBef>
              <a:buFont typeface="Times New Roman"/>
              <a:buChar char="•"/>
              <a:tabLst>
                <a:tab pos="380365" algn="l"/>
              </a:tabLst>
            </a:pPr>
            <a:r>
              <a:rPr sz="3400" dirty="0">
                <a:latin typeface="Times New Roman"/>
                <a:cs typeface="Times New Roman"/>
              </a:rPr>
              <a:t>E-commerce</a:t>
            </a:r>
            <a:r>
              <a:rPr sz="3400" spc="-5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data</a:t>
            </a:r>
            <a:r>
              <a:rPr sz="3400" spc="-5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is</a:t>
            </a:r>
            <a:r>
              <a:rPr sz="3400" spc="-5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generated</a:t>
            </a:r>
            <a:r>
              <a:rPr sz="3400" spc="-5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continuously</a:t>
            </a:r>
            <a:r>
              <a:rPr sz="3400" spc="-5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from</a:t>
            </a:r>
            <a:r>
              <a:rPr sz="3400" spc="-5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databases,</a:t>
            </a:r>
            <a:r>
              <a:rPr sz="3400" spc="-195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APIs </a:t>
            </a:r>
            <a:r>
              <a:rPr sz="3400" spc="-25" dirty="0">
                <a:latin typeface="Times New Roman"/>
                <a:cs typeface="Times New Roman"/>
              </a:rPr>
              <a:t>and </a:t>
            </a:r>
            <a:r>
              <a:rPr sz="3400" dirty="0">
                <a:latin typeface="Times New Roman"/>
                <a:cs typeface="Times New Roman"/>
              </a:rPr>
              <a:t>customer </a:t>
            </a:r>
            <a:r>
              <a:rPr sz="3400" spc="-10" dirty="0">
                <a:latin typeface="Times New Roman"/>
                <a:cs typeface="Times New Roman"/>
              </a:rPr>
              <a:t>interactions.</a:t>
            </a:r>
            <a:endParaRPr sz="3400">
              <a:latin typeface="Times New Roman"/>
              <a:cs typeface="Times New Roman"/>
            </a:endParaRPr>
          </a:p>
          <a:p>
            <a:pPr marL="380365" marR="5080" indent="-368300">
              <a:lnSpc>
                <a:spcPts val="3990"/>
              </a:lnSpc>
              <a:spcBef>
                <a:spcPts val="5"/>
              </a:spcBef>
              <a:buFont typeface="Times New Roman"/>
              <a:buChar char="•"/>
              <a:tabLst>
                <a:tab pos="380365" algn="l"/>
              </a:tabLst>
            </a:pPr>
            <a:r>
              <a:rPr sz="3400" dirty="0">
                <a:latin typeface="Times New Roman"/>
                <a:cs typeface="Times New Roman"/>
              </a:rPr>
              <a:t>Retail</a:t>
            </a:r>
            <a:r>
              <a:rPr sz="3400" spc="-15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Pulse</a:t>
            </a:r>
            <a:r>
              <a:rPr sz="3400" spc="-15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integrates</a:t>
            </a:r>
            <a:r>
              <a:rPr sz="3400" spc="-15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these</a:t>
            </a:r>
            <a:r>
              <a:rPr sz="3400" spc="-15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heterogeneous</a:t>
            </a:r>
            <a:r>
              <a:rPr sz="3400" spc="-15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sources</a:t>
            </a:r>
            <a:r>
              <a:rPr sz="3400" spc="-15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into</a:t>
            </a:r>
            <a:r>
              <a:rPr sz="3400" spc="-15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a</a:t>
            </a:r>
            <a:r>
              <a:rPr sz="3400" spc="-15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scalable</a:t>
            </a:r>
            <a:r>
              <a:rPr sz="3400" spc="-10" dirty="0">
                <a:latin typeface="Times New Roman"/>
                <a:cs typeface="Times New Roman"/>
              </a:rPr>
              <a:t> </a:t>
            </a:r>
            <a:r>
              <a:rPr sz="3400" spc="-25" dirty="0">
                <a:latin typeface="Times New Roman"/>
                <a:cs typeface="Times New Roman"/>
              </a:rPr>
              <a:t>and </a:t>
            </a:r>
            <a:r>
              <a:rPr sz="3400" dirty="0">
                <a:latin typeface="Times New Roman"/>
                <a:cs typeface="Times New Roman"/>
              </a:rPr>
              <a:t>automated data </a:t>
            </a:r>
            <a:r>
              <a:rPr sz="3400" spc="-10" dirty="0">
                <a:latin typeface="Times New Roman"/>
                <a:cs typeface="Times New Roman"/>
              </a:rPr>
              <a:t>pipeline.</a:t>
            </a:r>
            <a:endParaRPr sz="3400">
              <a:latin typeface="Times New Roman"/>
              <a:cs typeface="Times New Roman"/>
            </a:endParaRPr>
          </a:p>
          <a:p>
            <a:pPr marL="380365" marR="893444" indent="-368300">
              <a:lnSpc>
                <a:spcPts val="3990"/>
              </a:lnSpc>
              <a:buFont typeface="Times New Roman"/>
              <a:buChar char="•"/>
              <a:tabLst>
                <a:tab pos="380365" algn="l"/>
              </a:tabLst>
            </a:pPr>
            <a:r>
              <a:rPr sz="3400" dirty="0">
                <a:latin typeface="Times New Roman"/>
                <a:cs typeface="Times New Roman"/>
              </a:rPr>
              <a:t>Data</a:t>
            </a:r>
            <a:r>
              <a:rPr sz="3400" spc="-20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is</a:t>
            </a:r>
            <a:r>
              <a:rPr sz="3400" spc="-15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cleaned,</a:t>
            </a:r>
            <a:r>
              <a:rPr sz="3400" spc="-20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validated</a:t>
            </a:r>
            <a:r>
              <a:rPr sz="3400" spc="-15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and</a:t>
            </a:r>
            <a:r>
              <a:rPr sz="3400" spc="-20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assigned</a:t>
            </a:r>
            <a:r>
              <a:rPr sz="3400" spc="-15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a</a:t>
            </a:r>
            <a:r>
              <a:rPr sz="3400" spc="-20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Data</a:t>
            </a:r>
            <a:r>
              <a:rPr sz="3400" spc="-75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Trust</a:t>
            </a:r>
            <a:r>
              <a:rPr sz="3400" spc="-15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Score</a:t>
            </a:r>
            <a:r>
              <a:rPr sz="3400" spc="-20" dirty="0">
                <a:latin typeface="Times New Roman"/>
                <a:cs typeface="Times New Roman"/>
              </a:rPr>
              <a:t> </a:t>
            </a:r>
            <a:r>
              <a:rPr sz="3400" spc="-10" dirty="0">
                <a:latin typeface="Times New Roman"/>
                <a:cs typeface="Times New Roman"/>
              </a:rPr>
              <a:t>before </a:t>
            </a:r>
            <a:r>
              <a:rPr sz="3400" dirty="0">
                <a:latin typeface="Times New Roman"/>
                <a:cs typeface="Times New Roman"/>
              </a:rPr>
              <a:t>entering the </a:t>
            </a:r>
            <a:r>
              <a:rPr sz="3400" spc="-10" dirty="0">
                <a:latin typeface="Times New Roman"/>
                <a:cs typeface="Times New Roman"/>
              </a:rPr>
              <a:t>warehouse.</a:t>
            </a:r>
            <a:endParaRPr sz="3400">
              <a:latin typeface="Times New Roman"/>
              <a:cs typeface="Times New Roman"/>
            </a:endParaRPr>
          </a:p>
          <a:p>
            <a:pPr marL="380365" marR="801370" indent="-368300">
              <a:lnSpc>
                <a:spcPts val="3990"/>
              </a:lnSpc>
              <a:buFont typeface="Times New Roman"/>
              <a:buChar char="•"/>
              <a:tabLst>
                <a:tab pos="380365" algn="l"/>
              </a:tabLst>
            </a:pPr>
            <a:r>
              <a:rPr sz="3400" dirty="0">
                <a:latin typeface="Times New Roman"/>
                <a:cs typeface="Times New Roman"/>
              </a:rPr>
              <a:t>ML</a:t>
            </a:r>
            <a:r>
              <a:rPr sz="3400" spc="-130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models</a:t>
            </a:r>
            <a:r>
              <a:rPr sz="3400" spc="-5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provide</a:t>
            </a:r>
            <a:r>
              <a:rPr sz="3400" spc="-5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demand</a:t>
            </a:r>
            <a:r>
              <a:rPr sz="3400" spc="-5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forecasting,</a:t>
            </a:r>
            <a:r>
              <a:rPr sz="3400" spc="-5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inventory</a:t>
            </a:r>
            <a:r>
              <a:rPr sz="3400" spc="-5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prediction </a:t>
            </a:r>
            <a:r>
              <a:rPr sz="3400" spc="-25" dirty="0">
                <a:latin typeface="Times New Roman"/>
                <a:cs typeface="Times New Roman"/>
              </a:rPr>
              <a:t>and </a:t>
            </a:r>
            <a:r>
              <a:rPr sz="3400" dirty="0">
                <a:latin typeface="Times New Roman"/>
                <a:cs typeface="Times New Roman"/>
              </a:rPr>
              <a:t>anomaly </a:t>
            </a:r>
            <a:r>
              <a:rPr sz="3400" spc="-10" dirty="0">
                <a:latin typeface="Times New Roman"/>
                <a:cs typeface="Times New Roman"/>
              </a:rPr>
              <a:t>detection.</a:t>
            </a:r>
            <a:endParaRPr sz="3400">
              <a:latin typeface="Times New Roman"/>
              <a:cs typeface="Times New Roman"/>
            </a:endParaRPr>
          </a:p>
          <a:p>
            <a:pPr marL="380365" marR="869315" indent="-368300">
              <a:lnSpc>
                <a:spcPts val="3990"/>
              </a:lnSpc>
              <a:buFont typeface="Times New Roman"/>
              <a:buChar char="•"/>
              <a:tabLst>
                <a:tab pos="380365" algn="l"/>
              </a:tabLst>
            </a:pPr>
            <a:r>
              <a:rPr sz="3400" dirty="0">
                <a:latin typeface="Times New Roman"/>
                <a:cs typeface="Times New Roman"/>
              </a:rPr>
              <a:t>An</a:t>
            </a:r>
            <a:r>
              <a:rPr sz="3400" spc="-200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AI</a:t>
            </a:r>
            <a:r>
              <a:rPr sz="3400" spc="-10" dirty="0">
                <a:latin typeface="Times New Roman"/>
                <a:cs typeface="Times New Roman"/>
              </a:rPr>
              <a:t> Business</a:t>
            </a:r>
            <a:r>
              <a:rPr sz="3400" spc="-200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Analyst</a:t>
            </a:r>
            <a:r>
              <a:rPr sz="3400" spc="-10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converts</a:t>
            </a:r>
            <a:r>
              <a:rPr sz="3400" spc="-10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analytical</a:t>
            </a:r>
            <a:r>
              <a:rPr sz="3400" spc="-10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data</a:t>
            </a:r>
            <a:r>
              <a:rPr sz="3400" spc="-10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into</a:t>
            </a:r>
            <a:r>
              <a:rPr sz="3400" spc="-15" dirty="0">
                <a:latin typeface="Times New Roman"/>
                <a:cs typeface="Times New Roman"/>
              </a:rPr>
              <a:t> </a:t>
            </a:r>
            <a:r>
              <a:rPr sz="3400" spc="-10" dirty="0">
                <a:latin typeface="Times New Roman"/>
                <a:cs typeface="Times New Roman"/>
              </a:rPr>
              <a:t>explainable, </a:t>
            </a:r>
            <a:r>
              <a:rPr sz="3400" dirty="0">
                <a:latin typeface="Times New Roman"/>
                <a:cs typeface="Times New Roman"/>
              </a:rPr>
              <a:t>evidence-based </a:t>
            </a:r>
            <a:r>
              <a:rPr sz="3400" spc="-10" dirty="0">
                <a:latin typeface="Times New Roman"/>
                <a:cs typeface="Times New Roman"/>
              </a:rPr>
              <a:t>insights.</a:t>
            </a:r>
            <a:endParaRPr sz="3400">
              <a:latin typeface="Times New Roman"/>
              <a:cs typeface="Times New Roman"/>
            </a:endParaRPr>
          </a:p>
          <a:p>
            <a:pPr marL="380365" marR="1052830" indent="-368300">
              <a:lnSpc>
                <a:spcPts val="3990"/>
              </a:lnSpc>
              <a:buFont typeface="Times New Roman"/>
              <a:buChar char="•"/>
              <a:tabLst>
                <a:tab pos="380365" algn="l"/>
              </a:tabLst>
            </a:pPr>
            <a:r>
              <a:rPr sz="3400" dirty="0">
                <a:latin typeface="Times New Roman"/>
                <a:cs typeface="Times New Roman"/>
              </a:rPr>
              <a:t>Dashboards</a:t>
            </a:r>
            <a:r>
              <a:rPr sz="3400" spc="-25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combine</a:t>
            </a:r>
            <a:r>
              <a:rPr sz="3400" spc="-15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business</a:t>
            </a:r>
            <a:r>
              <a:rPr sz="3400" spc="-15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KPIs,</a:t>
            </a:r>
            <a:r>
              <a:rPr sz="3400" spc="-15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ML</a:t>
            </a:r>
            <a:r>
              <a:rPr sz="3400" spc="-140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predictions,</a:t>
            </a:r>
            <a:r>
              <a:rPr sz="3400" spc="-10" dirty="0">
                <a:latin typeface="Times New Roman"/>
                <a:cs typeface="Times New Roman"/>
              </a:rPr>
              <a:t> anomalies, </a:t>
            </a:r>
            <a:r>
              <a:rPr sz="3400" dirty="0">
                <a:latin typeface="Times New Roman"/>
                <a:cs typeface="Times New Roman"/>
              </a:rPr>
              <a:t>security</a:t>
            </a:r>
            <a:r>
              <a:rPr sz="3400" spc="-15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and pipeline </a:t>
            </a:r>
            <a:r>
              <a:rPr sz="3400" spc="-10" dirty="0">
                <a:latin typeface="Times New Roman"/>
                <a:cs typeface="Times New Roman"/>
              </a:rPr>
              <a:t>health.</a:t>
            </a:r>
            <a:endParaRPr sz="34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983273" y="3956208"/>
            <a:ext cx="4945811" cy="509976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18630" rIns="0" bIns="0" rtlCol="0">
            <a:spAutoFit/>
          </a:bodyPr>
          <a:lstStyle/>
          <a:p>
            <a:pPr marL="116839">
              <a:lnSpc>
                <a:spcPct val="100000"/>
              </a:lnSpc>
              <a:spcBef>
                <a:spcPts val="100"/>
              </a:spcBef>
            </a:pPr>
            <a:r>
              <a:rPr dirty="0">
                <a:latin typeface="Times New Roman"/>
                <a:cs typeface="Times New Roman"/>
              </a:rPr>
              <a:t>2. </a:t>
            </a:r>
            <a:r>
              <a:rPr spc="-10" dirty="0">
                <a:latin typeface="Times New Roman"/>
                <a:cs typeface="Times New Roman"/>
              </a:rPr>
              <a:t>Introduction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65195" y="2156440"/>
            <a:ext cx="14754225" cy="7035165"/>
          </a:xfrm>
          <a:prstGeom prst="rect">
            <a:avLst/>
          </a:prstGeom>
        </p:spPr>
        <p:txBody>
          <a:bodyPr vert="horz" wrap="square" lIns="0" tIns="40640" rIns="0" bIns="0" rtlCol="0">
            <a:spAutoFit/>
          </a:bodyPr>
          <a:lstStyle/>
          <a:p>
            <a:pPr marL="385445" marR="231775" indent="-373380">
              <a:lnSpc>
                <a:spcPts val="4060"/>
              </a:lnSpc>
              <a:spcBef>
                <a:spcPts val="320"/>
              </a:spcBef>
              <a:buFont typeface="Times New Roman"/>
              <a:buChar char="•"/>
              <a:tabLst>
                <a:tab pos="386715" algn="l"/>
              </a:tabLst>
            </a:pPr>
            <a:r>
              <a:rPr sz="3450" dirty="0">
                <a:latin typeface="Times New Roman"/>
                <a:cs typeface="Times New Roman"/>
              </a:rPr>
              <a:t>Modern</a:t>
            </a:r>
            <a:r>
              <a:rPr sz="3450" spc="-25" dirty="0">
                <a:latin typeface="Times New Roman"/>
                <a:cs typeface="Times New Roman"/>
              </a:rPr>
              <a:t> </a:t>
            </a:r>
            <a:r>
              <a:rPr sz="3450" dirty="0">
                <a:latin typeface="Times New Roman"/>
                <a:cs typeface="Times New Roman"/>
              </a:rPr>
              <a:t>e-commerce</a:t>
            </a:r>
            <a:r>
              <a:rPr sz="3450" spc="-10" dirty="0">
                <a:latin typeface="Times New Roman"/>
                <a:cs typeface="Times New Roman"/>
              </a:rPr>
              <a:t> </a:t>
            </a:r>
            <a:r>
              <a:rPr sz="3450" dirty="0">
                <a:latin typeface="Times New Roman"/>
                <a:cs typeface="Times New Roman"/>
              </a:rPr>
              <a:t>systems</a:t>
            </a:r>
            <a:r>
              <a:rPr sz="3450" spc="-15" dirty="0">
                <a:latin typeface="Times New Roman"/>
                <a:cs typeface="Times New Roman"/>
              </a:rPr>
              <a:t> </a:t>
            </a:r>
            <a:r>
              <a:rPr sz="3450" dirty="0">
                <a:latin typeface="Times New Roman"/>
                <a:cs typeface="Times New Roman"/>
              </a:rPr>
              <a:t>generate</a:t>
            </a:r>
            <a:r>
              <a:rPr sz="3450" spc="-10" dirty="0">
                <a:latin typeface="Times New Roman"/>
                <a:cs typeface="Times New Roman"/>
              </a:rPr>
              <a:t> </a:t>
            </a:r>
            <a:r>
              <a:rPr sz="3450" dirty="0">
                <a:latin typeface="Times New Roman"/>
                <a:cs typeface="Times New Roman"/>
              </a:rPr>
              <a:t>large</a:t>
            </a:r>
            <a:r>
              <a:rPr sz="3450" spc="-10" dirty="0">
                <a:latin typeface="Times New Roman"/>
                <a:cs typeface="Times New Roman"/>
              </a:rPr>
              <a:t> </a:t>
            </a:r>
            <a:r>
              <a:rPr sz="3450" dirty="0">
                <a:latin typeface="Times New Roman"/>
                <a:cs typeface="Times New Roman"/>
              </a:rPr>
              <a:t>volumes</a:t>
            </a:r>
            <a:r>
              <a:rPr sz="3450" spc="-15" dirty="0">
                <a:latin typeface="Times New Roman"/>
                <a:cs typeface="Times New Roman"/>
              </a:rPr>
              <a:t> </a:t>
            </a:r>
            <a:r>
              <a:rPr sz="3450" dirty="0">
                <a:latin typeface="Times New Roman"/>
                <a:cs typeface="Times New Roman"/>
              </a:rPr>
              <a:t>of</a:t>
            </a:r>
            <a:r>
              <a:rPr sz="3450" spc="-10" dirty="0">
                <a:latin typeface="Times New Roman"/>
                <a:cs typeface="Times New Roman"/>
              </a:rPr>
              <a:t> </a:t>
            </a:r>
            <a:r>
              <a:rPr sz="3450" dirty="0">
                <a:latin typeface="Times New Roman"/>
                <a:cs typeface="Times New Roman"/>
              </a:rPr>
              <a:t>transactional,</a:t>
            </a:r>
            <a:r>
              <a:rPr sz="3450" spc="-10" dirty="0">
                <a:latin typeface="Times New Roman"/>
                <a:cs typeface="Times New Roman"/>
              </a:rPr>
              <a:t> inventory 	</a:t>
            </a:r>
            <a:r>
              <a:rPr sz="3450" dirty="0">
                <a:latin typeface="Times New Roman"/>
                <a:cs typeface="Times New Roman"/>
              </a:rPr>
              <a:t>and</a:t>
            </a:r>
            <a:r>
              <a:rPr sz="3450" spc="-5" dirty="0">
                <a:latin typeface="Times New Roman"/>
                <a:cs typeface="Times New Roman"/>
              </a:rPr>
              <a:t> </a:t>
            </a:r>
            <a:r>
              <a:rPr sz="3450" dirty="0">
                <a:latin typeface="Times New Roman"/>
                <a:cs typeface="Times New Roman"/>
              </a:rPr>
              <a:t>behavioural</a:t>
            </a:r>
            <a:r>
              <a:rPr sz="3450" spc="5" dirty="0">
                <a:latin typeface="Times New Roman"/>
                <a:cs typeface="Times New Roman"/>
              </a:rPr>
              <a:t> </a:t>
            </a:r>
            <a:r>
              <a:rPr sz="3450" spc="-10" dirty="0">
                <a:latin typeface="Times New Roman"/>
                <a:cs typeface="Times New Roman"/>
              </a:rPr>
              <a:t>data.</a:t>
            </a:r>
            <a:endParaRPr sz="3450">
              <a:latin typeface="Times New Roman"/>
              <a:cs typeface="Times New Roman"/>
            </a:endParaRPr>
          </a:p>
          <a:p>
            <a:pPr marL="385445" marR="740410" indent="-373380">
              <a:lnSpc>
                <a:spcPts val="4060"/>
              </a:lnSpc>
              <a:buFont typeface="Times New Roman"/>
              <a:buChar char="•"/>
              <a:tabLst>
                <a:tab pos="386715" algn="l"/>
              </a:tabLst>
            </a:pPr>
            <a:r>
              <a:rPr sz="3450" dirty="0">
                <a:latin typeface="Times New Roman"/>
                <a:cs typeface="Times New Roman"/>
              </a:rPr>
              <a:t>Data</a:t>
            </a:r>
            <a:r>
              <a:rPr sz="3450" spc="-30" dirty="0">
                <a:latin typeface="Times New Roman"/>
                <a:cs typeface="Times New Roman"/>
              </a:rPr>
              <a:t> </a:t>
            </a:r>
            <a:r>
              <a:rPr sz="3450" dirty="0">
                <a:latin typeface="Times New Roman"/>
                <a:cs typeface="Times New Roman"/>
              </a:rPr>
              <a:t>is</a:t>
            </a:r>
            <a:r>
              <a:rPr sz="3450" spc="-20" dirty="0">
                <a:latin typeface="Times New Roman"/>
                <a:cs typeface="Times New Roman"/>
              </a:rPr>
              <a:t> </a:t>
            </a:r>
            <a:r>
              <a:rPr sz="3450" dirty="0">
                <a:latin typeface="Times New Roman"/>
                <a:cs typeface="Times New Roman"/>
              </a:rPr>
              <a:t>often</a:t>
            </a:r>
            <a:r>
              <a:rPr sz="3450" spc="-15" dirty="0">
                <a:latin typeface="Times New Roman"/>
                <a:cs typeface="Times New Roman"/>
              </a:rPr>
              <a:t> </a:t>
            </a:r>
            <a:r>
              <a:rPr sz="3450" dirty="0">
                <a:latin typeface="Times New Roman"/>
                <a:cs typeface="Times New Roman"/>
              </a:rPr>
              <a:t>distributed</a:t>
            </a:r>
            <a:r>
              <a:rPr sz="3450" spc="-15" dirty="0">
                <a:latin typeface="Times New Roman"/>
                <a:cs typeface="Times New Roman"/>
              </a:rPr>
              <a:t> </a:t>
            </a:r>
            <a:r>
              <a:rPr sz="3450" dirty="0">
                <a:latin typeface="Times New Roman"/>
                <a:cs typeface="Times New Roman"/>
              </a:rPr>
              <a:t>across</a:t>
            </a:r>
            <a:r>
              <a:rPr sz="3450" spc="-20" dirty="0">
                <a:latin typeface="Times New Roman"/>
                <a:cs typeface="Times New Roman"/>
              </a:rPr>
              <a:t> </a:t>
            </a:r>
            <a:r>
              <a:rPr sz="3450" dirty="0">
                <a:latin typeface="Times New Roman"/>
                <a:cs typeface="Times New Roman"/>
              </a:rPr>
              <a:t>multiple</a:t>
            </a:r>
            <a:r>
              <a:rPr sz="3450" spc="-15" dirty="0">
                <a:latin typeface="Times New Roman"/>
                <a:cs typeface="Times New Roman"/>
              </a:rPr>
              <a:t> </a:t>
            </a:r>
            <a:r>
              <a:rPr sz="3450" dirty="0">
                <a:latin typeface="Times New Roman"/>
                <a:cs typeface="Times New Roman"/>
              </a:rPr>
              <a:t>systems,</a:t>
            </a:r>
            <a:r>
              <a:rPr sz="3450" spc="-15" dirty="0">
                <a:latin typeface="Times New Roman"/>
                <a:cs typeface="Times New Roman"/>
              </a:rPr>
              <a:t> </a:t>
            </a:r>
            <a:r>
              <a:rPr sz="3450" dirty="0">
                <a:latin typeface="Times New Roman"/>
                <a:cs typeface="Times New Roman"/>
              </a:rPr>
              <a:t>creating</a:t>
            </a:r>
            <a:r>
              <a:rPr sz="3450" spc="-15" dirty="0">
                <a:latin typeface="Times New Roman"/>
                <a:cs typeface="Times New Roman"/>
              </a:rPr>
              <a:t> </a:t>
            </a:r>
            <a:r>
              <a:rPr sz="3450" spc="-10" dirty="0">
                <a:latin typeface="Times New Roman"/>
                <a:cs typeface="Times New Roman"/>
              </a:rPr>
              <a:t>quality,</a:t>
            </a:r>
            <a:r>
              <a:rPr sz="3450" spc="-15" dirty="0">
                <a:latin typeface="Times New Roman"/>
                <a:cs typeface="Times New Roman"/>
              </a:rPr>
              <a:t> </a:t>
            </a:r>
            <a:r>
              <a:rPr sz="3450" spc="-10" dirty="0">
                <a:latin typeface="Times New Roman"/>
                <a:cs typeface="Times New Roman"/>
              </a:rPr>
              <a:t>integration 	</a:t>
            </a:r>
            <a:r>
              <a:rPr sz="3450" dirty="0">
                <a:latin typeface="Times New Roman"/>
                <a:cs typeface="Times New Roman"/>
              </a:rPr>
              <a:t>and</a:t>
            </a:r>
            <a:r>
              <a:rPr sz="3450" spc="5" dirty="0">
                <a:latin typeface="Times New Roman"/>
                <a:cs typeface="Times New Roman"/>
              </a:rPr>
              <a:t> </a:t>
            </a:r>
            <a:r>
              <a:rPr sz="3450" dirty="0">
                <a:latin typeface="Times New Roman"/>
                <a:cs typeface="Times New Roman"/>
              </a:rPr>
              <a:t>trust</a:t>
            </a:r>
            <a:r>
              <a:rPr sz="3450" spc="5" dirty="0">
                <a:latin typeface="Times New Roman"/>
                <a:cs typeface="Times New Roman"/>
              </a:rPr>
              <a:t> </a:t>
            </a:r>
            <a:r>
              <a:rPr sz="3450" spc="-10" dirty="0">
                <a:latin typeface="Times New Roman"/>
                <a:cs typeface="Times New Roman"/>
              </a:rPr>
              <a:t>issues.</a:t>
            </a:r>
            <a:endParaRPr sz="3450">
              <a:latin typeface="Times New Roman"/>
              <a:cs typeface="Times New Roman"/>
            </a:endParaRPr>
          </a:p>
          <a:p>
            <a:pPr marL="385445" marR="372110" indent="-373380">
              <a:lnSpc>
                <a:spcPts val="4060"/>
              </a:lnSpc>
              <a:buFont typeface="Times New Roman"/>
              <a:buChar char="•"/>
              <a:tabLst>
                <a:tab pos="386715" algn="l"/>
              </a:tabLst>
            </a:pPr>
            <a:r>
              <a:rPr sz="3450" dirty="0">
                <a:latin typeface="Times New Roman"/>
                <a:cs typeface="Times New Roman"/>
              </a:rPr>
              <a:t>Traditional</a:t>
            </a:r>
            <a:r>
              <a:rPr sz="3450" spc="-15" dirty="0">
                <a:latin typeface="Times New Roman"/>
                <a:cs typeface="Times New Roman"/>
              </a:rPr>
              <a:t> </a:t>
            </a:r>
            <a:r>
              <a:rPr sz="3450" dirty="0">
                <a:latin typeface="Times New Roman"/>
                <a:cs typeface="Times New Roman"/>
              </a:rPr>
              <a:t>BI</a:t>
            </a:r>
            <a:r>
              <a:rPr sz="3450" spc="-15" dirty="0">
                <a:latin typeface="Times New Roman"/>
                <a:cs typeface="Times New Roman"/>
              </a:rPr>
              <a:t> </a:t>
            </a:r>
            <a:r>
              <a:rPr sz="3450" dirty="0">
                <a:latin typeface="Times New Roman"/>
                <a:cs typeface="Times New Roman"/>
              </a:rPr>
              <a:t>mainly</a:t>
            </a:r>
            <a:r>
              <a:rPr sz="3450" spc="-10" dirty="0">
                <a:latin typeface="Times New Roman"/>
                <a:cs typeface="Times New Roman"/>
              </a:rPr>
              <a:t> </a:t>
            </a:r>
            <a:r>
              <a:rPr sz="3450" dirty="0">
                <a:latin typeface="Times New Roman"/>
                <a:cs typeface="Times New Roman"/>
              </a:rPr>
              <a:t>reports</a:t>
            </a:r>
            <a:r>
              <a:rPr sz="3450" spc="-20" dirty="0">
                <a:latin typeface="Times New Roman"/>
                <a:cs typeface="Times New Roman"/>
              </a:rPr>
              <a:t> </a:t>
            </a:r>
            <a:r>
              <a:rPr sz="3450" dirty="0">
                <a:latin typeface="Times New Roman"/>
                <a:cs typeface="Times New Roman"/>
              </a:rPr>
              <a:t>what</a:t>
            </a:r>
            <a:r>
              <a:rPr sz="3450" spc="-15" dirty="0">
                <a:latin typeface="Times New Roman"/>
                <a:cs typeface="Times New Roman"/>
              </a:rPr>
              <a:t> </a:t>
            </a:r>
            <a:r>
              <a:rPr sz="3450" dirty="0">
                <a:latin typeface="Times New Roman"/>
                <a:cs typeface="Times New Roman"/>
              </a:rPr>
              <a:t>happened,</a:t>
            </a:r>
            <a:r>
              <a:rPr sz="3450" spc="-10" dirty="0">
                <a:latin typeface="Times New Roman"/>
                <a:cs typeface="Times New Roman"/>
              </a:rPr>
              <a:t> </a:t>
            </a:r>
            <a:r>
              <a:rPr sz="3450" dirty="0">
                <a:latin typeface="Times New Roman"/>
                <a:cs typeface="Times New Roman"/>
              </a:rPr>
              <a:t>but</a:t>
            </a:r>
            <a:r>
              <a:rPr sz="3450" spc="-15" dirty="0">
                <a:latin typeface="Times New Roman"/>
                <a:cs typeface="Times New Roman"/>
              </a:rPr>
              <a:t> </a:t>
            </a:r>
            <a:r>
              <a:rPr sz="3450" dirty="0">
                <a:latin typeface="Times New Roman"/>
                <a:cs typeface="Times New Roman"/>
              </a:rPr>
              <a:t>businesses</a:t>
            </a:r>
            <a:r>
              <a:rPr sz="3450" spc="-20" dirty="0">
                <a:latin typeface="Times New Roman"/>
                <a:cs typeface="Times New Roman"/>
              </a:rPr>
              <a:t> </a:t>
            </a:r>
            <a:r>
              <a:rPr sz="3450" dirty="0">
                <a:latin typeface="Times New Roman"/>
                <a:cs typeface="Times New Roman"/>
              </a:rPr>
              <a:t>also</a:t>
            </a:r>
            <a:r>
              <a:rPr sz="3450" spc="-10" dirty="0">
                <a:latin typeface="Times New Roman"/>
                <a:cs typeface="Times New Roman"/>
              </a:rPr>
              <a:t> </a:t>
            </a:r>
            <a:r>
              <a:rPr sz="3450" dirty="0">
                <a:latin typeface="Times New Roman"/>
                <a:cs typeface="Times New Roman"/>
              </a:rPr>
              <a:t>need</a:t>
            </a:r>
            <a:r>
              <a:rPr sz="3450" spc="-15" dirty="0">
                <a:latin typeface="Times New Roman"/>
                <a:cs typeface="Times New Roman"/>
              </a:rPr>
              <a:t> </a:t>
            </a:r>
            <a:r>
              <a:rPr sz="3450" dirty="0">
                <a:latin typeface="Times New Roman"/>
                <a:cs typeface="Times New Roman"/>
              </a:rPr>
              <a:t>to</a:t>
            </a:r>
            <a:r>
              <a:rPr sz="3450" spc="-10" dirty="0">
                <a:latin typeface="Times New Roman"/>
                <a:cs typeface="Times New Roman"/>
              </a:rPr>
              <a:t> </a:t>
            </a:r>
            <a:r>
              <a:rPr sz="3450" spc="-20" dirty="0">
                <a:latin typeface="Times New Roman"/>
                <a:cs typeface="Times New Roman"/>
              </a:rPr>
              <a:t>know 	</a:t>
            </a:r>
            <a:r>
              <a:rPr sz="3450" dirty="0">
                <a:latin typeface="Times New Roman"/>
                <a:cs typeface="Times New Roman"/>
              </a:rPr>
              <a:t>what</a:t>
            </a:r>
            <a:r>
              <a:rPr sz="3450" spc="5" dirty="0">
                <a:latin typeface="Times New Roman"/>
                <a:cs typeface="Times New Roman"/>
              </a:rPr>
              <a:t> </a:t>
            </a:r>
            <a:r>
              <a:rPr sz="3450" dirty="0">
                <a:latin typeface="Times New Roman"/>
                <a:cs typeface="Times New Roman"/>
              </a:rPr>
              <a:t>may</a:t>
            </a:r>
            <a:r>
              <a:rPr sz="3450" spc="5" dirty="0">
                <a:latin typeface="Times New Roman"/>
                <a:cs typeface="Times New Roman"/>
              </a:rPr>
              <a:t> </a:t>
            </a:r>
            <a:r>
              <a:rPr sz="3450" dirty="0">
                <a:latin typeface="Times New Roman"/>
                <a:cs typeface="Times New Roman"/>
              </a:rPr>
              <a:t>happen</a:t>
            </a:r>
            <a:r>
              <a:rPr sz="3450" spc="5" dirty="0">
                <a:latin typeface="Times New Roman"/>
                <a:cs typeface="Times New Roman"/>
              </a:rPr>
              <a:t> </a:t>
            </a:r>
            <a:r>
              <a:rPr sz="3450" dirty="0">
                <a:latin typeface="Times New Roman"/>
                <a:cs typeface="Times New Roman"/>
              </a:rPr>
              <a:t>and</a:t>
            </a:r>
            <a:r>
              <a:rPr sz="3450" spc="5" dirty="0">
                <a:latin typeface="Times New Roman"/>
                <a:cs typeface="Times New Roman"/>
              </a:rPr>
              <a:t> </a:t>
            </a:r>
            <a:r>
              <a:rPr sz="3450" spc="-20" dirty="0">
                <a:latin typeface="Times New Roman"/>
                <a:cs typeface="Times New Roman"/>
              </a:rPr>
              <a:t>why.</a:t>
            </a:r>
            <a:endParaRPr sz="3450">
              <a:latin typeface="Times New Roman"/>
              <a:cs typeface="Times New Roman"/>
            </a:endParaRPr>
          </a:p>
          <a:p>
            <a:pPr marL="385445" marR="680085" indent="-373380">
              <a:lnSpc>
                <a:spcPts val="4060"/>
              </a:lnSpc>
              <a:buFont typeface="Times New Roman"/>
              <a:buChar char="•"/>
              <a:tabLst>
                <a:tab pos="386715" algn="l"/>
              </a:tabLst>
            </a:pPr>
            <a:r>
              <a:rPr sz="3450" dirty="0">
                <a:latin typeface="Times New Roman"/>
                <a:cs typeface="Times New Roman"/>
              </a:rPr>
              <a:t>RetailPulse</a:t>
            </a:r>
            <a:r>
              <a:rPr sz="3450" spc="-5" dirty="0">
                <a:latin typeface="Times New Roman"/>
                <a:cs typeface="Times New Roman"/>
              </a:rPr>
              <a:t> </a:t>
            </a:r>
            <a:r>
              <a:rPr sz="3450" dirty="0">
                <a:latin typeface="Times New Roman"/>
                <a:cs typeface="Times New Roman"/>
              </a:rPr>
              <a:t>combines</a:t>
            </a:r>
            <a:r>
              <a:rPr sz="3450" spc="-10" dirty="0">
                <a:latin typeface="Times New Roman"/>
                <a:cs typeface="Times New Roman"/>
              </a:rPr>
              <a:t> </a:t>
            </a:r>
            <a:r>
              <a:rPr sz="3450" dirty="0">
                <a:latin typeface="Times New Roman"/>
                <a:cs typeface="Times New Roman"/>
              </a:rPr>
              <a:t>ETL,</a:t>
            </a:r>
            <a:r>
              <a:rPr sz="3450" spc="-5" dirty="0">
                <a:latin typeface="Times New Roman"/>
                <a:cs typeface="Times New Roman"/>
              </a:rPr>
              <a:t> </a:t>
            </a:r>
            <a:r>
              <a:rPr sz="3450" dirty="0">
                <a:latin typeface="Times New Roman"/>
                <a:cs typeface="Times New Roman"/>
              </a:rPr>
              <a:t>data</a:t>
            </a:r>
            <a:r>
              <a:rPr sz="3450" spc="-5" dirty="0">
                <a:latin typeface="Times New Roman"/>
                <a:cs typeface="Times New Roman"/>
              </a:rPr>
              <a:t> </a:t>
            </a:r>
            <a:r>
              <a:rPr sz="3450" dirty="0">
                <a:latin typeface="Times New Roman"/>
                <a:cs typeface="Times New Roman"/>
              </a:rPr>
              <a:t>trust,</a:t>
            </a:r>
            <a:r>
              <a:rPr sz="3450" spc="-5" dirty="0">
                <a:latin typeface="Times New Roman"/>
                <a:cs typeface="Times New Roman"/>
              </a:rPr>
              <a:t> </a:t>
            </a:r>
            <a:r>
              <a:rPr sz="3450" dirty="0">
                <a:latin typeface="Times New Roman"/>
                <a:cs typeface="Times New Roman"/>
              </a:rPr>
              <a:t>ML</a:t>
            </a:r>
            <a:r>
              <a:rPr sz="3450" spc="-130" dirty="0">
                <a:latin typeface="Times New Roman"/>
                <a:cs typeface="Times New Roman"/>
              </a:rPr>
              <a:t> </a:t>
            </a:r>
            <a:r>
              <a:rPr sz="3450" dirty="0">
                <a:latin typeface="Times New Roman"/>
                <a:cs typeface="Times New Roman"/>
              </a:rPr>
              <a:t>analytics</a:t>
            </a:r>
            <a:r>
              <a:rPr sz="3450" spc="-10" dirty="0">
                <a:latin typeface="Times New Roman"/>
                <a:cs typeface="Times New Roman"/>
              </a:rPr>
              <a:t> </a:t>
            </a:r>
            <a:r>
              <a:rPr sz="3450" dirty="0">
                <a:latin typeface="Times New Roman"/>
                <a:cs typeface="Times New Roman"/>
              </a:rPr>
              <a:t>and</a:t>
            </a:r>
            <a:r>
              <a:rPr sz="3450" spc="-200" dirty="0">
                <a:latin typeface="Times New Roman"/>
                <a:cs typeface="Times New Roman"/>
              </a:rPr>
              <a:t> </a:t>
            </a:r>
            <a:r>
              <a:rPr sz="3450" dirty="0">
                <a:latin typeface="Times New Roman"/>
                <a:cs typeface="Times New Roman"/>
              </a:rPr>
              <a:t>AI-powered </a:t>
            </a:r>
            <a:r>
              <a:rPr sz="3450" spc="-10" dirty="0">
                <a:latin typeface="Times New Roman"/>
                <a:cs typeface="Times New Roman"/>
              </a:rPr>
              <a:t>business 	intelligence.</a:t>
            </a:r>
            <a:endParaRPr sz="3450">
              <a:latin typeface="Times New Roman"/>
              <a:cs typeface="Times New Roman"/>
            </a:endParaRPr>
          </a:p>
          <a:p>
            <a:pPr marL="385445" marR="931544" indent="-373380">
              <a:lnSpc>
                <a:spcPts val="4060"/>
              </a:lnSpc>
              <a:buFont typeface="Times New Roman"/>
              <a:buChar char="•"/>
              <a:tabLst>
                <a:tab pos="386715" algn="l"/>
              </a:tabLst>
            </a:pPr>
            <a:r>
              <a:rPr sz="3450" dirty="0">
                <a:latin typeface="Times New Roman"/>
                <a:cs typeface="Times New Roman"/>
              </a:rPr>
              <a:t>The</a:t>
            </a:r>
            <a:r>
              <a:rPr sz="3450" spc="5" dirty="0">
                <a:latin typeface="Times New Roman"/>
                <a:cs typeface="Times New Roman"/>
              </a:rPr>
              <a:t> </a:t>
            </a:r>
            <a:r>
              <a:rPr sz="3450" dirty="0">
                <a:latin typeface="Times New Roman"/>
                <a:cs typeface="Times New Roman"/>
              </a:rPr>
              <a:t>system aims</a:t>
            </a:r>
            <a:r>
              <a:rPr sz="3450" spc="-5" dirty="0">
                <a:latin typeface="Times New Roman"/>
                <a:cs typeface="Times New Roman"/>
              </a:rPr>
              <a:t> </a:t>
            </a:r>
            <a:r>
              <a:rPr sz="3450" dirty="0">
                <a:latin typeface="Times New Roman"/>
                <a:cs typeface="Times New Roman"/>
              </a:rPr>
              <a:t>to</a:t>
            </a:r>
            <a:r>
              <a:rPr sz="3450" spc="5" dirty="0">
                <a:latin typeface="Times New Roman"/>
                <a:cs typeface="Times New Roman"/>
              </a:rPr>
              <a:t> </a:t>
            </a:r>
            <a:r>
              <a:rPr sz="3450" dirty="0">
                <a:latin typeface="Times New Roman"/>
                <a:cs typeface="Times New Roman"/>
              </a:rPr>
              <a:t>transform</a:t>
            </a:r>
            <a:r>
              <a:rPr sz="3450" spc="5" dirty="0">
                <a:latin typeface="Times New Roman"/>
                <a:cs typeface="Times New Roman"/>
              </a:rPr>
              <a:t> </a:t>
            </a:r>
            <a:r>
              <a:rPr sz="3450" dirty="0">
                <a:latin typeface="Times New Roman"/>
                <a:cs typeface="Times New Roman"/>
              </a:rPr>
              <a:t>raw</a:t>
            </a:r>
            <a:r>
              <a:rPr sz="3450" spc="-5" dirty="0">
                <a:latin typeface="Times New Roman"/>
                <a:cs typeface="Times New Roman"/>
              </a:rPr>
              <a:t> </a:t>
            </a:r>
            <a:r>
              <a:rPr sz="3450" dirty="0">
                <a:latin typeface="Times New Roman"/>
                <a:cs typeface="Times New Roman"/>
              </a:rPr>
              <a:t>e-commerce</a:t>
            </a:r>
            <a:r>
              <a:rPr sz="3450" spc="5" dirty="0">
                <a:latin typeface="Times New Roman"/>
                <a:cs typeface="Times New Roman"/>
              </a:rPr>
              <a:t> </a:t>
            </a:r>
            <a:r>
              <a:rPr sz="3450" dirty="0">
                <a:latin typeface="Times New Roman"/>
                <a:cs typeface="Times New Roman"/>
              </a:rPr>
              <a:t>data into</a:t>
            </a:r>
            <a:r>
              <a:rPr sz="3450" spc="5" dirty="0">
                <a:latin typeface="Times New Roman"/>
                <a:cs typeface="Times New Roman"/>
              </a:rPr>
              <a:t> </a:t>
            </a:r>
            <a:r>
              <a:rPr sz="3450" dirty="0">
                <a:latin typeface="Times New Roman"/>
                <a:cs typeface="Times New Roman"/>
              </a:rPr>
              <a:t>secure, </a:t>
            </a:r>
            <a:r>
              <a:rPr sz="3450" spc="-10" dirty="0">
                <a:latin typeface="Times New Roman"/>
                <a:cs typeface="Times New Roman"/>
              </a:rPr>
              <a:t>explainable 	</a:t>
            </a:r>
            <a:r>
              <a:rPr sz="3450" dirty="0">
                <a:latin typeface="Times New Roman"/>
                <a:cs typeface="Times New Roman"/>
              </a:rPr>
              <a:t>and</a:t>
            </a:r>
            <a:r>
              <a:rPr sz="3450" spc="-5" dirty="0">
                <a:latin typeface="Times New Roman"/>
                <a:cs typeface="Times New Roman"/>
              </a:rPr>
              <a:t> </a:t>
            </a:r>
            <a:r>
              <a:rPr sz="3450" dirty="0">
                <a:latin typeface="Times New Roman"/>
                <a:cs typeface="Times New Roman"/>
              </a:rPr>
              <a:t>decision-oriented</a:t>
            </a:r>
            <a:r>
              <a:rPr sz="3450" spc="5" dirty="0">
                <a:latin typeface="Times New Roman"/>
                <a:cs typeface="Times New Roman"/>
              </a:rPr>
              <a:t> </a:t>
            </a:r>
            <a:r>
              <a:rPr sz="3450" spc="-10" dirty="0">
                <a:latin typeface="Times New Roman"/>
                <a:cs typeface="Times New Roman"/>
              </a:rPr>
              <a:t>insights.</a:t>
            </a:r>
            <a:endParaRPr sz="34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039"/>
              </a:spcBef>
            </a:pPr>
            <a:endParaRPr sz="3450">
              <a:latin typeface="Times New Roman"/>
              <a:cs typeface="Times New Roman"/>
            </a:endParaRPr>
          </a:p>
          <a:p>
            <a:pPr marL="2028189">
              <a:lnSpc>
                <a:spcPct val="100000"/>
              </a:lnSpc>
            </a:pPr>
            <a:r>
              <a:rPr sz="3500" b="1" dirty="0">
                <a:latin typeface="Times New Roman"/>
                <a:cs typeface="Times New Roman"/>
              </a:rPr>
              <a:t>"From</a:t>
            </a:r>
            <a:r>
              <a:rPr sz="3500" b="1" spc="-25" dirty="0">
                <a:latin typeface="Times New Roman"/>
                <a:cs typeface="Times New Roman"/>
              </a:rPr>
              <a:t> </a:t>
            </a:r>
            <a:r>
              <a:rPr sz="3500" b="1" dirty="0">
                <a:latin typeface="Times New Roman"/>
                <a:cs typeface="Times New Roman"/>
              </a:rPr>
              <a:t>collecting</a:t>
            </a:r>
            <a:r>
              <a:rPr sz="3500" b="1" spc="-15" dirty="0">
                <a:latin typeface="Times New Roman"/>
                <a:cs typeface="Times New Roman"/>
              </a:rPr>
              <a:t> </a:t>
            </a:r>
            <a:r>
              <a:rPr sz="3500" b="1" dirty="0">
                <a:latin typeface="Times New Roman"/>
                <a:cs typeface="Times New Roman"/>
              </a:rPr>
              <a:t>data</a:t>
            </a:r>
            <a:r>
              <a:rPr sz="3500" b="1" spc="-15" dirty="0">
                <a:latin typeface="Times New Roman"/>
                <a:cs typeface="Times New Roman"/>
              </a:rPr>
              <a:t> </a:t>
            </a:r>
            <a:r>
              <a:rPr sz="3500" b="1" dirty="0">
                <a:latin typeface="Times New Roman"/>
                <a:cs typeface="Times New Roman"/>
              </a:rPr>
              <a:t>to</a:t>
            </a:r>
            <a:r>
              <a:rPr sz="3500" b="1" spc="-15" dirty="0">
                <a:latin typeface="Times New Roman"/>
                <a:cs typeface="Times New Roman"/>
              </a:rPr>
              <a:t> </a:t>
            </a:r>
            <a:r>
              <a:rPr sz="3500" b="1" dirty="0">
                <a:latin typeface="Times New Roman"/>
                <a:cs typeface="Times New Roman"/>
              </a:rPr>
              <a:t>helping</a:t>
            </a:r>
            <a:r>
              <a:rPr sz="3500" b="1" spc="-15" dirty="0">
                <a:latin typeface="Times New Roman"/>
                <a:cs typeface="Times New Roman"/>
              </a:rPr>
              <a:t> </a:t>
            </a:r>
            <a:r>
              <a:rPr sz="3500" b="1" dirty="0">
                <a:latin typeface="Times New Roman"/>
                <a:cs typeface="Times New Roman"/>
              </a:rPr>
              <a:t>businesses</a:t>
            </a:r>
            <a:r>
              <a:rPr sz="3500" b="1" spc="-15" dirty="0">
                <a:latin typeface="Times New Roman"/>
                <a:cs typeface="Times New Roman"/>
              </a:rPr>
              <a:t> </a:t>
            </a:r>
            <a:r>
              <a:rPr sz="3500" b="1" dirty="0">
                <a:latin typeface="Times New Roman"/>
                <a:cs typeface="Times New Roman"/>
              </a:rPr>
              <a:t>make</a:t>
            </a:r>
            <a:r>
              <a:rPr sz="3500" b="1" spc="-15" dirty="0">
                <a:latin typeface="Times New Roman"/>
                <a:cs typeface="Times New Roman"/>
              </a:rPr>
              <a:t> </a:t>
            </a:r>
            <a:r>
              <a:rPr sz="3500" b="1" dirty="0">
                <a:latin typeface="Times New Roman"/>
                <a:cs typeface="Times New Roman"/>
              </a:rPr>
              <a:t>better</a:t>
            </a:r>
            <a:r>
              <a:rPr sz="3500" b="1" spc="-75" dirty="0">
                <a:latin typeface="Times New Roman"/>
                <a:cs typeface="Times New Roman"/>
              </a:rPr>
              <a:t> </a:t>
            </a:r>
            <a:r>
              <a:rPr sz="3500" b="1" spc="-10" dirty="0">
                <a:latin typeface="Times New Roman"/>
                <a:cs typeface="Times New Roman"/>
              </a:rPr>
              <a:t>decisions"</a:t>
            </a:r>
            <a:endParaRPr sz="35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05033" rIns="0" bIns="0" rtlCol="0">
            <a:spAutoFit/>
          </a:bodyPr>
          <a:lstStyle/>
          <a:p>
            <a:pPr marL="299085">
              <a:lnSpc>
                <a:spcPct val="100000"/>
              </a:lnSpc>
              <a:spcBef>
                <a:spcPts val="100"/>
              </a:spcBef>
            </a:pPr>
            <a:r>
              <a:rPr dirty="0">
                <a:latin typeface="Times New Roman"/>
                <a:cs typeface="Times New Roman"/>
              </a:rPr>
              <a:t>3.Literature</a:t>
            </a:r>
            <a:r>
              <a:rPr spc="-90" dirty="0">
                <a:latin typeface="Times New Roman"/>
                <a:cs typeface="Times New Roman"/>
              </a:rPr>
              <a:t> </a:t>
            </a:r>
            <a:r>
              <a:rPr spc="-10" dirty="0">
                <a:latin typeface="Times New Roman"/>
                <a:cs typeface="Times New Roman"/>
              </a:rPr>
              <a:t>Review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56841562"/>
              </p:ext>
            </p:extLst>
          </p:nvPr>
        </p:nvGraphicFramePr>
        <p:xfrm>
          <a:off x="319933" y="1772304"/>
          <a:ext cx="17629504" cy="67221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85317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1177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6586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835">
                <a:tc>
                  <a:txBody>
                    <a:bodyPr/>
                    <a:lstStyle/>
                    <a:p>
                      <a:pPr marL="956310">
                        <a:lnSpc>
                          <a:spcPct val="100000"/>
                        </a:lnSpc>
                        <a:spcBef>
                          <a:spcPts val="2835"/>
                        </a:spcBef>
                      </a:pPr>
                      <a:r>
                        <a:rPr sz="2850" b="1" dirty="0">
                          <a:latin typeface="Times New Roman"/>
                          <a:cs typeface="Times New Roman"/>
                        </a:rPr>
                        <a:t>Study</a:t>
                      </a:r>
                      <a:r>
                        <a:rPr sz="2850" b="1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50" b="1" dirty="0">
                          <a:latin typeface="Times New Roman"/>
                          <a:cs typeface="Times New Roman"/>
                        </a:rPr>
                        <a:t>/</a:t>
                      </a:r>
                      <a:r>
                        <a:rPr sz="2850" b="1" spc="-1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50" b="1" spc="-20" dirty="0">
                          <a:latin typeface="Times New Roman"/>
                          <a:cs typeface="Times New Roman"/>
                        </a:rPr>
                        <a:t>Area</a:t>
                      </a:r>
                      <a:endParaRPr sz="2850">
                        <a:latin typeface="Times New Roman"/>
                        <a:cs typeface="Times New Roman"/>
                      </a:endParaRPr>
                    </a:p>
                  </a:txBody>
                  <a:tcPr marL="0" marR="0" marT="360045" marB="0">
                    <a:lnL w="19050">
                      <a:solidFill>
                        <a:srgbClr val="E0E0E0"/>
                      </a:solidFill>
                      <a:prstDash val="solid"/>
                    </a:lnL>
                    <a:lnR w="19050">
                      <a:solidFill>
                        <a:srgbClr val="E0E0E0"/>
                      </a:solidFill>
                      <a:prstDash val="solid"/>
                    </a:lnR>
                    <a:lnT w="19050">
                      <a:solidFill>
                        <a:srgbClr val="E0E0E0"/>
                      </a:solidFill>
                      <a:prstDash val="solid"/>
                    </a:lnT>
                    <a:lnB w="19050">
                      <a:solidFill>
                        <a:srgbClr val="E0E0E0"/>
                      </a:solidFill>
                      <a:prstDash val="solid"/>
                    </a:lnB>
                    <a:solidFill>
                      <a:srgbClr val="87DED5"/>
                    </a:solidFill>
                  </a:tcPr>
                </a:tc>
                <a:tc>
                  <a:txBody>
                    <a:bodyPr/>
                    <a:lstStyle/>
                    <a:p>
                      <a:pPr marL="90805" algn="ctr">
                        <a:lnSpc>
                          <a:spcPct val="100000"/>
                        </a:lnSpc>
                        <a:spcBef>
                          <a:spcPts val="2835"/>
                        </a:spcBef>
                      </a:pPr>
                      <a:r>
                        <a:rPr sz="2850" spc="-10" dirty="0">
                          <a:latin typeface="Times New Roman"/>
                          <a:cs typeface="Times New Roman"/>
                        </a:rPr>
                        <a:t>Methodology</a:t>
                      </a:r>
                      <a:endParaRPr sz="2850">
                        <a:latin typeface="Times New Roman"/>
                        <a:cs typeface="Times New Roman"/>
                      </a:endParaRPr>
                    </a:p>
                  </a:txBody>
                  <a:tcPr marL="0" marR="0" marT="360045" marB="0">
                    <a:lnL w="19050">
                      <a:solidFill>
                        <a:srgbClr val="E0E0E0"/>
                      </a:solidFill>
                      <a:prstDash val="solid"/>
                    </a:lnL>
                    <a:lnR w="19050">
                      <a:solidFill>
                        <a:srgbClr val="E0E0E0"/>
                      </a:solidFill>
                      <a:prstDash val="solid"/>
                    </a:lnR>
                    <a:lnT w="19050">
                      <a:solidFill>
                        <a:srgbClr val="E0E0E0"/>
                      </a:solidFill>
                      <a:prstDash val="solid"/>
                    </a:lnT>
                    <a:lnB w="190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7DED5"/>
                    </a:solidFill>
                  </a:tcPr>
                </a:tc>
                <a:tc>
                  <a:txBody>
                    <a:bodyPr/>
                    <a:lstStyle/>
                    <a:p>
                      <a:pPr marL="91440" algn="ctr">
                        <a:lnSpc>
                          <a:spcPct val="100000"/>
                        </a:lnSpc>
                        <a:spcBef>
                          <a:spcPts val="2835"/>
                        </a:spcBef>
                      </a:pPr>
                      <a:r>
                        <a:rPr sz="2850" dirty="0">
                          <a:latin typeface="Times New Roman"/>
                          <a:cs typeface="Times New Roman"/>
                        </a:rPr>
                        <a:t>Key</a:t>
                      </a:r>
                      <a:r>
                        <a:rPr sz="285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50" spc="-10" dirty="0">
                          <a:latin typeface="Times New Roman"/>
                          <a:cs typeface="Times New Roman"/>
                        </a:rPr>
                        <a:t>Finding</a:t>
                      </a:r>
                      <a:endParaRPr sz="2850">
                        <a:latin typeface="Times New Roman"/>
                        <a:cs typeface="Times New Roman"/>
                      </a:endParaRPr>
                    </a:p>
                  </a:txBody>
                  <a:tcPr marL="0" marR="0" marT="360045" marB="0">
                    <a:lnL w="19050">
                      <a:solidFill>
                        <a:srgbClr val="E0E0E0"/>
                      </a:solidFill>
                      <a:prstDash val="solid"/>
                    </a:lnL>
                    <a:lnR w="19050">
                      <a:solidFill>
                        <a:srgbClr val="E0E0E0"/>
                      </a:solidFill>
                      <a:prstDash val="solid"/>
                    </a:lnR>
                    <a:lnT w="19050">
                      <a:solidFill>
                        <a:srgbClr val="E0E0E0"/>
                      </a:solidFill>
                      <a:prstDash val="solid"/>
                    </a:lnT>
                    <a:lnB w="190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7DE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274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10"/>
                        </a:spcBef>
                      </a:pPr>
                      <a:endParaRPr sz="17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38100" algn="ctr">
                        <a:lnSpc>
                          <a:spcPct val="100000"/>
                        </a:lnSpc>
                      </a:pPr>
                      <a:r>
                        <a:rPr lang="en-IN" sz="17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ETL &amp; Real-Time Data Warehousing</a:t>
                      </a:r>
                      <a:r>
                        <a:rPr lang="en-IN" sz="17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(Allwell et al., 2025)</a:t>
                      </a:r>
                      <a:endParaRPr sz="17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128270" marB="0">
                    <a:lnL w="19050">
                      <a:solidFill>
                        <a:srgbClr val="E0E0E0"/>
                      </a:solidFill>
                      <a:prstDash val="solid"/>
                    </a:lnL>
                    <a:lnR w="190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>
                      <a:solidFill>
                        <a:srgbClr val="E0E0E0"/>
                      </a:solidFill>
                      <a:prstDash val="solid"/>
                    </a:lnT>
                    <a:lnB w="19050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Qualitative literature review on ETL optimization's effect on latency and throughput</a:t>
                      </a:r>
                    </a:p>
                  </a:txBody>
                  <a:tcPr anchor="ctr">
                    <a:lnL w="19050">
                      <a:solidFill>
                        <a:srgbClr val="E0E0E0"/>
                      </a:solidFill>
                      <a:prstDash val="solid"/>
                    </a:lnL>
                    <a:lnR w="19050">
                      <a:solidFill>
                        <a:srgbClr val="E0E0E0"/>
                      </a:solidFill>
                      <a:prstDash val="solid"/>
                    </a:lnR>
                    <a:lnT w="19050">
                      <a:solidFill>
                        <a:srgbClr val="E0E0E0"/>
                      </a:solidFill>
                      <a:prstDash val="solid"/>
                    </a:lnT>
                    <a:lnB w="190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Speed gains often compromise data integrity/scalability; quality checks must be embedded, not bolted on</a:t>
                      </a:r>
                    </a:p>
                  </a:txBody>
                  <a:tcPr anchor="ctr">
                    <a:lnL w="19050">
                      <a:solidFill>
                        <a:srgbClr val="E0E0E0"/>
                      </a:solidFill>
                      <a:prstDash val="solid"/>
                    </a:lnL>
                    <a:lnR w="19050">
                      <a:solidFill>
                        <a:srgbClr val="E0E0E0"/>
                      </a:solidFill>
                      <a:prstDash val="solid"/>
                    </a:lnR>
                    <a:lnT w="19050">
                      <a:solidFill>
                        <a:srgbClr val="E0E0E0"/>
                      </a:solidFill>
                      <a:prstDash val="solid"/>
                    </a:lnT>
                    <a:lnB w="190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274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45"/>
                        </a:spcBef>
                      </a:pPr>
                      <a:endParaRPr sz="17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295275" marR="287655" indent="107314"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lang="en-IN" sz="17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Multi-Source Integration &amp; Data Quality</a:t>
                      </a:r>
                      <a:r>
                        <a:rPr lang="en-IN" sz="17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(Luján-Mora &amp; Palomar)</a:t>
                      </a:r>
                      <a:endParaRPr sz="17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56515" marB="0">
                    <a:lnL w="19050">
                      <a:solidFill>
                        <a:srgbClr val="E0E0E0"/>
                      </a:solidFill>
                      <a:prstDash val="solid"/>
                    </a:lnL>
                    <a:lnR w="190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>
                      <a:solidFill>
                        <a:srgbClr val="E0E0E0"/>
                      </a:solidFill>
                      <a:prstDash val="solid"/>
                    </a:lnT>
                    <a:lnB w="19050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Clustering algorithm using 4 string-similarity measures to merge inconsistent values across sources</a:t>
                      </a:r>
                    </a:p>
                  </a:txBody>
                  <a:tcPr anchor="ctr">
                    <a:lnL w="19050">
                      <a:solidFill>
                        <a:srgbClr val="E0E0E0"/>
                      </a:solidFill>
                      <a:prstDash val="solid"/>
                    </a:lnL>
                    <a:lnR w="19050">
                      <a:solidFill>
                        <a:srgbClr val="E0E0E0"/>
                      </a:solidFill>
                      <a:prstDash val="solid"/>
                    </a:lnR>
                    <a:lnT w="190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Achieved ~89–90% precision, near-zero error in reconciling inconsistent multi-source data</a:t>
                      </a:r>
                    </a:p>
                  </a:txBody>
                  <a:tcPr anchor="ctr">
                    <a:lnL w="19050">
                      <a:solidFill>
                        <a:srgbClr val="E0E0E0"/>
                      </a:solidFill>
                      <a:prstDash val="solid"/>
                    </a:lnL>
                    <a:lnR w="19050">
                      <a:solidFill>
                        <a:srgbClr val="E0E0E0"/>
                      </a:solidFill>
                      <a:prstDash val="solid"/>
                    </a:lnR>
                    <a:lnT w="190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4274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45"/>
                        </a:spcBef>
                      </a:pPr>
                      <a:endParaRPr sz="17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535940" marR="451484" indent="-2349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lang="en-IN" sz="17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Machine Learning for Business Analytics</a:t>
                      </a:r>
                      <a:r>
                        <a:rPr lang="en-IN" sz="17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(Hobor et al., 2026)</a:t>
                      </a:r>
                      <a:endParaRPr sz="17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56515" marB="0">
                    <a:lnL w="19050">
                      <a:solidFill>
                        <a:srgbClr val="E0E0E0"/>
                      </a:solidFill>
                      <a:prstDash val="solid"/>
                    </a:lnL>
                    <a:lnR w="190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>
                      <a:solidFill>
                        <a:srgbClr val="E0E0E0"/>
                      </a:solidFill>
                      <a:prstDash val="solid"/>
                    </a:lnT>
                    <a:lnB w="19050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Benchmarked tree ensembles (XGBoost, LightGBM) vs. deep learning on real retail sales data</a:t>
                      </a:r>
                    </a:p>
                  </a:txBody>
                  <a:tcPr anchor="ctr">
                    <a:lnL w="19050">
                      <a:solidFill>
                        <a:srgbClr val="E0E0E0"/>
                      </a:solidFill>
                      <a:prstDash val="solid"/>
                    </a:lnL>
                    <a:lnR w="19050">
                      <a:solidFill>
                        <a:srgbClr val="E0E0E0"/>
                      </a:solidFill>
                      <a:prstDash val="solid"/>
                    </a:lnR>
                    <a:lnT w="190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XGBoost gave the best accuracy and speed; tree-based models beat neural nets on sparse retail demand</a:t>
                      </a:r>
                    </a:p>
                  </a:txBody>
                  <a:tcPr anchor="ctr">
                    <a:lnL w="19050">
                      <a:solidFill>
                        <a:srgbClr val="E0E0E0"/>
                      </a:solidFill>
                      <a:prstDash val="solid"/>
                    </a:lnL>
                    <a:lnR w="19050">
                      <a:solidFill>
                        <a:srgbClr val="E0E0E0"/>
                      </a:solidFill>
                      <a:prstDash val="solid"/>
                    </a:lnR>
                    <a:lnT w="190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21983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650"/>
                        </a:spcBef>
                      </a:pPr>
                      <a:endParaRPr sz="17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328930">
                        <a:lnSpc>
                          <a:spcPct val="100000"/>
                        </a:lnSpc>
                      </a:pPr>
                      <a:r>
                        <a:rPr lang="en-IN" sz="17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 Trust, Security &amp; Anomaly Detection</a:t>
                      </a:r>
                      <a:r>
                        <a:rPr lang="en-IN" sz="17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(Bayram, Ahmed &amp; Hallin, 2024)</a:t>
                      </a:r>
                      <a:endParaRPr sz="17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82550" marB="0">
                    <a:lnL w="19050">
                      <a:solidFill>
                        <a:srgbClr val="E0E0E0"/>
                      </a:solidFill>
                      <a:prstDash val="solid"/>
                    </a:lnL>
                    <a:lnR w="190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>
                      <a:solidFill>
                        <a:srgbClr val="E0E0E0"/>
                      </a:solidFill>
                      <a:prstDash val="solid"/>
                    </a:lnT>
                    <a:lnB w="19050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Adaptive ML scoring framework with drift-detection-triggered retraining, tested on industrial sensor data</a:t>
                      </a:r>
                    </a:p>
                  </a:txBody>
                  <a:tcPr anchor="ctr">
                    <a:lnL w="19050">
                      <a:solidFill>
                        <a:srgbClr val="E0E0E0"/>
                      </a:solidFill>
                      <a:prstDash val="solid"/>
                    </a:lnL>
                    <a:lnR w="19050">
                      <a:solidFill>
                        <a:srgbClr val="E0E0E0"/>
                      </a:solidFill>
                      <a:prstDash val="solid"/>
                    </a:lnR>
                    <a:lnT w="190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Cut processing time by 88% vs. standard scoring while keeping high predictive accuracy (R² up to 0.978)</a:t>
                      </a:r>
                    </a:p>
                  </a:txBody>
                  <a:tcPr anchor="ctr">
                    <a:lnL w="19050">
                      <a:solidFill>
                        <a:srgbClr val="E0E0E0"/>
                      </a:solidFill>
                      <a:prstDash val="solid"/>
                    </a:lnL>
                    <a:lnR w="19050">
                      <a:solidFill>
                        <a:srgbClr val="E0E0E0"/>
                      </a:solidFill>
                      <a:prstDash val="solid"/>
                    </a:lnR>
                    <a:lnT w="190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>
                      <a:solidFill>
                        <a:srgbClr val="E0E0E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76260" rIns="0" bIns="0" rtlCol="0">
            <a:spAutoFit/>
          </a:bodyPr>
          <a:lstStyle/>
          <a:p>
            <a:pPr marL="219075">
              <a:lnSpc>
                <a:spcPct val="100000"/>
              </a:lnSpc>
              <a:spcBef>
                <a:spcPts val="100"/>
              </a:spcBef>
            </a:pPr>
            <a:r>
              <a:rPr dirty="0">
                <a:latin typeface="Times New Roman"/>
                <a:cs typeface="Times New Roman"/>
              </a:rPr>
              <a:t>4.</a:t>
            </a:r>
            <a:r>
              <a:rPr spc="-110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Problem</a:t>
            </a:r>
            <a:r>
              <a:rPr spc="-110" dirty="0">
                <a:latin typeface="Times New Roman"/>
                <a:cs typeface="Times New Roman"/>
              </a:rPr>
              <a:t> </a:t>
            </a:r>
            <a:r>
              <a:rPr spc="-10" dirty="0">
                <a:latin typeface="Times New Roman"/>
                <a:cs typeface="Times New Roman"/>
              </a:rPr>
              <a:t>Statement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05459" y="2269211"/>
            <a:ext cx="17028160" cy="5358130"/>
          </a:xfrm>
          <a:prstGeom prst="rect">
            <a:avLst/>
          </a:prstGeom>
        </p:spPr>
        <p:txBody>
          <a:bodyPr vert="horz" wrap="square" lIns="0" tIns="46990" rIns="0" bIns="0" rtlCol="0">
            <a:spAutoFit/>
          </a:bodyPr>
          <a:lstStyle/>
          <a:p>
            <a:pPr marL="1264285" marR="5080" indent="-1003300">
              <a:lnSpc>
                <a:spcPts val="4910"/>
              </a:lnSpc>
              <a:spcBef>
                <a:spcPts val="370"/>
              </a:spcBef>
            </a:pPr>
            <a:r>
              <a:rPr sz="4200" b="1" dirty="0">
                <a:latin typeface="Times New Roman"/>
                <a:cs typeface="Times New Roman"/>
              </a:rPr>
              <a:t>How</a:t>
            </a:r>
            <a:r>
              <a:rPr sz="4200" b="1" spc="-60" dirty="0">
                <a:latin typeface="Times New Roman"/>
                <a:cs typeface="Times New Roman"/>
              </a:rPr>
              <a:t> </a:t>
            </a:r>
            <a:r>
              <a:rPr sz="4200" b="1" dirty="0">
                <a:latin typeface="Times New Roman"/>
                <a:cs typeface="Times New Roman"/>
              </a:rPr>
              <a:t>can</a:t>
            </a:r>
            <a:r>
              <a:rPr sz="4200" b="1" spc="-55" dirty="0">
                <a:latin typeface="Times New Roman"/>
                <a:cs typeface="Times New Roman"/>
              </a:rPr>
              <a:t> </a:t>
            </a:r>
            <a:r>
              <a:rPr sz="4200" b="1" dirty="0">
                <a:latin typeface="Times New Roman"/>
                <a:cs typeface="Times New Roman"/>
              </a:rPr>
              <a:t>scattered</a:t>
            </a:r>
            <a:r>
              <a:rPr sz="4200" b="1" spc="-60" dirty="0">
                <a:latin typeface="Times New Roman"/>
                <a:cs typeface="Times New Roman"/>
              </a:rPr>
              <a:t> </a:t>
            </a:r>
            <a:r>
              <a:rPr sz="4200" b="1" dirty="0">
                <a:latin typeface="Times New Roman"/>
                <a:cs typeface="Times New Roman"/>
              </a:rPr>
              <a:t>e-commerce</a:t>
            </a:r>
            <a:r>
              <a:rPr sz="4200" b="1" spc="-50" dirty="0">
                <a:latin typeface="Times New Roman"/>
                <a:cs typeface="Times New Roman"/>
              </a:rPr>
              <a:t> </a:t>
            </a:r>
            <a:r>
              <a:rPr sz="4200" b="1" dirty="0">
                <a:latin typeface="Times New Roman"/>
                <a:cs typeface="Times New Roman"/>
              </a:rPr>
              <a:t>data</a:t>
            </a:r>
            <a:r>
              <a:rPr sz="4200" b="1" spc="-55" dirty="0">
                <a:latin typeface="Times New Roman"/>
                <a:cs typeface="Times New Roman"/>
              </a:rPr>
              <a:t> </a:t>
            </a:r>
            <a:r>
              <a:rPr sz="4200" b="1" dirty="0">
                <a:latin typeface="Times New Roman"/>
                <a:cs typeface="Times New Roman"/>
              </a:rPr>
              <a:t>be</a:t>
            </a:r>
            <a:r>
              <a:rPr sz="4200" b="1" spc="-50" dirty="0">
                <a:latin typeface="Times New Roman"/>
                <a:cs typeface="Times New Roman"/>
              </a:rPr>
              <a:t> </a:t>
            </a:r>
            <a:r>
              <a:rPr sz="4200" b="1" dirty="0">
                <a:latin typeface="Times New Roman"/>
                <a:cs typeface="Times New Roman"/>
              </a:rPr>
              <a:t>converted</a:t>
            </a:r>
            <a:r>
              <a:rPr sz="4200" b="1" spc="-60" dirty="0">
                <a:latin typeface="Times New Roman"/>
                <a:cs typeface="Times New Roman"/>
              </a:rPr>
              <a:t> </a:t>
            </a:r>
            <a:r>
              <a:rPr sz="4200" b="1" dirty="0">
                <a:latin typeface="Times New Roman"/>
                <a:cs typeface="Times New Roman"/>
              </a:rPr>
              <a:t>into</a:t>
            </a:r>
            <a:r>
              <a:rPr sz="4200" b="1" spc="-50" dirty="0">
                <a:latin typeface="Times New Roman"/>
                <a:cs typeface="Times New Roman"/>
              </a:rPr>
              <a:t> </a:t>
            </a:r>
            <a:r>
              <a:rPr sz="4200" b="1" dirty="0">
                <a:latin typeface="Times New Roman"/>
                <a:cs typeface="Times New Roman"/>
              </a:rPr>
              <a:t>trusted,</a:t>
            </a:r>
            <a:r>
              <a:rPr sz="4200" b="1" spc="-55" dirty="0">
                <a:latin typeface="Times New Roman"/>
                <a:cs typeface="Times New Roman"/>
              </a:rPr>
              <a:t> </a:t>
            </a:r>
            <a:r>
              <a:rPr sz="4200" b="1" dirty="0">
                <a:latin typeface="Times New Roman"/>
                <a:cs typeface="Times New Roman"/>
              </a:rPr>
              <a:t>secure</a:t>
            </a:r>
            <a:r>
              <a:rPr sz="4200" b="1" spc="-50" dirty="0">
                <a:latin typeface="Times New Roman"/>
                <a:cs typeface="Times New Roman"/>
              </a:rPr>
              <a:t> </a:t>
            </a:r>
            <a:r>
              <a:rPr sz="4200" b="1" spc="-25" dirty="0">
                <a:latin typeface="Times New Roman"/>
                <a:cs typeface="Times New Roman"/>
              </a:rPr>
              <a:t>and </a:t>
            </a:r>
            <a:r>
              <a:rPr sz="4200" b="1" dirty="0">
                <a:latin typeface="Times New Roman"/>
                <a:cs typeface="Times New Roman"/>
              </a:rPr>
              <a:t>actionable</a:t>
            </a:r>
            <a:r>
              <a:rPr sz="4200" b="1" spc="-110" dirty="0">
                <a:latin typeface="Times New Roman"/>
                <a:cs typeface="Times New Roman"/>
              </a:rPr>
              <a:t> </a:t>
            </a:r>
            <a:r>
              <a:rPr sz="4200" b="1" dirty="0">
                <a:latin typeface="Times New Roman"/>
                <a:cs typeface="Times New Roman"/>
              </a:rPr>
              <a:t>business</a:t>
            </a:r>
            <a:r>
              <a:rPr sz="4200" b="1" spc="-114" dirty="0">
                <a:latin typeface="Times New Roman"/>
                <a:cs typeface="Times New Roman"/>
              </a:rPr>
              <a:t> </a:t>
            </a:r>
            <a:r>
              <a:rPr sz="4200" b="1" dirty="0">
                <a:latin typeface="Times New Roman"/>
                <a:cs typeface="Times New Roman"/>
              </a:rPr>
              <a:t>intelligence</a:t>
            </a:r>
            <a:r>
              <a:rPr sz="4200" b="1" spc="-110" dirty="0">
                <a:latin typeface="Times New Roman"/>
                <a:cs typeface="Times New Roman"/>
              </a:rPr>
              <a:t> </a:t>
            </a:r>
            <a:r>
              <a:rPr sz="4200" b="1" dirty="0">
                <a:latin typeface="Times New Roman"/>
                <a:cs typeface="Times New Roman"/>
              </a:rPr>
              <a:t>through</a:t>
            </a:r>
            <a:r>
              <a:rPr sz="4200" b="1" spc="-114" dirty="0">
                <a:latin typeface="Times New Roman"/>
                <a:cs typeface="Times New Roman"/>
              </a:rPr>
              <a:t> </a:t>
            </a:r>
            <a:r>
              <a:rPr sz="4200" b="1" dirty="0">
                <a:latin typeface="Times New Roman"/>
                <a:cs typeface="Times New Roman"/>
              </a:rPr>
              <a:t>one</a:t>
            </a:r>
            <a:r>
              <a:rPr sz="4200" b="1" spc="-110" dirty="0">
                <a:latin typeface="Times New Roman"/>
                <a:cs typeface="Times New Roman"/>
              </a:rPr>
              <a:t> </a:t>
            </a:r>
            <a:r>
              <a:rPr sz="4200" b="1" dirty="0">
                <a:latin typeface="Times New Roman"/>
                <a:cs typeface="Times New Roman"/>
              </a:rPr>
              <a:t>automated</a:t>
            </a:r>
            <a:r>
              <a:rPr sz="4200" b="1" spc="-114" dirty="0">
                <a:latin typeface="Times New Roman"/>
                <a:cs typeface="Times New Roman"/>
              </a:rPr>
              <a:t> </a:t>
            </a:r>
            <a:r>
              <a:rPr sz="4200" b="1" spc="-10" dirty="0">
                <a:latin typeface="Times New Roman"/>
                <a:cs typeface="Times New Roman"/>
              </a:rPr>
              <a:t>pipeline?</a:t>
            </a:r>
            <a:endParaRPr sz="4200">
              <a:latin typeface="Times New Roman"/>
              <a:cs typeface="Times New Roman"/>
            </a:endParaRPr>
          </a:p>
          <a:p>
            <a:pPr marL="530225" indent="-517525">
              <a:lnSpc>
                <a:spcPts val="5690"/>
              </a:lnSpc>
              <a:spcBef>
                <a:spcPts val="9290"/>
              </a:spcBef>
              <a:buFont typeface="Times New Roman"/>
              <a:buChar char="•"/>
              <a:tabLst>
                <a:tab pos="530225" algn="l"/>
              </a:tabLst>
            </a:pPr>
            <a:r>
              <a:rPr sz="4800" dirty="0">
                <a:latin typeface="Times New Roman"/>
                <a:cs typeface="Times New Roman"/>
              </a:rPr>
              <a:t>Data</a:t>
            </a:r>
            <a:r>
              <a:rPr sz="4800" spc="-45" dirty="0">
                <a:latin typeface="Times New Roman"/>
                <a:cs typeface="Times New Roman"/>
              </a:rPr>
              <a:t> </a:t>
            </a:r>
            <a:r>
              <a:rPr sz="4800" dirty="0">
                <a:latin typeface="Times New Roman"/>
                <a:cs typeface="Times New Roman"/>
              </a:rPr>
              <a:t>exists</a:t>
            </a:r>
            <a:r>
              <a:rPr sz="4800" spc="-45" dirty="0">
                <a:latin typeface="Times New Roman"/>
                <a:cs typeface="Times New Roman"/>
              </a:rPr>
              <a:t> </a:t>
            </a:r>
            <a:r>
              <a:rPr sz="4800" dirty="0">
                <a:latin typeface="Times New Roman"/>
                <a:cs typeface="Times New Roman"/>
              </a:rPr>
              <a:t>in</a:t>
            </a:r>
            <a:r>
              <a:rPr sz="4800" spc="-40" dirty="0">
                <a:latin typeface="Times New Roman"/>
                <a:cs typeface="Times New Roman"/>
              </a:rPr>
              <a:t> </a:t>
            </a:r>
            <a:r>
              <a:rPr sz="4800" dirty="0">
                <a:latin typeface="Times New Roman"/>
                <a:cs typeface="Times New Roman"/>
              </a:rPr>
              <a:t>different</a:t>
            </a:r>
            <a:r>
              <a:rPr sz="4800" spc="-40" dirty="0">
                <a:latin typeface="Times New Roman"/>
                <a:cs typeface="Times New Roman"/>
              </a:rPr>
              <a:t> </a:t>
            </a:r>
            <a:r>
              <a:rPr sz="4800" dirty="0">
                <a:latin typeface="Times New Roman"/>
                <a:cs typeface="Times New Roman"/>
              </a:rPr>
              <a:t>formats</a:t>
            </a:r>
            <a:r>
              <a:rPr sz="4800" spc="-45" dirty="0">
                <a:latin typeface="Times New Roman"/>
                <a:cs typeface="Times New Roman"/>
              </a:rPr>
              <a:t> </a:t>
            </a:r>
            <a:r>
              <a:rPr sz="4800" dirty="0">
                <a:latin typeface="Times New Roman"/>
                <a:cs typeface="Times New Roman"/>
              </a:rPr>
              <a:t>and</a:t>
            </a:r>
            <a:r>
              <a:rPr sz="4800" spc="-40" dirty="0">
                <a:latin typeface="Times New Roman"/>
                <a:cs typeface="Times New Roman"/>
              </a:rPr>
              <a:t> </a:t>
            </a:r>
            <a:r>
              <a:rPr sz="4800" spc="-10" dirty="0">
                <a:latin typeface="Times New Roman"/>
                <a:cs typeface="Times New Roman"/>
              </a:rPr>
              <a:t>systems.</a:t>
            </a:r>
            <a:endParaRPr sz="4800">
              <a:latin typeface="Times New Roman"/>
              <a:cs typeface="Times New Roman"/>
            </a:endParaRPr>
          </a:p>
          <a:p>
            <a:pPr marL="530225" indent="-517525">
              <a:lnSpc>
                <a:spcPts val="5615"/>
              </a:lnSpc>
              <a:buFont typeface="Times New Roman"/>
              <a:buChar char="•"/>
              <a:tabLst>
                <a:tab pos="530225" algn="l"/>
              </a:tabLst>
            </a:pPr>
            <a:r>
              <a:rPr sz="4800" dirty="0">
                <a:latin typeface="Times New Roman"/>
                <a:cs typeface="Times New Roman"/>
              </a:rPr>
              <a:t>Manual</a:t>
            </a:r>
            <a:r>
              <a:rPr sz="4800" spc="10" dirty="0">
                <a:latin typeface="Times New Roman"/>
                <a:cs typeface="Times New Roman"/>
              </a:rPr>
              <a:t> </a:t>
            </a:r>
            <a:r>
              <a:rPr sz="4800" dirty="0">
                <a:latin typeface="Times New Roman"/>
                <a:cs typeface="Times New Roman"/>
              </a:rPr>
              <a:t>processing</a:t>
            </a:r>
            <a:r>
              <a:rPr sz="4800" spc="15" dirty="0">
                <a:latin typeface="Times New Roman"/>
                <a:cs typeface="Times New Roman"/>
              </a:rPr>
              <a:t> </a:t>
            </a:r>
            <a:r>
              <a:rPr sz="4800" dirty="0">
                <a:latin typeface="Times New Roman"/>
                <a:cs typeface="Times New Roman"/>
              </a:rPr>
              <a:t>is</a:t>
            </a:r>
            <a:r>
              <a:rPr sz="4800" spc="10" dirty="0">
                <a:latin typeface="Times New Roman"/>
                <a:cs typeface="Times New Roman"/>
              </a:rPr>
              <a:t> </a:t>
            </a:r>
            <a:r>
              <a:rPr sz="4800" spc="-30" dirty="0">
                <a:latin typeface="Times New Roman"/>
                <a:cs typeface="Times New Roman"/>
              </a:rPr>
              <a:t>time-</a:t>
            </a:r>
            <a:r>
              <a:rPr sz="4800" spc="-10" dirty="0">
                <a:latin typeface="Times New Roman"/>
                <a:cs typeface="Times New Roman"/>
              </a:rPr>
              <a:t>consuming.</a:t>
            </a:r>
            <a:endParaRPr sz="4800">
              <a:latin typeface="Times New Roman"/>
              <a:cs typeface="Times New Roman"/>
            </a:endParaRPr>
          </a:p>
          <a:p>
            <a:pPr marL="530225" indent="-517525">
              <a:lnSpc>
                <a:spcPts val="5615"/>
              </a:lnSpc>
              <a:buFont typeface="Times New Roman"/>
              <a:buChar char="•"/>
              <a:tabLst>
                <a:tab pos="530225" algn="l"/>
              </a:tabLst>
            </a:pPr>
            <a:r>
              <a:rPr sz="4800" dirty="0">
                <a:latin typeface="Times New Roman"/>
                <a:cs typeface="Times New Roman"/>
              </a:rPr>
              <a:t>Poor</a:t>
            </a:r>
            <a:r>
              <a:rPr sz="4800" spc="-40" dirty="0">
                <a:latin typeface="Times New Roman"/>
                <a:cs typeface="Times New Roman"/>
              </a:rPr>
              <a:t> </a:t>
            </a:r>
            <a:r>
              <a:rPr sz="4800" dirty="0">
                <a:latin typeface="Times New Roman"/>
                <a:cs typeface="Times New Roman"/>
              </a:rPr>
              <a:t>data</a:t>
            </a:r>
            <a:r>
              <a:rPr sz="4800" spc="-35" dirty="0">
                <a:latin typeface="Times New Roman"/>
                <a:cs typeface="Times New Roman"/>
              </a:rPr>
              <a:t> </a:t>
            </a:r>
            <a:r>
              <a:rPr sz="4800" dirty="0">
                <a:latin typeface="Times New Roman"/>
                <a:cs typeface="Times New Roman"/>
              </a:rPr>
              <a:t>quality</a:t>
            </a:r>
            <a:r>
              <a:rPr sz="4800" spc="-40" dirty="0">
                <a:latin typeface="Times New Roman"/>
                <a:cs typeface="Times New Roman"/>
              </a:rPr>
              <a:t> </a:t>
            </a:r>
            <a:r>
              <a:rPr sz="4800" dirty="0">
                <a:latin typeface="Times New Roman"/>
                <a:cs typeface="Times New Roman"/>
              </a:rPr>
              <a:t>can</a:t>
            </a:r>
            <a:r>
              <a:rPr sz="4800" spc="-35" dirty="0">
                <a:latin typeface="Times New Roman"/>
                <a:cs typeface="Times New Roman"/>
              </a:rPr>
              <a:t> </a:t>
            </a:r>
            <a:r>
              <a:rPr sz="4800" dirty="0">
                <a:latin typeface="Times New Roman"/>
                <a:cs typeface="Times New Roman"/>
              </a:rPr>
              <a:t>lead</a:t>
            </a:r>
            <a:r>
              <a:rPr sz="4800" spc="-40" dirty="0">
                <a:latin typeface="Times New Roman"/>
                <a:cs typeface="Times New Roman"/>
              </a:rPr>
              <a:t> </a:t>
            </a:r>
            <a:r>
              <a:rPr sz="4800" dirty="0">
                <a:latin typeface="Times New Roman"/>
                <a:cs typeface="Times New Roman"/>
              </a:rPr>
              <a:t>to</a:t>
            </a:r>
            <a:r>
              <a:rPr sz="4800" spc="-35" dirty="0">
                <a:latin typeface="Times New Roman"/>
                <a:cs typeface="Times New Roman"/>
              </a:rPr>
              <a:t> </a:t>
            </a:r>
            <a:r>
              <a:rPr sz="4800" dirty="0">
                <a:latin typeface="Times New Roman"/>
                <a:cs typeface="Times New Roman"/>
              </a:rPr>
              <a:t>unreliable</a:t>
            </a:r>
            <a:r>
              <a:rPr sz="4800" spc="-40" dirty="0">
                <a:latin typeface="Times New Roman"/>
                <a:cs typeface="Times New Roman"/>
              </a:rPr>
              <a:t> </a:t>
            </a:r>
            <a:r>
              <a:rPr sz="4800" spc="-10" dirty="0">
                <a:latin typeface="Times New Roman"/>
                <a:cs typeface="Times New Roman"/>
              </a:rPr>
              <a:t>insights.</a:t>
            </a:r>
            <a:endParaRPr sz="4800">
              <a:latin typeface="Times New Roman"/>
              <a:cs typeface="Times New Roman"/>
            </a:endParaRPr>
          </a:p>
          <a:p>
            <a:pPr marL="530225" indent="-517525">
              <a:lnSpc>
                <a:spcPts val="5690"/>
              </a:lnSpc>
              <a:buFont typeface="Times New Roman"/>
              <a:buChar char="•"/>
              <a:tabLst>
                <a:tab pos="530225" algn="l"/>
              </a:tabLst>
            </a:pPr>
            <a:r>
              <a:rPr sz="4800" dirty="0">
                <a:latin typeface="Times New Roman"/>
                <a:cs typeface="Times New Roman"/>
              </a:rPr>
              <a:t>A</a:t>
            </a:r>
            <a:r>
              <a:rPr sz="4800" spc="-285" dirty="0">
                <a:latin typeface="Times New Roman"/>
                <a:cs typeface="Times New Roman"/>
              </a:rPr>
              <a:t> </a:t>
            </a:r>
            <a:r>
              <a:rPr sz="4800" dirty="0">
                <a:latin typeface="Times New Roman"/>
                <a:cs typeface="Times New Roman"/>
              </a:rPr>
              <a:t>reliable</a:t>
            </a:r>
            <a:r>
              <a:rPr sz="4800" spc="-20" dirty="0">
                <a:latin typeface="Times New Roman"/>
                <a:cs typeface="Times New Roman"/>
              </a:rPr>
              <a:t> </a:t>
            </a:r>
            <a:r>
              <a:rPr sz="4800" dirty="0">
                <a:latin typeface="Times New Roman"/>
                <a:cs typeface="Times New Roman"/>
              </a:rPr>
              <a:t>and</a:t>
            </a:r>
            <a:r>
              <a:rPr sz="4800" spc="-25" dirty="0">
                <a:latin typeface="Times New Roman"/>
                <a:cs typeface="Times New Roman"/>
              </a:rPr>
              <a:t> </a:t>
            </a:r>
            <a:r>
              <a:rPr sz="4800" dirty="0">
                <a:latin typeface="Times New Roman"/>
                <a:cs typeface="Times New Roman"/>
              </a:rPr>
              <a:t>automated</a:t>
            </a:r>
            <a:r>
              <a:rPr sz="4800" spc="-20" dirty="0">
                <a:latin typeface="Times New Roman"/>
                <a:cs typeface="Times New Roman"/>
              </a:rPr>
              <a:t> </a:t>
            </a:r>
            <a:r>
              <a:rPr sz="4800" dirty="0">
                <a:latin typeface="Times New Roman"/>
                <a:cs typeface="Times New Roman"/>
              </a:rPr>
              <a:t>pipeline</a:t>
            </a:r>
            <a:r>
              <a:rPr sz="4800" spc="-25" dirty="0">
                <a:latin typeface="Times New Roman"/>
                <a:cs typeface="Times New Roman"/>
              </a:rPr>
              <a:t> </a:t>
            </a:r>
            <a:r>
              <a:rPr sz="4800" dirty="0">
                <a:latin typeface="Times New Roman"/>
                <a:cs typeface="Times New Roman"/>
              </a:rPr>
              <a:t>is</a:t>
            </a:r>
            <a:r>
              <a:rPr sz="4800" spc="-25" dirty="0">
                <a:latin typeface="Times New Roman"/>
                <a:cs typeface="Times New Roman"/>
              </a:rPr>
              <a:t> </a:t>
            </a:r>
            <a:r>
              <a:rPr sz="4800" dirty="0">
                <a:latin typeface="Times New Roman"/>
                <a:cs typeface="Times New Roman"/>
              </a:rPr>
              <a:t>required</a:t>
            </a:r>
            <a:r>
              <a:rPr sz="4800" spc="-25" dirty="0">
                <a:latin typeface="Times New Roman"/>
                <a:cs typeface="Times New Roman"/>
              </a:rPr>
              <a:t> </a:t>
            </a:r>
            <a:r>
              <a:rPr sz="4800" dirty="0">
                <a:latin typeface="Times New Roman"/>
                <a:cs typeface="Times New Roman"/>
              </a:rPr>
              <a:t>for</a:t>
            </a:r>
            <a:r>
              <a:rPr sz="4800" spc="-20" dirty="0">
                <a:latin typeface="Times New Roman"/>
                <a:cs typeface="Times New Roman"/>
              </a:rPr>
              <a:t> </a:t>
            </a:r>
            <a:r>
              <a:rPr sz="4800" dirty="0">
                <a:latin typeface="Times New Roman"/>
                <a:cs typeface="Times New Roman"/>
              </a:rPr>
              <a:t>unified</a:t>
            </a:r>
            <a:r>
              <a:rPr sz="4800" spc="-25" dirty="0">
                <a:latin typeface="Times New Roman"/>
                <a:cs typeface="Times New Roman"/>
              </a:rPr>
              <a:t> </a:t>
            </a:r>
            <a:r>
              <a:rPr sz="4800" spc="-10" dirty="0">
                <a:latin typeface="Times New Roman"/>
                <a:cs typeface="Times New Roman"/>
              </a:rPr>
              <a:t>analytics.</a:t>
            </a:r>
            <a:endParaRPr sz="4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76260" rIns="0" bIns="0" rtlCol="0">
            <a:spAutoFit/>
          </a:bodyPr>
          <a:lstStyle/>
          <a:p>
            <a:pPr marL="219075">
              <a:lnSpc>
                <a:spcPct val="100000"/>
              </a:lnSpc>
              <a:spcBef>
                <a:spcPts val="100"/>
              </a:spcBef>
            </a:pPr>
            <a:r>
              <a:rPr dirty="0">
                <a:latin typeface="Times New Roman"/>
                <a:cs typeface="Times New Roman"/>
              </a:rPr>
              <a:t>5. </a:t>
            </a:r>
            <a:r>
              <a:rPr spc="-10" dirty="0">
                <a:latin typeface="Times New Roman"/>
                <a:cs typeface="Times New Roman"/>
              </a:rPr>
              <a:t>Objectives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79131" y="2509865"/>
            <a:ext cx="14154150" cy="45148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76250" indent="-463550">
              <a:lnSpc>
                <a:spcPts val="5095"/>
              </a:lnSpc>
              <a:spcBef>
                <a:spcPts val="100"/>
              </a:spcBef>
              <a:buFont typeface="Times New Roman"/>
              <a:buChar char="•"/>
              <a:tabLst>
                <a:tab pos="476250" algn="l"/>
              </a:tabLst>
            </a:pPr>
            <a:r>
              <a:rPr sz="4300" dirty="0">
                <a:latin typeface="Times New Roman"/>
                <a:cs typeface="Times New Roman"/>
              </a:rPr>
              <a:t>Scalable</a:t>
            </a:r>
            <a:r>
              <a:rPr sz="4300" spc="-105" dirty="0">
                <a:latin typeface="Times New Roman"/>
                <a:cs typeface="Times New Roman"/>
              </a:rPr>
              <a:t> </a:t>
            </a:r>
            <a:r>
              <a:rPr sz="4300" spc="-25" dirty="0">
                <a:latin typeface="Times New Roman"/>
                <a:cs typeface="Times New Roman"/>
              </a:rPr>
              <a:t>Multi-</a:t>
            </a:r>
            <a:r>
              <a:rPr sz="4300" dirty="0">
                <a:latin typeface="Times New Roman"/>
                <a:cs typeface="Times New Roman"/>
              </a:rPr>
              <a:t>Source</a:t>
            </a:r>
            <a:r>
              <a:rPr sz="4300" spc="-100" dirty="0">
                <a:latin typeface="Times New Roman"/>
                <a:cs typeface="Times New Roman"/>
              </a:rPr>
              <a:t> </a:t>
            </a:r>
            <a:r>
              <a:rPr sz="4300" dirty="0">
                <a:latin typeface="Times New Roman"/>
                <a:cs typeface="Times New Roman"/>
              </a:rPr>
              <a:t>Data</a:t>
            </a:r>
            <a:r>
              <a:rPr sz="4300" spc="-105" dirty="0">
                <a:latin typeface="Times New Roman"/>
                <a:cs typeface="Times New Roman"/>
              </a:rPr>
              <a:t> </a:t>
            </a:r>
            <a:r>
              <a:rPr sz="4300" spc="-10" dirty="0">
                <a:latin typeface="Times New Roman"/>
                <a:cs typeface="Times New Roman"/>
              </a:rPr>
              <a:t>Pipeline</a:t>
            </a:r>
            <a:endParaRPr sz="4300">
              <a:latin typeface="Times New Roman"/>
              <a:cs typeface="Times New Roman"/>
            </a:endParaRPr>
          </a:p>
          <a:p>
            <a:pPr marL="476250" indent="-463550">
              <a:lnSpc>
                <a:spcPts val="5030"/>
              </a:lnSpc>
              <a:buFont typeface="Times New Roman"/>
              <a:buChar char="•"/>
              <a:tabLst>
                <a:tab pos="476250" algn="l"/>
              </a:tabLst>
            </a:pPr>
            <a:r>
              <a:rPr sz="4300" dirty="0">
                <a:latin typeface="Times New Roman"/>
                <a:cs typeface="Times New Roman"/>
              </a:rPr>
              <a:t>Automated</a:t>
            </a:r>
            <a:r>
              <a:rPr sz="4300" spc="-204" dirty="0">
                <a:latin typeface="Times New Roman"/>
                <a:cs typeface="Times New Roman"/>
              </a:rPr>
              <a:t> </a:t>
            </a:r>
            <a:r>
              <a:rPr sz="4300" dirty="0">
                <a:latin typeface="Times New Roman"/>
                <a:cs typeface="Times New Roman"/>
              </a:rPr>
              <a:t>Data</a:t>
            </a:r>
            <a:r>
              <a:rPr sz="4300" spc="-114" dirty="0">
                <a:latin typeface="Times New Roman"/>
                <a:cs typeface="Times New Roman"/>
              </a:rPr>
              <a:t> </a:t>
            </a:r>
            <a:r>
              <a:rPr sz="4300" dirty="0">
                <a:latin typeface="Times New Roman"/>
                <a:cs typeface="Times New Roman"/>
              </a:rPr>
              <a:t>Cleaning,</a:t>
            </a:r>
            <a:r>
              <a:rPr sz="4300" spc="-195" dirty="0">
                <a:latin typeface="Times New Roman"/>
                <a:cs typeface="Times New Roman"/>
              </a:rPr>
              <a:t> </a:t>
            </a:r>
            <a:r>
              <a:rPr sz="4300" spc="-45" dirty="0">
                <a:latin typeface="Times New Roman"/>
                <a:cs typeface="Times New Roman"/>
              </a:rPr>
              <a:t>Validation</a:t>
            </a:r>
            <a:r>
              <a:rPr sz="4300" spc="-114" dirty="0">
                <a:latin typeface="Times New Roman"/>
                <a:cs typeface="Times New Roman"/>
              </a:rPr>
              <a:t> </a:t>
            </a:r>
            <a:r>
              <a:rPr sz="4300" dirty="0">
                <a:latin typeface="Times New Roman"/>
                <a:cs typeface="Times New Roman"/>
              </a:rPr>
              <a:t>&amp;</a:t>
            </a:r>
            <a:r>
              <a:rPr sz="4300" spc="-190" dirty="0">
                <a:latin typeface="Times New Roman"/>
                <a:cs typeface="Times New Roman"/>
              </a:rPr>
              <a:t> </a:t>
            </a:r>
            <a:r>
              <a:rPr sz="4300" spc="-45" dirty="0">
                <a:latin typeface="Times New Roman"/>
                <a:cs typeface="Times New Roman"/>
              </a:rPr>
              <a:t>Trust</a:t>
            </a:r>
            <a:r>
              <a:rPr sz="4300" spc="-240" dirty="0">
                <a:latin typeface="Times New Roman"/>
                <a:cs typeface="Times New Roman"/>
              </a:rPr>
              <a:t> </a:t>
            </a:r>
            <a:r>
              <a:rPr sz="4300" spc="-10" dirty="0">
                <a:latin typeface="Times New Roman"/>
                <a:cs typeface="Times New Roman"/>
              </a:rPr>
              <a:t>Assessment</a:t>
            </a:r>
            <a:endParaRPr sz="4300">
              <a:latin typeface="Times New Roman"/>
              <a:cs typeface="Times New Roman"/>
            </a:endParaRPr>
          </a:p>
          <a:p>
            <a:pPr marL="476884" marR="1323975" indent="-464184">
              <a:lnSpc>
                <a:spcPts val="5030"/>
              </a:lnSpc>
              <a:spcBef>
                <a:spcPts val="210"/>
              </a:spcBef>
              <a:buFont typeface="Times New Roman"/>
              <a:buChar char="•"/>
              <a:tabLst>
                <a:tab pos="476884" algn="l"/>
              </a:tabLst>
            </a:pPr>
            <a:r>
              <a:rPr sz="4300" spc="-35" dirty="0">
                <a:latin typeface="Times New Roman"/>
                <a:cs typeface="Times New Roman"/>
              </a:rPr>
              <a:t>ML-</a:t>
            </a:r>
            <a:r>
              <a:rPr sz="4300" dirty="0">
                <a:latin typeface="Times New Roman"/>
                <a:cs typeface="Times New Roman"/>
              </a:rPr>
              <a:t>Based</a:t>
            </a:r>
            <a:r>
              <a:rPr sz="4300" spc="-160" dirty="0">
                <a:latin typeface="Times New Roman"/>
                <a:cs typeface="Times New Roman"/>
              </a:rPr>
              <a:t> </a:t>
            </a:r>
            <a:r>
              <a:rPr sz="4300" dirty="0">
                <a:latin typeface="Times New Roman"/>
                <a:cs typeface="Times New Roman"/>
              </a:rPr>
              <a:t>Demand</a:t>
            </a:r>
            <a:r>
              <a:rPr sz="4300" spc="-155" dirty="0">
                <a:latin typeface="Times New Roman"/>
                <a:cs typeface="Times New Roman"/>
              </a:rPr>
              <a:t> </a:t>
            </a:r>
            <a:r>
              <a:rPr sz="4300" dirty="0">
                <a:latin typeface="Times New Roman"/>
                <a:cs typeface="Times New Roman"/>
              </a:rPr>
              <a:t>Forecasting,</a:t>
            </a:r>
            <a:r>
              <a:rPr sz="4300" spc="-155" dirty="0">
                <a:latin typeface="Times New Roman"/>
                <a:cs typeface="Times New Roman"/>
              </a:rPr>
              <a:t> </a:t>
            </a:r>
            <a:r>
              <a:rPr sz="4300" dirty="0">
                <a:latin typeface="Times New Roman"/>
                <a:cs typeface="Times New Roman"/>
              </a:rPr>
              <a:t>Inventory</a:t>
            </a:r>
            <a:r>
              <a:rPr sz="4300" spc="-155" dirty="0">
                <a:latin typeface="Times New Roman"/>
                <a:cs typeface="Times New Roman"/>
              </a:rPr>
              <a:t> </a:t>
            </a:r>
            <a:r>
              <a:rPr sz="4300" dirty="0">
                <a:latin typeface="Times New Roman"/>
                <a:cs typeface="Times New Roman"/>
              </a:rPr>
              <a:t>Prediction</a:t>
            </a:r>
            <a:r>
              <a:rPr sz="4300" spc="-160" dirty="0">
                <a:latin typeface="Times New Roman"/>
                <a:cs typeface="Times New Roman"/>
              </a:rPr>
              <a:t> </a:t>
            </a:r>
            <a:r>
              <a:rPr sz="4300" spc="-50" dirty="0">
                <a:latin typeface="Times New Roman"/>
                <a:cs typeface="Times New Roman"/>
              </a:rPr>
              <a:t>&amp; </a:t>
            </a:r>
            <a:r>
              <a:rPr sz="4300" dirty="0">
                <a:latin typeface="Times New Roman"/>
                <a:cs typeface="Times New Roman"/>
              </a:rPr>
              <a:t>Anomaly</a:t>
            </a:r>
            <a:r>
              <a:rPr sz="4300" spc="-165" dirty="0">
                <a:latin typeface="Times New Roman"/>
                <a:cs typeface="Times New Roman"/>
              </a:rPr>
              <a:t> </a:t>
            </a:r>
            <a:r>
              <a:rPr sz="4300" spc="-10" dirty="0">
                <a:latin typeface="Times New Roman"/>
                <a:cs typeface="Times New Roman"/>
              </a:rPr>
              <a:t>Detection</a:t>
            </a:r>
            <a:endParaRPr sz="4300">
              <a:latin typeface="Times New Roman"/>
              <a:cs typeface="Times New Roman"/>
            </a:endParaRPr>
          </a:p>
          <a:p>
            <a:pPr marL="476250" indent="-463550">
              <a:lnSpc>
                <a:spcPts val="4820"/>
              </a:lnSpc>
              <a:buFont typeface="Times New Roman"/>
              <a:buChar char="•"/>
              <a:tabLst>
                <a:tab pos="476250" algn="l"/>
              </a:tabLst>
            </a:pPr>
            <a:r>
              <a:rPr sz="4300" dirty="0">
                <a:latin typeface="Times New Roman"/>
                <a:cs typeface="Times New Roman"/>
              </a:rPr>
              <a:t>AI</a:t>
            </a:r>
            <a:r>
              <a:rPr sz="4300" spc="-135" dirty="0">
                <a:latin typeface="Times New Roman"/>
                <a:cs typeface="Times New Roman"/>
              </a:rPr>
              <a:t> </a:t>
            </a:r>
            <a:r>
              <a:rPr sz="4300" spc="-25" dirty="0">
                <a:latin typeface="Times New Roman"/>
                <a:cs typeface="Times New Roman"/>
              </a:rPr>
              <a:t>Business</a:t>
            </a:r>
            <a:r>
              <a:rPr sz="4300" spc="-245" dirty="0">
                <a:latin typeface="Times New Roman"/>
                <a:cs typeface="Times New Roman"/>
              </a:rPr>
              <a:t> </a:t>
            </a:r>
            <a:r>
              <a:rPr sz="4300" dirty="0">
                <a:latin typeface="Times New Roman"/>
                <a:cs typeface="Times New Roman"/>
              </a:rPr>
              <a:t>Analyst</a:t>
            </a:r>
            <a:r>
              <a:rPr sz="4300" spc="-75" dirty="0">
                <a:latin typeface="Times New Roman"/>
                <a:cs typeface="Times New Roman"/>
              </a:rPr>
              <a:t> </a:t>
            </a:r>
            <a:r>
              <a:rPr sz="4300" dirty="0">
                <a:latin typeface="Times New Roman"/>
                <a:cs typeface="Times New Roman"/>
              </a:rPr>
              <a:t>for</a:t>
            </a:r>
            <a:r>
              <a:rPr sz="4300" spc="-75" dirty="0">
                <a:latin typeface="Times New Roman"/>
                <a:cs typeface="Times New Roman"/>
              </a:rPr>
              <a:t> </a:t>
            </a:r>
            <a:r>
              <a:rPr sz="4300" dirty="0">
                <a:latin typeface="Times New Roman"/>
                <a:cs typeface="Times New Roman"/>
              </a:rPr>
              <a:t>Explainable,</a:t>
            </a:r>
            <a:r>
              <a:rPr sz="4300" spc="-80" dirty="0">
                <a:latin typeface="Times New Roman"/>
                <a:cs typeface="Times New Roman"/>
              </a:rPr>
              <a:t> </a:t>
            </a:r>
            <a:r>
              <a:rPr sz="4300" spc="-25" dirty="0">
                <a:latin typeface="Times New Roman"/>
                <a:cs typeface="Times New Roman"/>
              </a:rPr>
              <a:t>Evidence-</a:t>
            </a:r>
            <a:r>
              <a:rPr sz="4300" dirty="0">
                <a:latin typeface="Times New Roman"/>
                <a:cs typeface="Times New Roman"/>
              </a:rPr>
              <a:t>Based</a:t>
            </a:r>
            <a:r>
              <a:rPr sz="4300" spc="-75" dirty="0">
                <a:latin typeface="Times New Roman"/>
                <a:cs typeface="Times New Roman"/>
              </a:rPr>
              <a:t> </a:t>
            </a:r>
            <a:r>
              <a:rPr sz="4300" spc="-10" dirty="0">
                <a:latin typeface="Times New Roman"/>
                <a:cs typeface="Times New Roman"/>
              </a:rPr>
              <a:t>Insights</a:t>
            </a:r>
            <a:endParaRPr sz="4300">
              <a:latin typeface="Times New Roman"/>
              <a:cs typeface="Times New Roman"/>
            </a:endParaRPr>
          </a:p>
          <a:p>
            <a:pPr marL="476250" indent="-463550">
              <a:lnSpc>
                <a:spcPts val="5030"/>
              </a:lnSpc>
              <a:buFont typeface="Times New Roman"/>
              <a:buChar char="•"/>
              <a:tabLst>
                <a:tab pos="476250" algn="l"/>
              </a:tabLst>
            </a:pPr>
            <a:r>
              <a:rPr sz="4300" dirty="0">
                <a:latin typeface="Times New Roman"/>
                <a:cs typeface="Times New Roman"/>
              </a:rPr>
              <a:t>Security</a:t>
            </a:r>
            <a:r>
              <a:rPr sz="4300" spc="-190" dirty="0">
                <a:latin typeface="Times New Roman"/>
                <a:cs typeface="Times New Roman"/>
              </a:rPr>
              <a:t> </a:t>
            </a:r>
            <a:r>
              <a:rPr sz="4300" dirty="0">
                <a:latin typeface="Times New Roman"/>
                <a:cs typeface="Times New Roman"/>
              </a:rPr>
              <a:t>Mechanisms</a:t>
            </a:r>
            <a:r>
              <a:rPr sz="4300" spc="-110" dirty="0">
                <a:latin typeface="Times New Roman"/>
                <a:cs typeface="Times New Roman"/>
              </a:rPr>
              <a:t> </a:t>
            </a:r>
            <a:r>
              <a:rPr sz="4300" spc="-40" dirty="0">
                <a:latin typeface="Times New Roman"/>
                <a:cs typeface="Times New Roman"/>
              </a:rPr>
              <a:t>&amp;</a:t>
            </a:r>
            <a:r>
              <a:rPr sz="4300" spc="-245" dirty="0">
                <a:latin typeface="Times New Roman"/>
                <a:cs typeface="Times New Roman"/>
              </a:rPr>
              <a:t> </a:t>
            </a:r>
            <a:r>
              <a:rPr sz="4300" dirty="0">
                <a:latin typeface="Times New Roman"/>
                <a:cs typeface="Times New Roman"/>
              </a:rPr>
              <a:t>AI</a:t>
            </a:r>
            <a:r>
              <a:rPr sz="4300" spc="-105" dirty="0">
                <a:latin typeface="Times New Roman"/>
                <a:cs typeface="Times New Roman"/>
              </a:rPr>
              <a:t> </a:t>
            </a:r>
            <a:r>
              <a:rPr sz="4300" spc="-10" dirty="0">
                <a:latin typeface="Times New Roman"/>
                <a:cs typeface="Times New Roman"/>
              </a:rPr>
              <a:t>Guardrails</a:t>
            </a:r>
            <a:endParaRPr sz="4300">
              <a:latin typeface="Times New Roman"/>
              <a:cs typeface="Times New Roman"/>
            </a:endParaRPr>
          </a:p>
          <a:p>
            <a:pPr marL="476250" indent="-463550">
              <a:lnSpc>
                <a:spcPts val="5095"/>
              </a:lnSpc>
              <a:buFont typeface="Times New Roman"/>
              <a:buChar char="•"/>
              <a:tabLst>
                <a:tab pos="476250" algn="l"/>
              </a:tabLst>
            </a:pPr>
            <a:r>
              <a:rPr sz="4300" dirty="0">
                <a:latin typeface="Times New Roman"/>
                <a:cs typeface="Times New Roman"/>
              </a:rPr>
              <a:t>Interactive</a:t>
            </a:r>
            <a:r>
              <a:rPr sz="4300" spc="-140" dirty="0">
                <a:latin typeface="Times New Roman"/>
                <a:cs typeface="Times New Roman"/>
              </a:rPr>
              <a:t> </a:t>
            </a:r>
            <a:r>
              <a:rPr sz="4300" dirty="0">
                <a:latin typeface="Times New Roman"/>
                <a:cs typeface="Times New Roman"/>
              </a:rPr>
              <a:t>Dashboards</a:t>
            </a:r>
            <a:r>
              <a:rPr sz="4300" spc="-140" dirty="0">
                <a:latin typeface="Times New Roman"/>
                <a:cs typeface="Times New Roman"/>
              </a:rPr>
              <a:t> </a:t>
            </a:r>
            <a:r>
              <a:rPr sz="4300" dirty="0">
                <a:latin typeface="Times New Roman"/>
                <a:cs typeface="Times New Roman"/>
              </a:rPr>
              <a:t>&amp;</a:t>
            </a:r>
            <a:r>
              <a:rPr sz="4300" spc="-135" dirty="0">
                <a:latin typeface="Times New Roman"/>
                <a:cs typeface="Times New Roman"/>
              </a:rPr>
              <a:t> </a:t>
            </a:r>
            <a:r>
              <a:rPr sz="4300" spc="-25" dirty="0">
                <a:latin typeface="Times New Roman"/>
                <a:cs typeface="Times New Roman"/>
              </a:rPr>
              <a:t>Decision-</a:t>
            </a:r>
            <a:r>
              <a:rPr sz="4300" dirty="0">
                <a:latin typeface="Times New Roman"/>
                <a:cs typeface="Times New Roman"/>
              </a:rPr>
              <a:t>Support</a:t>
            </a:r>
            <a:r>
              <a:rPr sz="4300" spc="-135" dirty="0">
                <a:latin typeface="Times New Roman"/>
                <a:cs typeface="Times New Roman"/>
              </a:rPr>
              <a:t> </a:t>
            </a:r>
            <a:r>
              <a:rPr sz="4300" spc="-10" dirty="0">
                <a:latin typeface="Times New Roman"/>
                <a:cs typeface="Times New Roman"/>
              </a:rPr>
              <a:t>Features</a:t>
            </a:r>
            <a:endParaRPr sz="43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21590" y="-21590"/>
            <a:ext cx="18103215" cy="10113645"/>
            <a:chOff x="-21590" y="-21590"/>
            <a:chExt cx="18103215" cy="10113645"/>
          </a:xfrm>
        </p:grpSpPr>
        <p:sp>
          <p:nvSpPr>
            <p:cNvPr id="3" name="object 3"/>
            <p:cNvSpPr/>
            <p:nvPr/>
          </p:nvSpPr>
          <p:spPr>
            <a:xfrm>
              <a:off x="0" y="0"/>
              <a:ext cx="18040985" cy="10070465"/>
            </a:xfrm>
            <a:custGeom>
              <a:avLst/>
              <a:gdLst/>
              <a:ahLst/>
              <a:cxnLst/>
              <a:rect l="l" t="t" r="r" b="b"/>
              <a:pathLst>
                <a:path w="18040985" h="10070465">
                  <a:moveTo>
                    <a:pt x="0" y="0"/>
                  </a:moveTo>
                  <a:lnTo>
                    <a:pt x="18040451" y="0"/>
                  </a:lnTo>
                  <a:lnTo>
                    <a:pt x="18040451" y="10070401"/>
                  </a:lnTo>
                  <a:lnTo>
                    <a:pt x="0" y="10070401"/>
                  </a:lnTo>
                  <a:lnTo>
                    <a:pt x="0" y="0"/>
                  </a:lnTo>
                  <a:close/>
                </a:path>
              </a:pathLst>
            </a:custGeom>
            <a:ln w="42862">
              <a:solidFill>
                <a:srgbClr val="46B0F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077132" y="191731"/>
              <a:ext cx="2004351" cy="811149"/>
            </a:xfrm>
            <a:prstGeom prst="rect">
              <a:avLst/>
            </a:prstGeom>
          </p:spPr>
        </p:pic>
      </p:grp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05130" rIns="0" bIns="0" rtlCol="0">
            <a:spAutoFit/>
          </a:bodyPr>
          <a:lstStyle/>
          <a:p>
            <a:pPr marL="219075">
              <a:lnSpc>
                <a:spcPct val="100000"/>
              </a:lnSpc>
              <a:spcBef>
                <a:spcPts val="100"/>
              </a:spcBef>
            </a:pPr>
            <a:r>
              <a:rPr spc="-10" dirty="0">
                <a:latin typeface="Times New Roman"/>
                <a:cs typeface="Times New Roman"/>
              </a:rPr>
              <a:t>6.Methodology</a:t>
            </a:r>
          </a:p>
        </p:txBody>
      </p:sp>
      <p:sp>
        <p:nvSpPr>
          <p:cNvPr id="6" name="object 6"/>
          <p:cNvSpPr/>
          <p:nvPr/>
        </p:nvSpPr>
        <p:spPr>
          <a:xfrm>
            <a:off x="605294" y="1534176"/>
            <a:ext cx="4083685" cy="1003300"/>
          </a:xfrm>
          <a:custGeom>
            <a:avLst/>
            <a:gdLst/>
            <a:ahLst/>
            <a:cxnLst/>
            <a:rect l="l" t="t" r="r" b="b"/>
            <a:pathLst>
              <a:path w="4083685" h="1003300">
                <a:moveTo>
                  <a:pt x="352374" y="0"/>
                </a:moveTo>
                <a:lnTo>
                  <a:pt x="3731183" y="0"/>
                </a:lnTo>
                <a:lnTo>
                  <a:pt x="3736962" y="0"/>
                </a:lnTo>
                <a:lnTo>
                  <a:pt x="3742728" y="139"/>
                </a:lnTo>
                <a:lnTo>
                  <a:pt x="3748481" y="419"/>
                </a:lnTo>
                <a:lnTo>
                  <a:pt x="3754246" y="711"/>
                </a:lnTo>
                <a:lnTo>
                  <a:pt x="3759987" y="1130"/>
                </a:lnTo>
                <a:lnTo>
                  <a:pt x="3765727" y="1701"/>
                </a:lnTo>
                <a:lnTo>
                  <a:pt x="3771468" y="2260"/>
                </a:lnTo>
                <a:lnTo>
                  <a:pt x="3811219" y="9156"/>
                </a:lnTo>
                <a:lnTo>
                  <a:pt x="3816819" y="10566"/>
                </a:lnTo>
                <a:lnTo>
                  <a:pt x="3822407" y="11963"/>
                </a:lnTo>
                <a:lnTo>
                  <a:pt x="3827957" y="13500"/>
                </a:lnTo>
                <a:lnTo>
                  <a:pt x="3833482" y="15176"/>
                </a:lnTo>
                <a:lnTo>
                  <a:pt x="3839006" y="16852"/>
                </a:lnTo>
                <a:lnTo>
                  <a:pt x="3844480" y="18656"/>
                </a:lnTo>
                <a:lnTo>
                  <a:pt x="3849903" y="20599"/>
                </a:lnTo>
                <a:lnTo>
                  <a:pt x="3855339" y="22542"/>
                </a:lnTo>
                <a:lnTo>
                  <a:pt x="3892219" y="38887"/>
                </a:lnTo>
                <a:lnTo>
                  <a:pt x="3897299" y="41605"/>
                </a:lnTo>
                <a:lnTo>
                  <a:pt x="3902392" y="44323"/>
                </a:lnTo>
                <a:lnTo>
                  <a:pt x="3907408" y="47167"/>
                </a:lnTo>
                <a:lnTo>
                  <a:pt x="3912349" y="50139"/>
                </a:lnTo>
                <a:lnTo>
                  <a:pt x="3917302" y="53098"/>
                </a:lnTo>
                <a:lnTo>
                  <a:pt x="3950284" y="76327"/>
                </a:lnTo>
                <a:lnTo>
                  <a:pt x="3954741" y="79984"/>
                </a:lnTo>
                <a:lnTo>
                  <a:pt x="3959199" y="83642"/>
                </a:lnTo>
                <a:lnTo>
                  <a:pt x="3988409" y="111467"/>
                </a:lnTo>
                <a:lnTo>
                  <a:pt x="4003586" y="128828"/>
                </a:lnTo>
                <a:lnTo>
                  <a:pt x="4007243" y="133286"/>
                </a:lnTo>
                <a:lnTo>
                  <a:pt x="4010787" y="137833"/>
                </a:lnTo>
                <a:lnTo>
                  <a:pt x="4014216" y="142468"/>
                </a:lnTo>
                <a:lnTo>
                  <a:pt x="4017657" y="147104"/>
                </a:lnTo>
                <a:lnTo>
                  <a:pt x="4033431" y="171221"/>
                </a:lnTo>
                <a:lnTo>
                  <a:pt x="4036402" y="176161"/>
                </a:lnTo>
                <a:lnTo>
                  <a:pt x="4039234" y="181178"/>
                </a:lnTo>
                <a:lnTo>
                  <a:pt x="4041952" y="186270"/>
                </a:lnTo>
                <a:lnTo>
                  <a:pt x="4044670" y="191350"/>
                </a:lnTo>
                <a:lnTo>
                  <a:pt x="4061028" y="228231"/>
                </a:lnTo>
                <a:lnTo>
                  <a:pt x="4062971" y="233667"/>
                </a:lnTo>
                <a:lnTo>
                  <a:pt x="4064914" y="239090"/>
                </a:lnTo>
                <a:lnTo>
                  <a:pt x="4073004" y="266763"/>
                </a:lnTo>
                <a:lnTo>
                  <a:pt x="4074414" y="272351"/>
                </a:lnTo>
                <a:lnTo>
                  <a:pt x="4079748" y="300672"/>
                </a:lnTo>
                <a:lnTo>
                  <a:pt x="4080598" y="306374"/>
                </a:lnTo>
                <a:lnTo>
                  <a:pt x="4083138" y="335089"/>
                </a:lnTo>
                <a:lnTo>
                  <a:pt x="4083430" y="340855"/>
                </a:lnTo>
                <a:lnTo>
                  <a:pt x="4083570" y="346608"/>
                </a:lnTo>
                <a:lnTo>
                  <a:pt x="4083570" y="352374"/>
                </a:lnTo>
                <a:lnTo>
                  <a:pt x="4083570" y="650849"/>
                </a:lnTo>
                <a:lnTo>
                  <a:pt x="4083570" y="656628"/>
                </a:lnTo>
                <a:lnTo>
                  <a:pt x="4083430" y="662381"/>
                </a:lnTo>
                <a:lnTo>
                  <a:pt x="4083138" y="668147"/>
                </a:lnTo>
                <a:lnTo>
                  <a:pt x="4082859" y="673900"/>
                </a:lnTo>
                <a:lnTo>
                  <a:pt x="4079748" y="702564"/>
                </a:lnTo>
                <a:lnTo>
                  <a:pt x="4078909" y="708266"/>
                </a:lnTo>
                <a:lnTo>
                  <a:pt x="4073004" y="736473"/>
                </a:lnTo>
                <a:lnTo>
                  <a:pt x="4071607" y="742073"/>
                </a:lnTo>
                <a:lnTo>
                  <a:pt x="4058958" y="780376"/>
                </a:lnTo>
                <a:lnTo>
                  <a:pt x="4041952" y="816965"/>
                </a:lnTo>
                <a:lnTo>
                  <a:pt x="4039234" y="822058"/>
                </a:lnTo>
                <a:lnTo>
                  <a:pt x="4036402" y="827074"/>
                </a:lnTo>
                <a:lnTo>
                  <a:pt x="4033431" y="832015"/>
                </a:lnTo>
                <a:lnTo>
                  <a:pt x="4030471" y="836968"/>
                </a:lnTo>
                <a:lnTo>
                  <a:pt x="4014216" y="860767"/>
                </a:lnTo>
                <a:lnTo>
                  <a:pt x="4010787" y="865403"/>
                </a:lnTo>
                <a:lnTo>
                  <a:pt x="4007243" y="869950"/>
                </a:lnTo>
                <a:lnTo>
                  <a:pt x="4003586" y="874407"/>
                </a:lnTo>
                <a:lnTo>
                  <a:pt x="3999928" y="878865"/>
                </a:lnTo>
                <a:lnTo>
                  <a:pt x="3972102" y="908075"/>
                </a:lnTo>
                <a:lnTo>
                  <a:pt x="3954741" y="923251"/>
                </a:lnTo>
                <a:lnTo>
                  <a:pt x="3950284" y="926909"/>
                </a:lnTo>
                <a:lnTo>
                  <a:pt x="3917302" y="950137"/>
                </a:lnTo>
                <a:lnTo>
                  <a:pt x="3912349" y="953096"/>
                </a:lnTo>
                <a:lnTo>
                  <a:pt x="3907408" y="956068"/>
                </a:lnTo>
                <a:lnTo>
                  <a:pt x="3871366" y="974204"/>
                </a:lnTo>
                <a:lnTo>
                  <a:pt x="3849903" y="982637"/>
                </a:lnTo>
                <a:lnTo>
                  <a:pt x="3844480" y="984580"/>
                </a:lnTo>
                <a:lnTo>
                  <a:pt x="3839006" y="986396"/>
                </a:lnTo>
                <a:lnTo>
                  <a:pt x="3833482" y="988060"/>
                </a:lnTo>
                <a:lnTo>
                  <a:pt x="3827957" y="989736"/>
                </a:lnTo>
                <a:lnTo>
                  <a:pt x="3788600" y="998575"/>
                </a:lnTo>
                <a:lnTo>
                  <a:pt x="3765727" y="1001534"/>
                </a:lnTo>
                <a:lnTo>
                  <a:pt x="3759987" y="1002106"/>
                </a:lnTo>
                <a:lnTo>
                  <a:pt x="3754246" y="1002525"/>
                </a:lnTo>
                <a:lnTo>
                  <a:pt x="3748481" y="1002804"/>
                </a:lnTo>
                <a:lnTo>
                  <a:pt x="3742728" y="1003096"/>
                </a:lnTo>
                <a:lnTo>
                  <a:pt x="3736962" y="1003236"/>
                </a:lnTo>
                <a:lnTo>
                  <a:pt x="3731183" y="1003236"/>
                </a:lnTo>
                <a:lnTo>
                  <a:pt x="352374" y="1003236"/>
                </a:lnTo>
                <a:lnTo>
                  <a:pt x="346608" y="1003236"/>
                </a:lnTo>
                <a:lnTo>
                  <a:pt x="340842" y="1003096"/>
                </a:lnTo>
                <a:lnTo>
                  <a:pt x="335089" y="1002804"/>
                </a:lnTo>
                <a:lnTo>
                  <a:pt x="329323" y="1002525"/>
                </a:lnTo>
                <a:lnTo>
                  <a:pt x="323570" y="1002106"/>
                </a:lnTo>
                <a:lnTo>
                  <a:pt x="317830" y="1001534"/>
                </a:lnTo>
                <a:lnTo>
                  <a:pt x="312089" y="1000975"/>
                </a:lnTo>
                <a:lnTo>
                  <a:pt x="272351" y="994079"/>
                </a:lnTo>
                <a:lnTo>
                  <a:pt x="250088" y="988060"/>
                </a:lnTo>
                <a:lnTo>
                  <a:pt x="244563" y="986396"/>
                </a:lnTo>
                <a:lnTo>
                  <a:pt x="239090" y="984580"/>
                </a:lnTo>
                <a:lnTo>
                  <a:pt x="233667" y="982637"/>
                </a:lnTo>
                <a:lnTo>
                  <a:pt x="228231" y="980694"/>
                </a:lnTo>
                <a:lnTo>
                  <a:pt x="222846" y="978623"/>
                </a:lnTo>
                <a:lnTo>
                  <a:pt x="217525" y="976414"/>
                </a:lnTo>
                <a:lnTo>
                  <a:pt x="212191" y="974204"/>
                </a:lnTo>
                <a:lnTo>
                  <a:pt x="206921" y="971867"/>
                </a:lnTo>
                <a:lnTo>
                  <a:pt x="201714" y="969403"/>
                </a:lnTo>
                <a:lnTo>
                  <a:pt x="196494" y="966939"/>
                </a:lnTo>
                <a:lnTo>
                  <a:pt x="171221" y="953096"/>
                </a:lnTo>
                <a:lnTo>
                  <a:pt x="166268" y="950137"/>
                </a:lnTo>
                <a:lnTo>
                  <a:pt x="133286" y="926909"/>
                </a:lnTo>
                <a:lnTo>
                  <a:pt x="128828" y="923251"/>
                </a:lnTo>
                <a:lnTo>
                  <a:pt x="124371" y="919594"/>
                </a:lnTo>
                <a:lnTo>
                  <a:pt x="120002" y="915822"/>
                </a:lnTo>
                <a:lnTo>
                  <a:pt x="115735" y="911948"/>
                </a:lnTo>
                <a:lnTo>
                  <a:pt x="111455" y="908075"/>
                </a:lnTo>
                <a:lnTo>
                  <a:pt x="83642" y="878865"/>
                </a:lnTo>
                <a:lnTo>
                  <a:pt x="79984" y="874407"/>
                </a:lnTo>
                <a:lnTo>
                  <a:pt x="76326" y="869950"/>
                </a:lnTo>
                <a:lnTo>
                  <a:pt x="72770" y="865403"/>
                </a:lnTo>
                <a:lnTo>
                  <a:pt x="69341" y="860767"/>
                </a:lnTo>
                <a:lnTo>
                  <a:pt x="65900" y="856132"/>
                </a:lnTo>
                <a:lnTo>
                  <a:pt x="62585" y="851420"/>
                </a:lnTo>
                <a:lnTo>
                  <a:pt x="59385" y="846632"/>
                </a:lnTo>
                <a:lnTo>
                  <a:pt x="56172" y="841832"/>
                </a:lnTo>
                <a:lnTo>
                  <a:pt x="41605" y="816965"/>
                </a:lnTo>
                <a:lnTo>
                  <a:pt x="38887" y="811885"/>
                </a:lnTo>
                <a:lnTo>
                  <a:pt x="36296" y="806729"/>
                </a:lnTo>
                <a:lnTo>
                  <a:pt x="33832" y="801522"/>
                </a:lnTo>
                <a:lnTo>
                  <a:pt x="31356" y="796302"/>
                </a:lnTo>
                <a:lnTo>
                  <a:pt x="29019" y="791032"/>
                </a:lnTo>
                <a:lnTo>
                  <a:pt x="26822" y="785710"/>
                </a:lnTo>
                <a:lnTo>
                  <a:pt x="24612" y="780376"/>
                </a:lnTo>
                <a:lnTo>
                  <a:pt x="11950" y="742073"/>
                </a:lnTo>
                <a:lnTo>
                  <a:pt x="10553" y="736473"/>
                </a:lnTo>
                <a:lnTo>
                  <a:pt x="9156" y="730885"/>
                </a:lnTo>
                <a:lnTo>
                  <a:pt x="7886" y="725258"/>
                </a:lnTo>
                <a:lnTo>
                  <a:pt x="6769" y="719594"/>
                </a:lnTo>
                <a:lnTo>
                  <a:pt x="5638" y="713943"/>
                </a:lnTo>
                <a:lnTo>
                  <a:pt x="4660" y="708266"/>
                </a:lnTo>
                <a:lnTo>
                  <a:pt x="3809" y="702564"/>
                </a:lnTo>
                <a:lnTo>
                  <a:pt x="2959" y="696861"/>
                </a:lnTo>
                <a:lnTo>
                  <a:pt x="0" y="656628"/>
                </a:lnTo>
                <a:lnTo>
                  <a:pt x="0" y="650849"/>
                </a:lnTo>
                <a:lnTo>
                  <a:pt x="0" y="352374"/>
                </a:lnTo>
                <a:lnTo>
                  <a:pt x="0" y="346608"/>
                </a:lnTo>
                <a:lnTo>
                  <a:pt x="139" y="340855"/>
                </a:lnTo>
                <a:lnTo>
                  <a:pt x="3809" y="300672"/>
                </a:lnTo>
                <a:lnTo>
                  <a:pt x="4660" y="294970"/>
                </a:lnTo>
                <a:lnTo>
                  <a:pt x="5638" y="289293"/>
                </a:lnTo>
                <a:lnTo>
                  <a:pt x="6769" y="283629"/>
                </a:lnTo>
                <a:lnTo>
                  <a:pt x="7886" y="277977"/>
                </a:lnTo>
                <a:lnTo>
                  <a:pt x="9156" y="272351"/>
                </a:lnTo>
                <a:lnTo>
                  <a:pt x="10553" y="266763"/>
                </a:lnTo>
                <a:lnTo>
                  <a:pt x="11950" y="261162"/>
                </a:lnTo>
                <a:lnTo>
                  <a:pt x="20599" y="233667"/>
                </a:lnTo>
                <a:lnTo>
                  <a:pt x="22542" y="228231"/>
                </a:lnTo>
                <a:lnTo>
                  <a:pt x="24612" y="222859"/>
                </a:lnTo>
                <a:lnTo>
                  <a:pt x="26822" y="217525"/>
                </a:lnTo>
                <a:lnTo>
                  <a:pt x="29019" y="212204"/>
                </a:lnTo>
                <a:lnTo>
                  <a:pt x="31356" y="206933"/>
                </a:lnTo>
                <a:lnTo>
                  <a:pt x="33832" y="201714"/>
                </a:lnTo>
                <a:lnTo>
                  <a:pt x="36296" y="196507"/>
                </a:lnTo>
                <a:lnTo>
                  <a:pt x="38887" y="191350"/>
                </a:lnTo>
                <a:lnTo>
                  <a:pt x="41605" y="186270"/>
                </a:lnTo>
                <a:lnTo>
                  <a:pt x="44322" y="181178"/>
                </a:lnTo>
                <a:lnTo>
                  <a:pt x="59385" y="156603"/>
                </a:lnTo>
                <a:lnTo>
                  <a:pt x="62585" y="151815"/>
                </a:lnTo>
                <a:lnTo>
                  <a:pt x="65900" y="147104"/>
                </a:lnTo>
                <a:lnTo>
                  <a:pt x="69341" y="142468"/>
                </a:lnTo>
                <a:lnTo>
                  <a:pt x="72770" y="137833"/>
                </a:lnTo>
                <a:lnTo>
                  <a:pt x="76326" y="133286"/>
                </a:lnTo>
                <a:lnTo>
                  <a:pt x="79984" y="128828"/>
                </a:lnTo>
                <a:lnTo>
                  <a:pt x="83642" y="124371"/>
                </a:lnTo>
                <a:lnTo>
                  <a:pt x="111455" y="95161"/>
                </a:lnTo>
                <a:lnTo>
                  <a:pt x="115735" y="91287"/>
                </a:lnTo>
                <a:lnTo>
                  <a:pt x="120002" y="87414"/>
                </a:lnTo>
                <a:lnTo>
                  <a:pt x="124371" y="83642"/>
                </a:lnTo>
                <a:lnTo>
                  <a:pt x="128828" y="79984"/>
                </a:lnTo>
                <a:lnTo>
                  <a:pt x="133286" y="76327"/>
                </a:lnTo>
                <a:lnTo>
                  <a:pt x="156603" y="59385"/>
                </a:lnTo>
                <a:lnTo>
                  <a:pt x="161404" y="56184"/>
                </a:lnTo>
                <a:lnTo>
                  <a:pt x="166268" y="53098"/>
                </a:lnTo>
                <a:lnTo>
                  <a:pt x="171221" y="50139"/>
                </a:lnTo>
                <a:lnTo>
                  <a:pt x="176161" y="47167"/>
                </a:lnTo>
                <a:lnTo>
                  <a:pt x="201714" y="33832"/>
                </a:lnTo>
                <a:lnTo>
                  <a:pt x="206921" y="31368"/>
                </a:lnTo>
                <a:lnTo>
                  <a:pt x="212191" y="29032"/>
                </a:lnTo>
                <a:lnTo>
                  <a:pt x="217525" y="26822"/>
                </a:lnTo>
                <a:lnTo>
                  <a:pt x="222846" y="24612"/>
                </a:lnTo>
                <a:lnTo>
                  <a:pt x="228231" y="22542"/>
                </a:lnTo>
                <a:lnTo>
                  <a:pt x="233667" y="20599"/>
                </a:lnTo>
                <a:lnTo>
                  <a:pt x="239090" y="18656"/>
                </a:lnTo>
                <a:lnTo>
                  <a:pt x="244563" y="16852"/>
                </a:lnTo>
                <a:lnTo>
                  <a:pt x="250088" y="15176"/>
                </a:lnTo>
                <a:lnTo>
                  <a:pt x="255600" y="13500"/>
                </a:lnTo>
                <a:lnTo>
                  <a:pt x="261162" y="11963"/>
                </a:lnTo>
                <a:lnTo>
                  <a:pt x="266750" y="10566"/>
                </a:lnTo>
                <a:lnTo>
                  <a:pt x="272351" y="9156"/>
                </a:lnTo>
                <a:lnTo>
                  <a:pt x="312089" y="2260"/>
                </a:lnTo>
                <a:lnTo>
                  <a:pt x="317830" y="1701"/>
                </a:lnTo>
                <a:lnTo>
                  <a:pt x="323570" y="1130"/>
                </a:lnTo>
                <a:lnTo>
                  <a:pt x="329323" y="711"/>
                </a:lnTo>
                <a:lnTo>
                  <a:pt x="335089" y="419"/>
                </a:lnTo>
                <a:lnTo>
                  <a:pt x="340842" y="139"/>
                </a:lnTo>
                <a:lnTo>
                  <a:pt x="346608" y="0"/>
                </a:lnTo>
                <a:lnTo>
                  <a:pt x="352374" y="0"/>
                </a:lnTo>
                <a:close/>
              </a:path>
            </a:pathLst>
          </a:custGeom>
          <a:ln w="4992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012929" y="1697080"/>
            <a:ext cx="3275329" cy="58483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3650" dirty="0">
                <a:latin typeface="Magallanes"/>
                <a:cs typeface="Magallanes"/>
              </a:rPr>
              <a:t>Data</a:t>
            </a:r>
            <a:r>
              <a:rPr sz="3650" spc="-80" dirty="0">
                <a:latin typeface="Magallanes"/>
                <a:cs typeface="Magallanes"/>
              </a:rPr>
              <a:t> </a:t>
            </a:r>
            <a:r>
              <a:rPr sz="3650" spc="-10" dirty="0">
                <a:latin typeface="Magallanes"/>
                <a:cs typeface="Magallanes"/>
              </a:rPr>
              <a:t>Ingestion</a:t>
            </a:r>
            <a:endParaRPr sz="3650">
              <a:latin typeface="Magallanes"/>
              <a:cs typeface="Magallanes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5596394" y="1534176"/>
            <a:ext cx="4083685" cy="1298575"/>
          </a:xfrm>
          <a:custGeom>
            <a:avLst/>
            <a:gdLst/>
            <a:ahLst/>
            <a:cxnLst/>
            <a:rect l="l" t="t" r="r" b="b"/>
            <a:pathLst>
              <a:path w="4083684" h="1298575">
                <a:moveTo>
                  <a:pt x="352374" y="0"/>
                </a:moveTo>
                <a:lnTo>
                  <a:pt x="3731183" y="0"/>
                </a:lnTo>
                <a:lnTo>
                  <a:pt x="3736962" y="0"/>
                </a:lnTo>
                <a:lnTo>
                  <a:pt x="3742728" y="139"/>
                </a:lnTo>
                <a:lnTo>
                  <a:pt x="3748481" y="419"/>
                </a:lnTo>
                <a:lnTo>
                  <a:pt x="3754246" y="711"/>
                </a:lnTo>
                <a:lnTo>
                  <a:pt x="3759987" y="1130"/>
                </a:lnTo>
                <a:lnTo>
                  <a:pt x="3765727" y="1701"/>
                </a:lnTo>
                <a:lnTo>
                  <a:pt x="3771468" y="2260"/>
                </a:lnTo>
                <a:lnTo>
                  <a:pt x="3811219" y="9156"/>
                </a:lnTo>
                <a:lnTo>
                  <a:pt x="3816819" y="10566"/>
                </a:lnTo>
                <a:lnTo>
                  <a:pt x="3822407" y="11963"/>
                </a:lnTo>
                <a:lnTo>
                  <a:pt x="3827957" y="13500"/>
                </a:lnTo>
                <a:lnTo>
                  <a:pt x="3833482" y="15176"/>
                </a:lnTo>
                <a:lnTo>
                  <a:pt x="3839006" y="16852"/>
                </a:lnTo>
                <a:lnTo>
                  <a:pt x="3844480" y="18656"/>
                </a:lnTo>
                <a:lnTo>
                  <a:pt x="3849903" y="20599"/>
                </a:lnTo>
                <a:lnTo>
                  <a:pt x="3855339" y="22542"/>
                </a:lnTo>
                <a:lnTo>
                  <a:pt x="3892219" y="38887"/>
                </a:lnTo>
                <a:lnTo>
                  <a:pt x="3897299" y="41605"/>
                </a:lnTo>
                <a:lnTo>
                  <a:pt x="3902392" y="44323"/>
                </a:lnTo>
                <a:lnTo>
                  <a:pt x="3907408" y="47167"/>
                </a:lnTo>
                <a:lnTo>
                  <a:pt x="3912349" y="50139"/>
                </a:lnTo>
                <a:lnTo>
                  <a:pt x="3917302" y="53098"/>
                </a:lnTo>
                <a:lnTo>
                  <a:pt x="3950284" y="76327"/>
                </a:lnTo>
                <a:lnTo>
                  <a:pt x="3954741" y="79984"/>
                </a:lnTo>
                <a:lnTo>
                  <a:pt x="3959199" y="83642"/>
                </a:lnTo>
                <a:lnTo>
                  <a:pt x="3988409" y="111467"/>
                </a:lnTo>
                <a:lnTo>
                  <a:pt x="4003586" y="128828"/>
                </a:lnTo>
                <a:lnTo>
                  <a:pt x="4007243" y="133286"/>
                </a:lnTo>
                <a:lnTo>
                  <a:pt x="4010787" y="137833"/>
                </a:lnTo>
                <a:lnTo>
                  <a:pt x="4014216" y="142468"/>
                </a:lnTo>
                <a:lnTo>
                  <a:pt x="4017657" y="147104"/>
                </a:lnTo>
                <a:lnTo>
                  <a:pt x="4033431" y="171221"/>
                </a:lnTo>
                <a:lnTo>
                  <a:pt x="4036402" y="176161"/>
                </a:lnTo>
                <a:lnTo>
                  <a:pt x="4039234" y="181178"/>
                </a:lnTo>
                <a:lnTo>
                  <a:pt x="4041952" y="186270"/>
                </a:lnTo>
                <a:lnTo>
                  <a:pt x="4044670" y="191350"/>
                </a:lnTo>
                <a:lnTo>
                  <a:pt x="4061028" y="228231"/>
                </a:lnTo>
                <a:lnTo>
                  <a:pt x="4062971" y="233667"/>
                </a:lnTo>
                <a:lnTo>
                  <a:pt x="4064914" y="239090"/>
                </a:lnTo>
                <a:lnTo>
                  <a:pt x="4073004" y="266763"/>
                </a:lnTo>
                <a:lnTo>
                  <a:pt x="4074414" y="272351"/>
                </a:lnTo>
                <a:lnTo>
                  <a:pt x="4079748" y="300672"/>
                </a:lnTo>
                <a:lnTo>
                  <a:pt x="4080598" y="306374"/>
                </a:lnTo>
                <a:lnTo>
                  <a:pt x="4083138" y="335089"/>
                </a:lnTo>
                <a:lnTo>
                  <a:pt x="4083430" y="340855"/>
                </a:lnTo>
                <a:lnTo>
                  <a:pt x="4083570" y="346608"/>
                </a:lnTo>
                <a:lnTo>
                  <a:pt x="4083570" y="352374"/>
                </a:lnTo>
                <a:lnTo>
                  <a:pt x="4083570" y="946124"/>
                </a:lnTo>
                <a:lnTo>
                  <a:pt x="4083570" y="951903"/>
                </a:lnTo>
                <a:lnTo>
                  <a:pt x="4083430" y="957668"/>
                </a:lnTo>
                <a:lnTo>
                  <a:pt x="4083138" y="963422"/>
                </a:lnTo>
                <a:lnTo>
                  <a:pt x="4082859" y="969187"/>
                </a:lnTo>
                <a:lnTo>
                  <a:pt x="4079748" y="997838"/>
                </a:lnTo>
                <a:lnTo>
                  <a:pt x="4078909" y="1003541"/>
                </a:lnTo>
                <a:lnTo>
                  <a:pt x="4073004" y="1031747"/>
                </a:lnTo>
                <a:lnTo>
                  <a:pt x="4071607" y="1037336"/>
                </a:lnTo>
                <a:lnTo>
                  <a:pt x="4070070" y="1042898"/>
                </a:lnTo>
                <a:lnTo>
                  <a:pt x="4068394" y="1048410"/>
                </a:lnTo>
                <a:lnTo>
                  <a:pt x="4066717" y="1053934"/>
                </a:lnTo>
                <a:lnTo>
                  <a:pt x="4064914" y="1059421"/>
                </a:lnTo>
                <a:lnTo>
                  <a:pt x="4062971" y="1064844"/>
                </a:lnTo>
                <a:lnTo>
                  <a:pt x="4061028" y="1070279"/>
                </a:lnTo>
                <a:lnTo>
                  <a:pt x="4044670" y="1107160"/>
                </a:lnTo>
                <a:lnTo>
                  <a:pt x="4041952" y="1112240"/>
                </a:lnTo>
                <a:lnTo>
                  <a:pt x="4039234" y="1117333"/>
                </a:lnTo>
                <a:lnTo>
                  <a:pt x="4036402" y="1122349"/>
                </a:lnTo>
                <a:lnTo>
                  <a:pt x="4033431" y="1127290"/>
                </a:lnTo>
                <a:lnTo>
                  <a:pt x="4030471" y="1132243"/>
                </a:lnTo>
                <a:lnTo>
                  <a:pt x="4014216" y="1156042"/>
                </a:lnTo>
                <a:lnTo>
                  <a:pt x="4010787" y="1160678"/>
                </a:lnTo>
                <a:lnTo>
                  <a:pt x="4007243" y="1165225"/>
                </a:lnTo>
                <a:lnTo>
                  <a:pt x="4003586" y="1169682"/>
                </a:lnTo>
                <a:lnTo>
                  <a:pt x="3999928" y="1174140"/>
                </a:lnTo>
                <a:lnTo>
                  <a:pt x="3996156" y="1178509"/>
                </a:lnTo>
                <a:lnTo>
                  <a:pt x="3992283" y="1182776"/>
                </a:lnTo>
                <a:lnTo>
                  <a:pt x="3988409" y="1187056"/>
                </a:lnTo>
                <a:lnTo>
                  <a:pt x="3959199" y="1214869"/>
                </a:lnTo>
                <a:lnTo>
                  <a:pt x="3954741" y="1218526"/>
                </a:lnTo>
                <a:lnTo>
                  <a:pt x="3950284" y="1222184"/>
                </a:lnTo>
                <a:lnTo>
                  <a:pt x="3945737" y="1225727"/>
                </a:lnTo>
                <a:lnTo>
                  <a:pt x="3941102" y="1229156"/>
                </a:lnTo>
                <a:lnTo>
                  <a:pt x="3936466" y="1232598"/>
                </a:lnTo>
                <a:lnTo>
                  <a:pt x="3912349" y="1248371"/>
                </a:lnTo>
                <a:lnTo>
                  <a:pt x="3907408" y="1251343"/>
                </a:lnTo>
                <a:lnTo>
                  <a:pt x="3871366" y="1269479"/>
                </a:lnTo>
                <a:lnTo>
                  <a:pt x="3849903" y="1277912"/>
                </a:lnTo>
                <a:lnTo>
                  <a:pt x="3844480" y="1279855"/>
                </a:lnTo>
                <a:lnTo>
                  <a:pt x="3839006" y="1281671"/>
                </a:lnTo>
                <a:lnTo>
                  <a:pt x="3833482" y="1283335"/>
                </a:lnTo>
                <a:lnTo>
                  <a:pt x="3827957" y="1285011"/>
                </a:lnTo>
                <a:lnTo>
                  <a:pt x="3788600" y="1293850"/>
                </a:lnTo>
                <a:lnTo>
                  <a:pt x="3765727" y="1296809"/>
                </a:lnTo>
                <a:lnTo>
                  <a:pt x="3759987" y="1297381"/>
                </a:lnTo>
                <a:lnTo>
                  <a:pt x="3754246" y="1297800"/>
                </a:lnTo>
                <a:lnTo>
                  <a:pt x="3748481" y="1298079"/>
                </a:lnTo>
                <a:lnTo>
                  <a:pt x="3742728" y="1298371"/>
                </a:lnTo>
                <a:lnTo>
                  <a:pt x="3736962" y="1298511"/>
                </a:lnTo>
                <a:lnTo>
                  <a:pt x="3731183" y="1298511"/>
                </a:lnTo>
                <a:lnTo>
                  <a:pt x="352374" y="1298511"/>
                </a:lnTo>
                <a:lnTo>
                  <a:pt x="346608" y="1298511"/>
                </a:lnTo>
                <a:lnTo>
                  <a:pt x="340842" y="1298371"/>
                </a:lnTo>
                <a:lnTo>
                  <a:pt x="335089" y="1298079"/>
                </a:lnTo>
                <a:lnTo>
                  <a:pt x="329323" y="1297800"/>
                </a:lnTo>
                <a:lnTo>
                  <a:pt x="323570" y="1297381"/>
                </a:lnTo>
                <a:lnTo>
                  <a:pt x="317830" y="1296809"/>
                </a:lnTo>
                <a:lnTo>
                  <a:pt x="312089" y="1296250"/>
                </a:lnTo>
                <a:lnTo>
                  <a:pt x="272351" y="1289354"/>
                </a:lnTo>
                <a:lnTo>
                  <a:pt x="250088" y="1283335"/>
                </a:lnTo>
                <a:lnTo>
                  <a:pt x="244563" y="1281671"/>
                </a:lnTo>
                <a:lnTo>
                  <a:pt x="239090" y="1279855"/>
                </a:lnTo>
                <a:lnTo>
                  <a:pt x="233667" y="1277912"/>
                </a:lnTo>
                <a:lnTo>
                  <a:pt x="228231" y="1275969"/>
                </a:lnTo>
                <a:lnTo>
                  <a:pt x="222846" y="1273898"/>
                </a:lnTo>
                <a:lnTo>
                  <a:pt x="217525" y="1271689"/>
                </a:lnTo>
                <a:lnTo>
                  <a:pt x="212191" y="1269479"/>
                </a:lnTo>
                <a:lnTo>
                  <a:pt x="206921" y="1267142"/>
                </a:lnTo>
                <a:lnTo>
                  <a:pt x="201714" y="1264678"/>
                </a:lnTo>
                <a:lnTo>
                  <a:pt x="196494" y="1262214"/>
                </a:lnTo>
                <a:lnTo>
                  <a:pt x="171221" y="1248371"/>
                </a:lnTo>
                <a:lnTo>
                  <a:pt x="166268" y="1245412"/>
                </a:lnTo>
                <a:lnTo>
                  <a:pt x="161391" y="1242326"/>
                </a:lnTo>
                <a:lnTo>
                  <a:pt x="156603" y="1239126"/>
                </a:lnTo>
                <a:lnTo>
                  <a:pt x="151803" y="1235925"/>
                </a:lnTo>
                <a:lnTo>
                  <a:pt x="147091" y="1232598"/>
                </a:lnTo>
                <a:lnTo>
                  <a:pt x="142455" y="1229156"/>
                </a:lnTo>
                <a:lnTo>
                  <a:pt x="137833" y="1225727"/>
                </a:lnTo>
                <a:lnTo>
                  <a:pt x="133286" y="1222184"/>
                </a:lnTo>
                <a:lnTo>
                  <a:pt x="128828" y="1218526"/>
                </a:lnTo>
                <a:lnTo>
                  <a:pt x="124371" y="1214869"/>
                </a:lnTo>
                <a:lnTo>
                  <a:pt x="120002" y="1211097"/>
                </a:lnTo>
                <a:lnTo>
                  <a:pt x="115735" y="1207223"/>
                </a:lnTo>
                <a:lnTo>
                  <a:pt x="111455" y="1203350"/>
                </a:lnTo>
                <a:lnTo>
                  <a:pt x="91274" y="1182776"/>
                </a:lnTo>
                <a:lnTo>
                  <a:pt x="87401" y="1178509"/>
                </a:lnTo>
                <a:lnTo>
                  <a:pt x="83642" y="1174140"/>
                </a:lnTo>
                <a:lnTo>
                  <a:pt x="79984" y="1169682"/>
                </a:lnTo>
                <a:lnTo>
                  <a:pt x="76326" y="1165225"/>
                </a:lnTo>
                <a:lnTo>
                  <a:pt x="72770" y="1160678"/>
                </a:lnTo>
                <a:lnTo>
                  <a:pt x="69341" y="1156042"/>
                </a:lnTo>
                <a:lnTo>
                  <a:pt x="65900" y="1151407"/>
                </a:lnTo>
                <a:lnTo>
                  <a:pt x="62585" y="1146695"/>
                </a:lnTo>
                <a:lnTo>
                  <a:pt x="59385" y="1141907"/>
                </a:lnTo>
                <a:lnTo>
                  <a:pt x="56172" y="1137107"/>
                </a:lnTo>
                <a:lnTo>
                  <a:pt x="41605" y="1112240"/>
                </a:lnTo>
                <a:lnTo>
                  <a:pt x="38887" y="1107160"/>
                </a:lnTo>
                <a:lnTo>
                  <a:pt x="36296" y="1102004"/>
                </a:lnTo>
                <a:lnTo>
                  <a:pt x="33832" y="1096797"/>
                </a:lnTo>
                <a:lnTo>
                  <a:pt x="31356" y="1091577"/>
                </a:lnTo>
                <a:lnTo>
                  <a:pt x="29019" y="1086307"/>
                </a:lnTo>
                <a:lnTo>
                  <a:pt x="26822" y="1080985"/>
                </a:lnTo>
                <a:lnTo>
                  <a:pt x="24612" y="1075651"/>
                </a:lnTo>
                <a:lnTo>
                  <a:pt x="22542" y="1070279"/>
                </a:lnTo>
                <a:lnTo>
                  <a:pt x="20599" y="1064844"/>
                </a:lnTo>
                <a:lnTo>
                  <a:pt x="18656" y="1059421"/>
                </a:lnTo>
                <a:lnTo>
                  <a:pt x="7886" y="1020533"/>
                </a:lnTo>
                <a:lnTo>
                  <a:pt x="6769" y="1014882"/>
                </a:lnTo>
                <a:lnTo>
                  <a:pt x="5638" y="1009218"/>
                </a:lnTo>
                <a:lnTo>
                  <a:pt x="698" y="969187"/>
                </a:lnTo>
                <a:lnTo>
                  <a:pt x="419" y="963422"/>
                </a:lnTo>
                <a:lnTo>
                  <a:pt x="139" y="957668"/>
                </a:lnTo>
                <a:lnTo>
                  <a:pt x="0" y="951903"/>
                </a:lnTo>
                <a:lnTo>
                  <a:pt x="0" y="946124"/>
                </a:lnTo>
                <a:lnTo>
                  <a:pt x="0" y="352374"/>
                </a:lnTo>
                <a:lnTo>
                  <a:pt x="0" y="346608"/>
                </a:lnTo>
                <a:lnTo>
                  <a:pt x="139" y="340855"/>
                </a:lnTo>
                <a:lnTo>
                  <a:pt x="3809" y="300672"/>
                </a:lnTo>
                <a:lnTo>
                  <a:pt x="4660" y="294970"/>
                </a:lnTo>
                <a:lnTo>
                  <a:pt x="5638" y="289293"/>
                </a:lnTo>
                <a:lnTo>
                  <a:pt x="6769" y="283629"/>
                </a:lnTo>
                <a:lnTo>
                  <a:pt x="7886" y="277977"/>
                </a:lnTo>
                <a:lnTo>
                  <a:pt x="9156" y="272351"/>
                </a:lnTo>
                <a:lnTo>
                  <a:pt x="10553" y="266763"/>
                </a:lnTo>
                <a:lnTo>
                  <a:pt x="11950" y="261162"/>
                </a:lnTo>
                <a:lnTo>
                  <a:pt x="20599" y="233667"/>
                </a:lnTo>
                <a:lnTo>
                  <a:pt x="22542" y="228231"/>
                </a:lnTo>
                <a:lnTo>
                  <a:pt x="24612" y="222859"/>
                </a:lnTo>
                <a:lnTo>
                  <a:pt x="26822" y="217525"/>
                </a:lnTo>
                <a:lnTo>
                  <a:pt x="29019" y="212204"/>
                </a:lnTo>
                <a:lnTo>
                  <a:pt x="31356" y="206933"/>
                </a:lnTo>
                <a:lnTo>
                  <a:pt x="33832" y="201714"/>
                </a:lnTo>
                <a:lnTo>
                  <a:pt x="36296" y="196507"/>
                </a:lnTo>
                <a:lnTo>
                  <a:pt x="38887" y="191350"/>
                </a:lnTo>
                <a:lnTo>
                  <a:pt x="41605" y="186270"/>
                </a:lnTo>
                <a:lnTo>
                  <a:pt x="44322" y="181178"/>
                </a:lnTo>
                <a:lnTo>
                  <a:pt x="59385" y="156603"/>
                </a:lnTo>
                <a:lnTo>
                  <a:pt x="62585" y="151815"/>
                </a:lnTo>
                <a:lnTo>
                  <a:pt x="65900" y="147104"/>
                </a:lnTo>
                <a:lnTo>
                  <a:pt x="69341" y="142468"/>
                </a:lnTo>
                <a:lnTo>
                  <a:pt x="72770" y="137833"/>
                </a:lnTo>
                <a:lnTo>
                  <a:pt x="76326" y="133286"/>
                </a:lnTo>
                <a:lnTo>
                  <a:pt x="79984" y="128828"/>
                </a:lnTo>
                <a:lnTo>
                  <a:pt x="83642" y="124371"/>
                </a:lnTo>
                <a:lnTo>
                  <a:pt x="111455" y="95161"/>
                </a:lnTo>
                <a:lnTo>
                  <a:pt x="115735" y="91287"/>
                </a:lnTo>
                <a:lnTo>
                  <a:pt x="120002" y="87414"/>
                </a:lnTo>
                <a:lnTo>
                  <a:pt x="124371" y="83642"/>
                </a:lnTo>
                <a:lnTo>
                  <a:pt x="128828" y="79984"/>
                </a:lnTo>
                <a:lnTo>
                  <a:pt x="133286" y="76327"/>
                </a:lnTo>
                <a:lnTo>
                  <a:pt x="156603" y="59385"/>
                </a:lnTo>
                <a:lnTo>
                  <a:pt x="161391" y="56184"/>
                </a:lnTo>
                <a:lnTo>
                  <a:pt x="166268" y="53098"/>
                </a:lnTo>
                <a:lnTo>
                  <a:pt x="171221" y="50139"/>
                </a:lnTo>
                <a:lnTo>
                  <a:pt x="176161" y="47167"/>
                </a:lnTo>
                <a:lnTo>
                  <a:pt x="201714" y="33832"/>
                </a:lnTo>
                <a:lnTo>
                  <a:pt x="206921" y="31368"/>
                </a:lnTo>
                <a:lnTo>
                  <a:pt x="212191" y="29032"/>
                </a:lnTo>
                <a:lnTo>
                  <a:pt x="217525" y="26822"/>
                </a:lnTo>
                <a:lnTo>
                  <a:pt x="222846" y="24612"/>
                </a:lnTo>
                <a:lnTo>
                  <a:pt x="228231" y="22542"/>
                </a:lnTo>
                <a:lnTo>
                  <a:pt x="233667" y="20599"/>
                </a:lnTo>
                <a:lnTo>
                  <a:pt x="239090" y="18656"/>
                </a:lnTo>
                <a:lnTo>
                  <a:pt x="244563" y="16852"/>
                </a:lnTo>
                <a:lnTo>
                  <a:pt x="250088" y="15176"/>
                </a:lnTo>
                <a:lnTo>
                  <a:pt x="255600" y="13500"/>
                </a:lnTo>
                <a:lnTo>
                  <a:pt x="261162" y="11963"/>
                </a:lnTo>
                <a:lnTo>
                  <a:pt x="266750" y="10566"/>
                </a:lnTo>
                <a:lnTo>
                  <a:pt x="272351" y="9156"/>
                </a:lnTo>
                <a:lnTo>
                  <a:pt x="312089" y="2260"/>
                </a:lnTo>
                <a:lnTo>
                  <a:pt x="317830" y="1701"/>
                </a:lnTo>
                <a:lnTo>
                  <a:pt x="323570" y="1130"/>
                </a:lnTo>
                <a:lnTo>
                  <a:pt x="329323" y="711"/>
                </a:lnTo>
                <a:lnTo>
                  <a:pt x="335089" y="419"/>
                </a:lnTo>
                <a:lnTo>
                  <a:pt x="340842" y="139"/>
                </a:lnTo>
                <a:lnTo>
                  <a:pt x="346608" y="0"/>
                </a:lnTo>
                <a:lnTo>
                  <a:pt x="352374" y="0"/>
                </a:lnTo>
                <a:close/>
              </a:path>
            </a:pathLst>
          </a:custGeom>
          <a:ln w="4992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5788676" y="1673792"/>
            <a:ext cx="3623945" cy="114363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682625" marR="5080" indent="-670560">
              <a:lnSpc>
                <a:spcPct val="100499"/>
              </a:lnSpc>
              <a:spcBef>
                <a:spcPts val="95"/>
              </a:spcBef>
            </a:pPr>
            <a:r>
              <a:rPr sz="3650" dirty="0">
                <a:latin typeface="Magallanes"/>
                <a:cs typeface="Magallanes"/>
              </a:rPr>
              <a:t>Data</a:t>
            </a:r>
            <a:r>
              <a:rPr sz="3650" spc="-65" dirty="0">
                <a:latin typeface="Magallanes"/>
                <a:cs typeface="Magallanes"/>
              </a:rPr>
              <a:t> </a:t>
            </a:r>
            <a:r>
              <a:rPr sz="3650" dirty="0">
                <a:latin typeface="Magallanes"/>
                <a:cs typeface="Magallanes"/>
              </a:rPr>
              <a:t>Cleaning</a:t>
            </a:r>
            <a:r>
              <a:rPr sz="3650" spc="-15" dirty="0">
                <a:latin typeface="Magallanes"/>
                <a:cs typeface="Magallanes"/>
              </a:rPr>
              <a:t> </a:t>
            </a:r>
            <a:r>
              <a:rPr sz="3650" spc="-50" dirty="0">
                <a:latin typeface="Magallanes"/>
                <a:cs typeface="Magallanes"/>
              </a:rPr>
              <a:t>&amp; </a:t>
            </a:r>
            <a:r>
              <a:rPr sz="3650" spc="-10" dirty="0">
                <a:latin typeface="Magallanes"/>
                <a:cs typeface="Magallanes"/>
              </a:rPr>
              <a:t>Validation</a:t>
            </a:r>
            <a:endParaRPr sz="3650">
              <a:latin typeface="Magallanes"/>
              <a:cs typeface="Magallanes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10616069" y="1534176"/>
            <a:ext cx="4940935" cy="1003300"/>
          </a:xfrm>
          <a:custGeom>
            <a:avLst/>
            <a:gdLst/>
            <a:ahLst/>
            <a:cxnLst/>
            <a:rect l="l" t="t" r="r" b="b"/>
            <a:pathLst>
              <a:path w="4940934" h="1003300">
                <a:moveTo>
                  <a:pt x="352374" y="0"/>
                </a:moveTo>
                <a:lnTo>
                  <a:pt x="4588433" y="0"/>
                </a:lnTo>
                <a:lnTo>
                  <a:pt x="4594212" y="0"/>
                </a:lnTo>
                <a:lnTo>
                  <a:pt x="4599978" y="139"/>
                </a:lnTo>
                <a:lnTo>
                  <a:pt x="4605731" y="419"/>
                </a:lnTo>
                <a:lnTo>
                  <a:pt x="4611496" y="711"/>
                </a:lnTo>
                <a:lnTo>
                  <a:pt x="4617237" y="1130"/>
                </a:lnTo>
                <a:lnTo>
                  <a:pt x="4622977" y="1701"/>
                </a:lnTo>
                <a:lnTo>
                  <a:pt x="4628718" y="2260"/>
                </a:lnTo>
                <a:lnTo>
                  <a:pt x="4668469" y="9156"/>
                </a:lnTo>
                <a:lnTo>
                  <a:pt x="4674069" y="10566"/>
                </a:lnTo>
                <a:lnTo>
                  <a:pt x="4679657" y="11963"/>
                </a:lnTo>
                <a:lnTo>
                  <a:pt x="4685207" y="13500"/>
                </a:lnTo>
                <a:lnTo>
                  <a:pt x="4690732" y="15176"/>
                </a:lnTo>
                <a:lnTo>
                  <a:pt x="4696256" y="16852"/>
                </a:lnTo>
                <a:lnTo>
                  <a:pt x="4701730" y="18656"/>
                </a:lnTo>
                <a:lnTo>
                  <a:pt x="4707153" y="20599"/>
                </a:lnTo>
                <a:lnTo>
                  <a:pt x="4712589" y="22542"/>
                </a:lnTo>
                <a:lnTo>
                  <a:pt x="4749469" y="38887"/>
                </a:lnTo>
                <a:lnTo>
                  <a:pt x="4754549" y="41605"/>
                </a:lnTo>
                <a:lnTo>
                  <a:pt x="4759642" y="44323"/>
                </a:lnTo>
                <a:lnTo>
                  <a:pt x="4764658" y="47167"/>
                </a:lnTo>
                <a:lnTo>
                  <a:pt x="4769599" y="50139"/>
                </a:lnTo>
                <a:lnTo>
                  <a:pt x="4774552" y="53098"/>
                </a:lnTo>
                <a:lnTo>
                  <a:pt x="4807534" y="76327"/>
                </a:lnTo>
                <a:lnTo>
                  <a:pt x="4811991" y="79984"/>
                </a:lnTo>
                <a:lnTo>
                  <a:pt x="4816449" y="83642"/>
                </a:lnTo>
                <a:lnTo>
                  <a:pt x="4845659" y="111467"/>
                </a:lnTo>
                <a:lnTo>
                  <a:pt x="4860836" y="128828"/>
                </a:lnTo>
                <a:lnTo>
                  <a:pt x="4864493" y="133286"/>
                </a:lnTo>
                <a:lnTo>
                  <a:pt x="4868037" y="137833"/>
                </a:lnTo>
                <a:lnTo>
                  <a:pt x="4871466" y="142468"/>
                </a:lnTo>
                <a:lnTo>
                  <a:pt x="4874907" y="147104"/>
                </a:lnTo>
                <a:lnTo>
                  <a:pt x="4890681" y="171221"/>
                </a:lnTo>
                <a:lnTo>
                  <a:pt x="4893652" y="176161"/>
                </a:lnTo>
                <a:lnTo>
                  <a:pt x="4896484" y="181178"/>
                </a:lnTo>
                <a:lnTo>
                  <a:pt x="4899202" y="186270"/>
                </a:lnTo>
                <a:lnTo>
                  <a:pt x="4901920" y="191350"/>
                </a:lnTo>
                <a:lnTo>
                  <a:pt x="4918278" y="228231"/>
                </a:lnTo>
                <a:lnTo>
                  <a:pt x="4920221" y="233667"/>
                </a:lnTo>
                <a:lnTo>
                  <a:pt x="4922164" y="239090"/>
                </a:lnTo>
                <a:lnTo>
                  <a:pt x="4930254" y="266763"/>
                </a:lnTo>
                <a:lnTo>
                  <a:pt x="4931664" y="272351"/>
                </a:lnTo>
                <a:lnTo>
                  <a:pt x="4936998" y="300672"/>
                </a:lnTo>
                <a:lnTo>
                  <a:pt x="4937848" y="306374"/>
                </a:lnTo>
                <a:lnTo>
                  <a:pt x="4940388" y="335089"/>
                </a:lnTo>
                <a:lnTo>
                  <a:pt x="4940681" y="340855"/>
                </a:lnTo>
                <a:lnTo>
                  <a:pt x="4940820" y="346608"/>
                </a:lnTo>
                <a:lnTo>
                  <a:pt x="4940820" y="352374"/>
                </a:lnTo>
                <a:lnTo>
                  <a:pt x="4940820" y="650849"/>
                </a:lnTo>
                <a:lnTo>
                  <a:pt x="4940820" y="656628"/>
                </a:lnTo>
                <a:lnTo>
                  <a:pt x="4940681" y="662381"/>
                </a:lnTo>
                <a:lnTo>
                  <a:pt x="4940388" y="668147"/>
                </a:lnTo>
                <a:lnTo>
                  <a:pt x="4940109" y="673900"/>
                </a:lnTo>
                <a:lnTo>
                  <a:pt x="4936998" y="702564"/>
                </a:lnTo>
                <a:lnTo>
                  <a:pt x="4936159" y="708266"/>
                </a:lnTo>
                <a:lnTo>
                  <a:pt x="4930254" y="736473"/>
                </a:lnTo>
                <a:lnTo>
                  <a:pt x="4928857" y="742073"/>
                </a:lnTo>
                <a:lnTo>
                  <a:pt x="4916208" y="780376"/>
                </a:lnTo>
                <a:lnTo>
                  <a:pt x="4899202" y="816965"/>
                </a:lnTo>
                <a:lnTo>
                  <a:pt x="4896484" y="822058"/>
                </a:lnTo>
                <a:lnTo>
                  <a:pt x="4893652" y="827074"/>
                </a:lnTo>
                <a:lnTo>
                  <a:pt x="4890681" y="832015"/>
                </a:lnTo>
                <a:lnTo>
                  <a:pt x="4887721" y="836968"/>
                </a:lnTo>
                <a:lnTo>
                  <a:pt x="4871466" y="860767"/>
                </a:lnTo>
                <a:lnTo>
                  <a:pt x="4868037" y="865403"/>
                </a:lnTo>
                <a:lnTo>
                  <a:pt x="4864493" y="869950"/>
                </a:lnTo>
                <a:lnTo>
                  <a:pt x="4860836" y="874407"/>
                </a:lnTo>
                <a:lnTo>
                  <a:pt x="4857178" y="878865"/>
                </a:lnTo>
                <a:lnTo>
                  <a:pt x="4829352" y="908075"/>
                </a:lnTo>
                <a:lnTo>
                  <a:pt x="4811991" y="923251"/>
                </a:lnTo>
                <a:lnTo>
                  <a:pt x="4807534" y="926909"/>
                </a:lnTo>
                <a:lnTo>
                  <a:pt x="4774552" y="950137"/>
                </a:lnTo>
                <a:lnTo>
                  <a:pt x="4769599" y="953096"/>
                </a:lnTo>
                <a:lnTo>
                  <a:pt x="4764658" y="956068"/>
                </a:lnTo>
                <a:lnTo>
                  <a:pt x="4728616" y="974204"/>
                </a:lnTo>
                <a:lnTo>
                  <a:pt x="4707153" y="982637"/>
                </a:lnTo>
                <a:lnTo>
                  <a:pt x="4701730" y="984580"/>
                </a:lnTo>
                <a:lnTo>
                  <a:pt x="4696256" y="986396"/>
                </a:lnTo>
                <a:lnTo>
                  <a:pt x="4690732" y="988060"/>
                </a:lnTo>
                <a:lnTo>
                  <a:pt x="4685207" y="989736"/>
                </a:lnTo>
                <a:lnTo>
                  <a:pt x="4645850" y="998575"/>
                </a:lnTo>
                <a:lnTo>
                  <a:pt x="4622977" y="1001534"/>
                </a:lnTo>
                <a:lnTo>
                  <a:pt x="4617237" y="1002106"/>
                </a:lnTo>
                <a:lnTo>
                  <a:pt x="4611496" y="1002525"/>
                </a:lnTo>
                <a:lnTo>
                  <a:pt x="4605731" y="1002804"/>
                </a:lnTo>
                <a:lnTo>
                  <a:pt x="4599978" y="1003096"/>
                </a:lnTo>
                <a:lnTo>
                  <a:pt x="4594212" y="1003236"/>
                </a:lnTo>
                <a:lnTo>
                  <a:pt x="4588433" y="1003236"/>
                </a:lnTo>
                <a:lnTo>
                  <a:pt x="352374" y="1003236"/>
                </a:lnTo>
                <a:lnTo>
                  <a:pt x="346608" y="1003236"/>
                </a:lnTo>
                <a:lnTo>
                  <a:pt x="340842" y="1003096"/>
                </a:lnTo>
                <a:lnTo>
                  <a:pt x="335089" y="1002804"/>
                </a:lnTo>
                <a:lnTo>
                  <a:pt x="329323" y="1002525"/>
                </a:lnTo>
                <a:lnTo>
                  <a:pt x="323570" y="1002106"/>
                </a:lnTo>
                <a:lnTo>
                  <a:pt x="317830" y="1001534"/>
                </a:lnTo>
                <a:lnTo>
                  <a:pt x="312089" y="1000975"/>
                </a:lnTo>
                <a:lnTo>
                  <a:pt x="272351" y="994079"/>
                </a:lnTo>
                <a:lnTo>
                  <a:pt x="250088" y="988060"/>
                </a:lnTo>
                <a:lnTo>
                  <a:pt x="244563" y="986396"/>
                </a:lnTo>
                <a:lnTo>
                  <a:pt x="239090" y="984580"/>
                </a:lnTo>
                <a:lnTo>
                  <a:pt x="233667" y="982637"/>
                </a:lnTo>
                <a:lnTo>
                  <a:pt x="228231" y="980694"/>
                </a:lnTo>
                <a:lnTo>
                  <a:pt x="222846" y="978623"/>
                </a:lnTo>
                <a:lnTo>
                  <a:pt x="217525" y="976414"/>
                </a:lnTo>
                <a:lnTo>
                  <a:pt x="212191" y="974204"/>
                </a:lnTo>
                <a:lnTo>
                  <a:pt x="206921" y="971867"/>
                </a:lnTo>
                <a:lnTo>
                  <a:pt x="201714" y="969403"/>
                </a:lnTo>
                <a:lnTo>
                  <a:pt x="196494" y="966939"/>
                </a:lnTo>
                <a:lnTo>
                  <a:pt x="171221" y="953096"/>
                </a:lnTo>
                <a:lnTo>
                  <a:pt x="166268" y="950137"/>
                </a:lnTo>
                <a:lnTo>
                  <a:pt x="133286" y="926909"/>
                </a:lnTo>
                <a:lnTo>
                  <a:pt x="128828" y="923251"/>
                </a:lnTo>
                <a:lnTo>
                  <a:pt x="124371" y="919594"/>
                </a:lnTo>
                <a:lnTo>
                  <a:pt x="120002" y="915822"/>
                </a:lnTo>
                <a:lnTo>
                  <a:pt x="115735" y="911948"/>
                </a:lnTo>
                <a:lnTo>
                  <a:pt x="111455" y="908075"/>
                </a:lnTo>
                <a:lnTo>
                  <a:pt x="83642" y="878865"/>
                </a:lnTo>
                <a:lnTo>
                  <a:pt x="79984" y="874407"/>
                </a:lnTo>
                <a:lnTo>
                  <a:pt x="76326" y="869950"/>
                </a:lnTo>
                <a:lnTo>
                  <a:pt x="72770" y="865403"/>
                </a:lnTo>
                <a:lnTo>
                  <a:pt x="69341" y="860767"/>
                </a:lnTo>
                <a:lnTo>
                  <a:pt x="65900" y="856132"/>
                </a:lnTo>
                <a:lnTo>
                  <a:pt x="62585" y="851420"/>
                </a:lnTo>
                <a:lnTo>
                  <a:pt x="59385" y="846632"/>
                </a:lnTo>
                <a:lnTo>
                  <a:pt x="56172" y="841832"/>
                </a:lnTo>
                <a:lnTo>
                  <a:pt x="41605" y="816965"/>
                </a:lnTo>
                <a:lnTo>
                  <a:pt x="38887" y="811885"/>
                </a:lnTo>
                <a:lnTo>
                  <a:pt x="36296" y="806729"/>
                </a:lnTo>
                <a:lnTo>
                  <a:pt x="33832" y="801522"/>
                </a:lnTo>
                <a:lnTo>
                  <a:pt x="31356" y="796302"/>
                </a:lnTo>
                <a:lnTo>
                  <a:pt x="29019" y="791032"/>
                </a:lnTo>
                <a:lnTo>
                  <a:pt x="26822" y="785710"/>
                </a:lnTo>
                <a:lnTo>
                  <a:pt x="24612" y="780376"/>
                </a:lnTo>
                <a:lnTo>
                  <a:pt x="11950" y="742073"/>
                </a:lnTo>
                <a:lnTo>
                  <a:pt x="10553" y="736473"/>
                </a:lnTo>
                <a:lnTo>
                  <a:pt x="9156" y="730885"/>
                </a:lnTo>
                <a:lnTo>
                  <a:pt x="7886" y="725258"/>
                </a:lnTo>
                <a:lnTo>
                  <a:pt x="6769" y="719594"/>
                </a:lnTo>
                <a:lnTo>
                  <a:pt x="5638" y="713943"/>
                </a:lnTo>
                <a:lnTo>
                  <a:pt x="4660" y="708266"/>
                </a:lnTo>
                <a:lnTo>
                  <a:pt x="3809" y="702564"/>
                </a:lnTo>
                <a:lnTo>
                  <a:pt x="2959" y="696861"/>
                </a:lnTo>
                <a:lnTo>
                  <a:pt x="0" y="656628"/>
                </a:lnTo>
                <a:lnTo>
                  <a:pt x="0" y="650849"/>
                </a:lnTo>
                <a:lnTo>
                  <a:pt x="0" y="352374"/>
                </a:lnTo>
                <a:lnTo>
                  <a:pt x="0" y="346608"/>
                </a:lnTo>
                <a:lnTo>
                  <a:pt x="139" y="340855"/>
                </a:lnTo>
                <a:lnTo>
                  <a:pt x="3809" y="300672"/>
                </a:lnTo>
                <a:lnTo>
                  <a:pt x="4660" y="294970"/>
                </a:lnTo>
                <a:lnTo>
                  <a:pt x="5638" y="289293"/>
                </a:lnTo>
                <a:lnTo>
                  <a:pt x="6769" y="283629"/>
                </a:lnTo>
                <a:lnTo>
                  <a:pt x="7886" y="277977"/>
                </a:lnTo>
                <a:lnTo>
                  <a:pt x="9156" y="272351"/>
                </a:lnTo>
                <a:lnTo>
                  <a:pt x="10553" y="266763"/>
                </a:lnTo>
                <a:lnTo>
                  <a:pt x="11950" y="261162"/>
                </a:lnTo>
                <a:lnTo>
                  <a:pt x="20599" y="233667"/>
                </a:lnTo>
                <a:lnTo>
                  <a:pt x="22542" y="228231"/>
                </a:lnTo>
                <a:lnTo>
                  <a:pt x="24612" y="222859"/>
                </a:lnTo>
                <a:lnTo>
                  <a:pt x="26822" y="217525"/>
                </a:lnTo>
                <a:lnTo>
                  <a:pt x="29019" y="212204"/>
                </a:lnTo>
                <a:lnTo>
                  <a:pt x="31356" y="206933"/>
                </a:lnTo>
                <a:lnTo>
                  <a:pt x="33832" y="201714"/>
                </a:lnTo>
                <a:lnTo>
                  <a:pt x="36296" y="196507"/>
                </a:lnTo>
                <a:lnTo>
                  <a:pt x="38887" y="191350"/>
                </a:lnTo>
                <a:lnTo>
                  <a:pt x="41605" y="186270"/>
                </a:lnTo>
                <a:lnTo>
                  <a:pt x="44322" y="181178"/>
                </a:lnTo>
                <a:lnTo>
                  <a:pt x="59385" y="156603"/>
                </a:lnTo>
                <a:lnTo>
                  <a:pt x="62585" y="151815"/>
                </a:lnTo>
                <a:lnTo>
                  <a:pt x="65900" y="147104"/>
                </a:lnTo>
                <a:lnTo>
                  <a:pt x="69341" y="142468"/>
                </a:lnTo>
                <a:lnTo>
                  <a:pt x="72770" y="137833"/>
                </a:lnTo>
                <a:lnTo>
                  <a:pt x="76326" y="133286"/>
                </a:lnTo>
                <a:lnTo>
                  <a:pt x="79984" y="128828"/>
                </a:lnTo>
                <a:lnTo>
                  <a:pt x="83642" y="124371"/>
                </a:lnTo>
                <a:lnTo>
                  <a:pt x="111455" y="95161"/>
                </a:lnTo>
                <a:lnTo>
                  <a:pt x="115735" y="91287"/>
                </a:lnTo>
                <a:lnTo>
                  <a:pt x="120002" y="87414"/>
                </a:lnTo>
                <a:lnTo>
                  <a:pt x="124371" y="83642"/>
                </a:lnTo>
                <a:lnTo>
                  <a:pt x="128828" y="79984"/>
                </a:lnTo>
                <a:lnTo>
                  <a:pt x="133286" y="76327"/>
                </a:lnTo>
                <a:lnTo>
                  <a:pt x="156603" y="59385"/>
                </a:lnTo>
                <a:lnTo>
                  <a:pt x="161404" y="56184"/>
                </a:lnTo>
                <a:lnTo>
                  <a:pt x="166268" y="53098"/>
                </a:lnTo>
                <a:lnTo>
                  <a:pt x="171221" y="50139"/>
                </a:lnTo>
                <a:lnTo>
                  <a:pt x="176161" y="47167"/>
                </a:lnTo>
                <a:lnTo>
                  <a:pt x="201714" y="33832"/>
                </a:lnTo>
                <a:lnTo>
                  <a:pt x="206921" y="31368"/>
                </a:lnTo>
                <a:lnTo>
                  <a:pt x="212191" y="29032"/>
                </a:lnTo>
                <a:lnTo>
                  <a:pt x="217525" y="26822"/>
                </a:lnTo>
                <a:lnTo>
                  <a:pt x="222846" y="24612"/>
                </a:lnTo>
                <a:lnTo>
                  <a:pt x="228231" y="22542"/>
                </a:lnTo>
                <a:lnTo>
                  <a:pt x="233667" y="20599"/>
                </a:lnTo>
                <a:lnTo>
                  <a:pt x="239090" y="18656"/>
                </a:lnTo>
                <a:lnTo>
                  <a:pt x="244563" y="16852"/>
                </a:lnTo>
                <a:lnTo>
                  <a:pt x="250088" y="15176"/>
                </a:lnTo>
                <a:lnTo>
                  <a:pt x="255600" y="13500"/>
                </a:lnTo>
                <a:lnTo>
                  <a:pt x="261162" y="11963"/>
                </a:lnTo>
                <a:lnTo>
                  <a:pt x="266750" y="10566"/>
                </a:lnTo>
                <a:lnTo>
                  <a:pt x="272351" y="9156"/>
                </a:lnTo>
                <a:lnTo>
                  <a:pt x="312089" y="2260"/>
                </a:lnTo>
                <a:lnTo>
                  <a:pt x="317830" y="1701"/>
                </a:lnTo>
                <a:lnTo>
                  <a:pt x="323570" y="1130"/>
                </a:lnTo>
                <a:lnTo>
                  <a:pt x="329323" y="711"/>
                </a:lnTo>
                <a:lnTo>
                  <a:pt x="335089" y="419"/>
                </a:lnTo>
                <a:lnTo>
                  <a:pt x="340842" y="139"/>
                </a:lnTo>
                <a:lnTo>
                  <a:pt x="346608" y="0"/>
                </a:lnTo>
                <a:lnTo>
                  <a:pt x="352374" y="0"/>
                </a:lnTo>
                <a:close/>
              </a:path>
            </a:pathLst>
          </a:custGeom>
          <a:ln w="4992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10656271" y="1697080"/>
            <a:ext cx="4799965" cy="58483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3650" dirty="0">
                <a:latin typeface="Magallanes"/>
                <a:cs typeface="Magallanes"/>
              </a:rPr>
              <a:t>Data</a:t>
            </a:r>
            <a:r>
              <a:rPr sz="3650" spc="-229" dirty="0">
                <a:latin typeface="Magallanes"/>
                <a:cs typeface="Magallanes"/>
              </a:rPr>
              <a:t> </a:t>
            </a:r>
            <a:r>
              <a:rPr sz="3650" spc="-65" dirty="0">
                <a:latin typeface="Magallanes"/>
                <a:cs typeface="Magallanes"/>
              </a:rPr>
              <a:t>Trust</a:t>
            </a:r>
            <a:r>
              <a:rPr sz="3650" spc="-60" dirty="0">
                <a:latin typeface="Magallanes"/>
                <a:cs typeface="Magallanes"/>
              </a:rPr>
              <a:t> </a:t>
            </a:r>
            <a:r>
              <a:rPr sz="3650" dirty="0">
                <a:latin typeface="Magallanes"/>
                <a:cs typeface="Magallanes"/>
              </a:rPr>
              <a:t>&amp;</a:t>
            </a:r>
            <a:r>
              <a:rPr sz="3650" spc="-60" dirty="0">
                <a:latin typeface="Magallanes"/>
                <a:cs typeface="Magallanes"/>
              </a:rPr>
              <a:t> </a:t>
            </a:r>
            <a:r>
              <a:rPr sz="3650" spc="-10" dirty="0">
                <a:latin typeface="Magallanes"/>
                <a:cs typeface="Magallanes"/>
              </a:rPr>
              <a:t>Security</a:t>
            </a:r>
            <a:endParaRPr sz="3650">
              <a:latin typeface="Magallanes"/>
              <a:cs typeface="Magallanes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9704821" y="3328368"/>
            <a:ext cx="7087234" cy="4504690"/>
            <a:chOff x="9704821" y="3328368"/>
            <a:chExt cx="7087234" cy="4504690"/>
          </a:xfrm>
        </p:grpSpPr>
        <p:sp>
          <p:nvSpPr>
            <p:cNvPr id="13" name="object 13"/>
            <p:cNvSpPr/>
            <p:nvPr/>
          </p:nvSpPr>
          <p:spPr>
            <a:xfrm>
              <a:off x="12682827" y="3353451"/>
              <a:ext cx="4083685" cy="1003300"/>
            </a:xfrm>
            <a:custGeom>
              <a:avLst/>
              <a:gdLst/>
              <a:ahLst/>
              <a:cxnLst/>
              <a:rect l="l" t="t" r="r" b="b"/>
              <a:pathLst>
                <a:path w="4083684" h="1003300">
                  <a:moveTo>
                    <a:pt x="352374" y="0"/>
                  </a:moveTo>
                  <a:lnTo>
                    <a:pt x="3731183" y="0"/>
                  </a:lnTo>
                  <a:lnTo>
                    <a:pt x="3736962" y="0"/>
                  </a:lnTo>
                  <a:lnTo>
                    <a:pt x="3742728" y="139"/>
                  </a:lnTo>
                  <a:lnTo>
                    <a:pt x="3748481" y="419"/>
                  </a:lnTo>
                  <a:lnTo>
                    <a:pt x="3754246" y="711"/>
                  </a:lnTo>
                  <a:lnTo>
                    <a:pt x="3759987" y="1130"/>
                  </a:lnTo>
                  <a:lnTo>
                    <a:pt x="3765727" y="1701"/>
                  </a:lnTo>
                  <a:lnTo>
                    <a:pt x="3771468" y="2260"/>
                  </a:lnTo>
                  <a:lnTo>
                    <a:pt x="3811219" y="9156"/>
                  </a:lnTo>
                  <a:lnTo>
                    <a:pt x="3816819" y="10566"/>
                  </a:lnTo>
                  <a:lnTo>
                    <a:pt x="3822407" y="11963"/>
                  </a:lnTo>
                  <a:lnTo>
                    <a:pt x="3849903" y="20599"/>
                  </a:lnTo>
                  <a:lnTo>
                    <a:pt x="3855339" y="22542"/>
                  </a:lnTo>
                  <a:lnTo>
                    <a:pt x="3881843" y="33832"/>
                  </a:lnTo>
                  <a:lnTo>
                    <a:pt x="3887063" y="36296"/>
                  </a:lnTo>
                  <a:lnTo>
                    <a:pt x="3892219" y="38887"/>
                  </a:lnTo>
                  <a:lnTo>
                    <a:pt x="3897299" y="41605"/>
                  </a:lnTo>
                  <a:lnTo>
                    <a:pt x="3902392" y="44323"/>
                  </a:lnTo>
                  <a:lnTo>
                    <a:pt x="3907396" y="47167"/>
                  </a:lnTo>
                  <a:lnTo>
                    <a:pt x="3912349" y="50139"/>
                  </a:lnTo>
                  <a:lnTo>
                    <a:pt x="3917302" y="53098"/>
                  </a:lnTo>
                  <a:lnTo>
                    <a:pt x="3950284" y="76327"/>
                  </a:lnTo>
                  <a:lnTo>
                    <a:pt x="3954741" y="79984"/>
                  </a:lnTo>
                  <a:lnTo>
                    <a:pt x="3959199" y="83642"/>
                  </a:lnTo>
                  <a:lnTo>
                    <a:pt x="3988409" y="111467"/>
                  </a:lnTo>
                  <a:lnTo>
                    <a:pt x="4003586" y="128828"/>
                  </a:lnTo>
                  <a:lnTo>
                    <a:pt x="4007243" y="133286"/>
                  </a:lnTo>
                  <a:lnTo>
                    <a:pt x="4010787" y="137833"/>
                  </a:lnTo>
                  <a:lnTo>
                    <a:pt x="4014216" y="142468"/>
                  </a:lnTo>
                  <a:lnTo>
                    <a:pt x="4017657" y="147104"/>
                  </a:lnTo>
                  <a:lnTo>
                    <a:pt x="4033431" y="171221"/>
                  </a:lnTo>
                  <a:lnTo>
                    <a:pt x="4036402" y="176161"/>
                  </a:lnTo>
                  <a:lnTo>
                    <a:pt x="4039234" y="181178"/>
                  </a:lnTo>
                  <a:lnTo>
                    <a:pt x="4041952" y="186270"/>
                  </a:lnTo>
                  <a:lnTo>
                    <a:pt x="4044670" y="191350"/>
                  </a:lnTo>
                  <a:lnTo>
                    <a:pt x="4061028" y="228231"/>
                  </a:lnTo>
                  <a:lnTo>
                    <a:pt x="4062971" y="233667"/>
                  </a:lnTo>
                  <a:lnTo>
                    <a:pt x="4064914" y="239090"/>
                  </a:lnTo>
                  <a:lnTo>
                    <a:pt x="4073004" y="266763"/>
                  </a:lnTo>
                  <a:lnTo>
                    <a:pt x="4074414" y="272351"/>
                  </a:lnTo>
                  <a:lnTo>
                    <a:pt x="4079748" y="300672"/>
                  </a:lnTo>
                  <a:lnTo>
                    <a:pt x="4080598" y="306374"/>
                  </a:lnTo>
                  <a:lnTo>
                    <a:pt x="4081310" y="312102"/>
                  </a:lnTo>
                  <a:lnTo>
                    <a:pt x="4081868" y="317842"/>
                  </a:lnTo>
                  <a:lnTo>
                    <a:pt x="4082440" y="323583"/>
                  </a:lnTo>
                  <a:lnTo>
                    <a:pt x="4082859" y="329323"/>
                  </a:lnTo>
                  <a:lnTo>
                    <a:pt x="4083138" y="335089"/>
                  </a:lnTo>
                  <a:lnTo>
                    <a:pt x="4083430" y="340855"/>
                  </a:lnTo>
                  <a:lnTo>
                    <a:pt x="4083570" y="346608"/>
                  </a:lnTo>
                  <a:lnTo>
                    <a:pt x="4083570" y="352374"/>
                  </a:lnTo>
                  <a:lnTo>
                    <a:pt x="4083570" y="650849"/>
                  </a:lnTo>
                  <a:lnTo>
                    <a:pt x="4083570" y="656628"/>
                  </a:lnTo>
                  <a:lnTo>
                    <a:pt x="4083430" y="662381"/>
                  </a:lnTo>
                  <a:lnTo>
                    <a:pt x="4083138" y="668147"/>
                  </a:lnTo>
                  <a:lnTo>
                    <a:pt x="4082859" y="673912"/>
                  </a:lnTo>
                  <a:lnTo>
                    <a:pt x="4082440" y="679653"/>
                  </a:lnTo>
                  <a:lnTo>
                    <a:pt x="4081868" y="685393"/>
                  </a:lnTo>
                  <a:lnTo>
                    <a:pt x="4081310" y="691134"/>
                  </a:lnTo>
                  <a:lnTo>
                    <a:pt x="4080598" y="696861"/>
                  </a:lnTo>
                  <a:lnTo>
                    <a:pt x="4079748" y="702564"/>
                  </a:lnTo>
                  <a:lnTo>
                    <a:pt x="4078909" y="708266"/>
                  </a:lnTo>
                  <a:lnTo>
                    <a:pt x="4073004" y="736473"/>
                  </a:lnTo>
                  <a:lnTo>
                    <a:pt x="4071607" y="742073"/>
                  </a:lnTo>
                  <a:lnTo>
                    <a:pt x="4058958" y="780376"/>
                  </a:lnTo>
                  <a:lnTo>
                    <a:pt x="4041952" y="816965"/>
                  </a:lnTo>
                  <a:lnTo>
                    <a:pt x="4039234" y="822058"/>
                  </a:lnTo>
                  <a:lnTo>
                    <a:pt x="4036402" y="827074"/>
                  </a:lnTo>
                  <a:lnTo>
                    <a:pt x="4033431" y="832015"/>
                  </a:lnTo>
                  <a:lnTo>
                    <a:pt x="4030471" y="836968"/>
                  </a:lnTo>
                  <a:lnTo>
                    <a:pt x="4014216" y="860767"/>
                  </a:lnTo>
                  <a:lnTo>
                    <a:pt x="4010787" y="865403"/>
                  </a:lnTo>
                  <a:lnTo>
                    <a:pt x="4007243" y="869950"/>
                  </a:lnTo>
                  <a:lnTo>
                    <a:pt x="4003586" y="874407"/>
                  </a:lnTo>
                  <a:lnTo>
                    <a:pt x="3999928" y="878865"/>
                  </a:lnTo>
                  <a:lnTo>
                    <a:pt x="3972102" y="908075"/>
                  </a:lnTo>
                  <a:lnTo>
                    <a:pt x="3954741" y="923251"/>
                  </a:lnTo>
                  <a:lnTo>
                    <a:pt x="3950284" y="926909"/>
                  </a:lnTo>
                  <a:lnTo>
                    <a:pt x="3917302" y="950137"/>
                  </a:lnTo>
                  <a:lnTo>
                    <a:pt x="3912349" y="953096"/>
                  </a:lnTo>
                  <a:lnTo>
                    <a:pt x="3907396" y="956068"/>
                  </a:lnTo>
                  <a:lnTo>
                    <a:pt x="3881843" y="969403"/>
                  </a:lnTo>
                  <a:lnTo>
                    <a:pt x="3876636" y="971867"/>
                  </a:lnTo>
                  <a:lnTo>
                    <a:pt x="3849903" y="982637"/>
                  </a:lnTo>
                  <a:lnTo>
                    <a:pt x="3844480" y="984580"/>
                  </a:lnTo>
                  <a:lnTo>
                    <a:pt x="3805593" y="995349"/>
                  </a:lnTo>
                  <a:lnTo>
                    <a:pt x="3799941" y="996467"/>
                  </a:lnTo>
                  <a:lnTo>
                    <a:pt x="3794277" y="997597"/>
                  </a:lnTo>
                  <a:lnTo>
                    <a:pt x="3765727" y="1001534"/>
                  </a:lnTo>
                  <a:lnTo>
                    <a:pt x="3759987" y="1002106"/>
                  </a:lnTo>
                  <a:lnTo>
                    <a:pt x="3754246" y="1002525"/>
                  </a:lnTo>
                  <a:lnTo>
                    <a:pt x="3748481" y="1002804"/>
                  </a:lnTo>
                  <a:lnTo>
                    <a:pt x="3742728" y="1003096"/>
                  </a:lnTo>
                  <a:lnTo>
                    <a:pt x="3736962" y="1003236"/>
                  </a:lnTo>
                  <a:lnTo>
                    <a:pt x="3731183" y="1003236"/>
                  </a:lnTo>
                  <a:lnTo>
                    <a:pt x="352374" y="1003236"/>
                  </a:lnTo>
                  <a:lnTo>
                    <a:pt x="346608" y="1003236"/>
                  </a:lnTo>
                  <a:lnTo>
                    <a:pt x="340842" y="1003096"/>
                  </a:lnTo>
                  <a:lnTo>
                    <a:pt x="335076" y="1002804"/>
                  </a:lnTo>
                  <a:lnTo>
                    <a:pt x="329323" y="1002525"/>
                  </a:lnTo>
                  <a:lnTo>
                    <a:pt x="323570" y="1002106"/>
                  </a:lnTo>
                  <a:lnTo>
                    <a:pt x="317830" y="1001534"/>
                  </a:lnTo>
                  <a:lnTo>
                    <a:pt x="312089" y="1000963"/>
                  </a:lnTo>
                  <a:lnTo>
                    <a:pt x="283629" y="996467"/>
                  </a:lnTo>
                  <a:lnTo>
                    <a:pt x="277977" y="995349"/>
                  </a:lnTo>
                  <a:lnTo>
                    <a:pt x="239090" y="984580"/>
                  </a:lnTo>
                  <a:lnTo>
                    <a:pt x="201714" y="969403"/>
                  </a:lnTo>
                  <a:lnTo>
                    <a:pt x="196494" y="966939"/>
                  </a:lnTo>
                  <a:lnTo>
                    <a:pt x="171208" y="953096"/>
                  </a:lnTo>
                  <a:lnTo>
                    <a:pt x="166268" y="950137"/>
                  </a:lnTo>
                  <a:lnTo>
                    <a:pt x="161391" y="947051"/>
                  </a:lnTo>
                  <a:lnTo>
                    <a:pt x="156603" y="943851"/>
                  </a:lnTo>
                  <a:lnTo>
                    <a:pt x="151803" y="940650"/>
                  </a:lnTo>
                  <a:lnTo>
                    <a:pt x="128828" y="923251"/>
                  </a:lnTo>
                  <a:lnTo>
                    <a:pt x="124371" y="919594"/>
                  </a:lnTo>
                  <a:lnTo>
                    <a:pt x="120002" y="915822"/>
                  </a:lnTo>
                  <a:lnTo>
                    <a:pt x="115735" y="911948"/>
                  </a:lnTo>
                  <a:lnTo>
                    <a:pt x="111455" y="908075"/>
                  </a:lnTo>
                  <a:lnTo>
                    <a:pt x="83642" y="878865"/>
                  </a:lnTo>
                  <a:lnTo>
                    <a:pt x="79984" y="874407"/>
                  </a:lnTo>
                  <a:lnTo>
                    <a:pt x="76326" y="869950"/>
                  </a:lnTo>
                  <a:lnTo>
                    <a:pt x="72770" y="865403"/>
                  </a:lnTo>
                  <a:lnTo>
                    <a:pt x="69341" y="860767"/>
                  </a:lnTo>
                  <a:lnTo>
                    <a:pt x="65900" y="856132"/>
                  </a:lnTo>
                  <a:lnTo>
                    <a:pt x="62585" y="851420"/>
                  </a:lnTo>
                  <a:lnTo>
                    <a:pt x="59385" y="846632"/>
                  </a:lnTo>
                  <a:lnTo>
                    <a:pt x="56172" y="841832"/>
                  </a:lnTo>
                  <a:lnTo>
                    <a:pt x="41605" y="816965"/>
                  </a:lnTo>
                  <a:lnTo>
                    <a:pt x="38887" y="811885"/>
                  </a:lnTo>
                  <a:lnTo>
                    <a:pt x="26822" y="785710"/>
                  </a:lnTo>
                  <a:lnTo>
                    <a:pt x="24612" y="780376"/>
                  </a:lnTo>
                  <a:lnTo>
                    <a:pt x="11950" y="742073"/>
                  </a:lnTo>
                  <a:lnTo>
                    <a:pt x="10553" y="736473"/>
                  </a:lnTo>
                  <a:lnTo>
                    <a:pt x="9156" y="730885"/>
                  </a:lnTo>
                  <a:lnTo>
                    <a:pt x="7886" y="725258"/>
                  </a:lnTo>
                  <a:lnTo>
                    <a:pt x="6769" y="719607"/>
                  </a:lnTo>
                  <a:lnTo>
                    <a:pt x="5638" y="713943"/>
                  </a:lnTo>
                  <a:lnTo>
                    <a:pt x="4648" y="708266"/>
                  </a:lnTo>
                  <a:lnTo>
                    <a:pt x="3809" y="702564"/>
                  </a:lnTo>
                  <a:lnTo>
                    <a:pt x="2959" y="696861"/>
                  </a:lnTo>
                  <a:lnTo>
                    <a:pt x="0" y="656628"/>
                  </a:lnTo>
                  <a:lnTo>
                    <a:pt x="0" y="650849"/>
                  </a:lnTo>
                  <a:lnTo>
                    <a:pt x="0" y="352374"/>
                  </a:lnTo>
                  <a:lnTo>
                    <a:pt x="0" y="346608"/>
                  </a:lnTo>
                  <a:lnTo>
                    <a:pt x="139" y="340855"/>
                  </a:lnTo>
                  <a:lnTo>
                    <a:pt x="3809" y="300672"/>
                  </a:lnTo>
                  <a:lnTo>
                    <a:pt x="4648" y="294970"/>
                  </a:lnTo>
                  <a:lnTo>
                    <a:pt x="5638" y="289293"/>
                  </a:lnTo>
                  <a:lnTo>
                    <a:pt x="6769" y="283629"/>
                  </a:lnTo>
                  <a:lnTo>
                    <a:pt x="7886" y="277977"/>
                  </a:lnTo>
                  <a:lnTo>
                    <a:pt x="9156" y="272351"/>
                  </a:lnTo>
                  <a:lnTo>
                    <a:pt x="10553" y="266763"/>
                  </a:lnTo>
                  <a:lnTo>
                    <a:pt x="11950" y="261162"/>
                  </a:lnTo>
                  <a:lnTo>
                    <a:pt x="20586" y="233667"/>
                  </a:lnTo>
                  <a:lnTo>
                    <a:pt x="22529" y="228231"/>
                  </a:lnTo>
                  <a:lnTo>
                    <a:pt x="24612" y="222859"/>
                  </a:lnTo>
                  <a:lnTo>
                    <a:pt x="26822" y="217525"/>
                  </a:lnTo>
                  <a:lnTo>
                    <a:pt x="29019" y="212204"/>
                  </a:lnTo>
                  <a:lnTo>
                    <a:pt x="41605" y="186270"/>
                  </a:lnTo>
                  <a:lnTo>
                    <a:pt x="44322" y="181178"/>
                  </a:lnTo>
                  <a:lnTo>
                    <a:pt x="59385" y="156603"/>
                  </a:lnTo>
                  <a:lnTo>
                    <a:pt x="62585" y="151815"/>
                  </a:lnTo>
                  <a:lnTo>
                    <a:pt x="65900" y="147104"/>
                  </a:lnTo>
                  <a:lnTo>
                    <a:pt x="69341" y="142468"/>
                  </a:lnTo>
                  <a:lnTo>
                    <a:pt x="72770" y="137833"/>
                  </a:lnTo>
                  <a:lnTo>
                    <a:pt x="76326" y="133286"/>
                  </a:lnTo>
                  <a:lnTo>
                    <a:pt x="79984" y="128828"/>
                  </a:lnTo>
                  <a:lnTo>
                    <a:pt x="83642" y="124371"/>
                  </a:lnTo>
                  <a:lnTo>
                    <a:pt x="111455" y="95161"/>
                  </a:lnTo>
                  <a:lnTo>
                    <a:pt x="115735" y="91287"/>
                  </a:lnTo>
                  <a:lnTo>
                    <a:pt x="120002" y="87414"/>
                  </a:lnTo>
                  <a:lnTo>
                    <a:pt x="124371" y="83642"/>
                  </a:lnTo>
                  <a:lnTo>
                    <a:pt x="128828" y="79984"/>
                  </a:lnTo>
                  <a:lnTo>
                    <a:pt x="133286" y="76327"/>
                  </a:lnTo>
                  <a:lnTo>
                    <a:pt x="156603" y="59385"/>
                  </a:lnTo>
                  <a:lnTo>
                    <a:pt x="161391" y="56184"/>
                  </a:lnTo>
                  <a:lnTo>
                    <a:pt x="166268" y="53098"/>
                  </a:lnTo>
                  <a:lnTo>
                    <a:pt x="171208" y="50139"/>
                  </a:lnTo>
                  <a:lnTo>
                    <a:pt x="176161" y="47167"/>
                  </a:lnTo>
                  <a:lnTo>
                    <a:pt x="201714" y="33832"/>
                  </a:lnTo>
                  <a:lnTo>
                    <a:pt x="206921" y="31368"/>
                  </a:lnTo>
                  <a:lnTo>
                    <a:pt x="212191" y="29032"/>
                  </a:lnTo>
                  <a:lnTo>
                    <a:pt x="217525" y="26822"/>
                  </a:lnTo>
                  <a:lnTo>
                    <a:pt x="222846" y="24612"/>
                  </a:lnTo>
                  <a:lnTo>
                    <a:pt x="250088" y="15176"/>
                  </a:lnTo>
                  <a:lnTo>
                    <a:pt x="255600" y="13500"/>
                  </a:lnTo>
                  <a:lnTo>
                    <a:pt x="261162" y="11963"/>
                  </a:lnTo>
                  <a:lnTo>
                    <a:pt x="266750" y="10566"/>
                  </a:lnTo>
                  <a:lnTo>
                    <a:pt x="272351" y="9156"/>
                  </a:lnTo>
                  <a:lnTo>
                    <a:pt x="312089" y="2260"/>
                  </a:lnTo>
                  <a:lnTo>
                    <a:pt x="317830" y="1701"/>
                  </a:lnTo>
                  <a:lnTo>
                    <a:pt x="323570" y="1130"/>
                  </a:lnTo>
                  <a:lnTo>
                    <a:pt x="329323" y="711"/>
                  </a:lnTo>
                  <a:lnTo>
                    <a:pt x="335076" y="419"/>
                  </a:lnTo>
                  <a:lnTo>
                    <a:pt x="340842" y="139"/>
                  </a:lnTo>
                  <a:lnTo>
                    <a:pt x="346608" y="0"/>
                  </a:lnTo>
                  <a:lnTo>
                    <a:pt x="352374" y="0"/>
                  </a:lnTo>
                  <a:close/>
                </a:path>
              </a:pathLst>
            </a:custGeom>
            <a:ln w="4992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11968601" y="5060163"/>
              <a:ext cx="4083685" cy="1003300"/>
            </a:xfrm>
            <a:custGeom>
              <a:avLst/>
              <a:gdLst/>
              <a:ahLst/>
              <a:cxnLst/>
              <a:rect l="l" t="t" r="r" b="b"/>
              <a:pathLst>
                <a:path w="4083684" h="1003300">
                  <a:moveTo>
                    <a:pt x="352374" y="0"/>
                  </a:moveTo>
                  <a:lnTo>
                    <a:pt x="3731183" y="0"/>
                  </a:lnTo>
                  <a:lnTo>
                    <a:pt x="3736962" y="0"/>
                  </a:lnTo>
                  <a:lnTo>
                    <a:pt x="3742728" y="139"/>
                  </a:lnTo>
                  <a:lnTo>
                    <a:pt x="3748481" y="419"/>
                  </a:lnTo>
                  <a:lnTo>
                    <a:pt x="3754246" y="711"/>
                  </a:lnTo>
                  <a:lnTo>
                    <a:pt x="3759987" y="1130"/>
                  </a:lnTo>
                  <a:lnTo>
                    <a:pt x="3765727" y="1701"/>
                  </a:lnTo>
                  <a:lnTo>
                    <a:pt x="3771468" y="2260"/>
                  </a:lnTo>
                  <a:lnTo>
                    <a:pt x="3811219" y="9156"/>
                  </a:lnTo>
                  <a:lnTo>
                    <a:pt x="3816819" y="10566"/>
                  </a:lnTo>
                  <a:lnTo>
                    <a:pt x="3822407" y="11963"/>
                  </a:lnTo>
                  <a:lnTo>
                    <a:pt x="3827957" y="13500"/>
                  </a:lnTo>
                  <a:lnTo>
                    <a:pt x="3833482" y="15176"/>
                  </a:lnTo>
                  <a:lnTo>
                    <a:pt x="3839006" y="16852"/>
                  </a:lnTo>
                  <a:lnTo>
                    <a:pt x="3844480" y="18656"/>
                  </a:lnTo>
                  <a:lnTo>
                    <a:pt x="3849903" y="20599"/>
                  </a:lnTo>
                  <a:lnTo>
                    <a:pt x="3855339" y="22542"/>
                  </a:lnTo>
                  <a:lnTo>
                    <a:pt x="3892219" y="38887"/>
                  </a:lnTo>
                  <a:lnTo>
                    <a:pt x="3897299" y="41605"/>
                  </a:lnTo>
                  <a:lnTo>
                    <a:pt x="3902392" y="44323"/>
                  </a:lnTo>
                  <a:lnTo>
                    <a:pt x="3907408" y="47167"/>
                  </a:lnTo>
                  <a:lnTo>
                    <a:pt x="3912349" y="50139"/>
                  </a:lnTo>
                  <a:lnTo>
                    <a:pt x="3917302" y="53098"/>
                  </a:lnTo>
                  <a:lnTo>
                    <a:pt x="3950284" y="76327"/>
                  </a:lnTo>
                  <a:lnTo>
                    <a:pt x="3954741" y="79984"/>
                  </a:lnTo>
                  <a:lnTo>
                    <a:pt x="3959199" y="83642"/>
                  </a:lnTo>
                  <a:lnTo>
                    <a:pt x="3988409" y="111467"/>
                  </a:lnTo>
                  <a:lnTo>
                    <a:pt x="4003586" y="128828"/>
                  </a:lnTo>
                  <a:lnTo>
                    <a:pt x="4007243" y="133286"/>
                  </a:lnTo>
                  <a:lnTo>
                    <a:pt x="4010787" y="137833"/>
                  </a:lnTo>
                  <a:lnTo>
                    <a:pt x="4014216" y="142468"/>
                  </a:lnTo>
                  <a:lnTo>
                    <a:pt x="4017657" y="147104"/>
                  </a:lnTo>
                  <a:lnTo>
                    <a:pt x="4033431" y="171221"/>
                  </a:lnTo>
                  <a:lnTo>
                    <a:pt x="4036402" y="176161"/>
                  </a:lnTo>
                  <a:lnTo>
                    <a:pt x="4039234" y="181178"/>
                  </a:lnTo>
                  <a:lnTo>
                    <a:pt x="4041952" y="186270"/>
                  </a:lnTo>
                  <a:lnTo>
                    <a:pt x="4044670" y="191350"/>
                  </a:lnTo>
                  <a:lnTo>
                    <a:pt x="4061028" y="228231"/>
                  </a:lnTo>
                  <a:lnTo>
                    <a:pt x="4062971" y="233667"/>
                  </a:lnTo>
                  <a:lnTo>
                    <a:pt x="4064914" y="239090"/>
                  </a:lnTo>
                  <a:lnTo>
                    <a:pt x="4073004" y="266763"/>
                  </a:lnTo>
                  <a:lnTo>
                    <a:pt x="4074414" y="272351"/>
                  </a:lnTo>
                  <a:lnTo>
                    <a:pt x="4079748" y="300672"/>
                  </a:lnTo>
                  <a:lnTo>
                    <a:pt x="4080598" y="306374"/>
                  </a:lnTo>
                  <a:lnTo>
                    <a:pt x="4083138" y="335089"/>
                  </a:lnTo>
                  <a:lnTo>
                    <a:pt x="4083430" y="340842"/>
                  </a:lnTo>
                  <a:lnTo>
                    <a:pt x="4083570" y="346608"/>
                  </a:lnTo>
                  <a:lnTo>
                    <a:pt x="4083570" y="352374"/>
                  </a:lnTo>
                  <a:lnTo>
                    <a:pt x="4083570" y="650849"/>
                  </a:lnTo>
                  <a:lnTo>
                    <a:pt x="4083570" y="656628"/>
                  </a:lnTo>
                  <a:lnTo>
                    <a:pt x="4083430" y="662381"/>
                  </a:lnTo>
                  <a:lnTo>
                    <a:pt x="4083138" y="668147"/>
                  </a:lnTo>
                  <a:lnTo>
                    <a:pt x="4082859" y="673912"/>
                  </a:lnTo>
                  <a:lnTo>
                    <a:pt x="4079748" y="702564"/>
                  </a:lnTo>
                  <a:lnTo>
                    <a:pt x="4078909" y="708266"/>
                  </a:lnTo>
                  <a:lnTo>
                    <a:pt x="4073004" y="736473"/>
                  </a:lnTo>
                  <a:lnTo>
                    <a:pt x="4071607" y="742073"/>
                  </a:lnTo>
                  <a:lnTo>
                    <a:pt x="4058958" y="780376"/>
                  </a:lnTo>
                  <a:lnTo>
                    <a:pt x="4041952" y="816965"/>
                  </a:lnTo>
                  <a:lnTo>
                    <a:pt x="4039234" y="822058"/>
                  </a:lnTo>
                  <a:lnTo>
                    <a:pt x="4036402" y="827074"/>
                  </a:lnTo>
                  <a:lnTo>
                    <a:pt x="4033431" y="832015"/>
                  </a:lnTo>
                  <a:lnTo>
                    <a:pt x="4030471" y="836968"/>
                  </a:lnTo>
                  <a:lnTo>
                    <a:pt x="4014216" y="860767"/>
                  </a:lnTo>
                  <a:lnTo>
                    <a:pt x="4010787" y="865403"/>
                  </a:lnTo>
                  <a:lnTo>
                    <a:pt x="4007243" y="869950"/>
                  </a:lnTo>
                  <a:lnTo>
                    <a:pt x="4003586" y="874407"/>
                  </a:lnTo>
                  <a:lnTo>
                    <a:pt x="3999928" y="878865"/>
                  </a:lnTo>
                  <a:lnTo>
                    <a:pt x="3972102" y="908075"/>
                  </a:lnTo>
                  <a:lnTo>
                    <a:pt x="3954741" y="923251"/>
                  </a:lnTo>
                  <a:lnTo>
                    <a:pt x="3950284" y="926909"/>
                  </a:lnTo>
                  <a:lnTo>
                    <a:pt x="3917302" y="950137"/>
                  </a:lnTo>
                  <a:lnTo>
                    <a:pt x="3912349" y="953096"/>
                  </a:lnTo>
                  <a:lnTo>
                    <a:pt x="3907408" y="956068"/>
                  </a:lnTo>
                  <a:lnTo>
                    <a:pt x="3871366" y="974204"/>
                  </a:lnTo>
                  <a:lnTo>
                    <a:pt x="3849903" y="982637"/>
                  </a:lnTo>
                  <a:lnTo>
                    <a:pt x="3844480" y="984580"/>
                  </a:lnTo>
                  <a:lnTo>
                    <a:pt x="3816819" y="992670"/>
                  </a:lnTo>
                  <a:lnTo>
                    <a:pt x="3811219" y="994079"/>
                  </a:lnTo>
                  <a:lnTo>
                    <a:pt x="3805593" y="995349"/>
                  </a:lnTo>
                  <a:lnTo>
                    <a:pt x="3799941" y="996467"/>
                  </a:lnTo>
                  <a:lnTo>
                    <a:pt x="3794277" y="997597"/>
                  </a:lnTo>
                  <a:lnTo>
                    <a:pt x="3788600" y="998575"/>
                  </a:lnTo>
                  <a:lnTo>
                    <a:pt x="3782898" y="999413"/>
                  </a:lnTo>
                  <a:lnTo>
                    <a:pt x="3777183" y="1000264"/>
                  </a:lnTo>
                  <a:lnTo>
                    <a:pt x="3736962" y="1003236"/>
                  </a:lnTo>
                  <a:lnTo>
                    <a:pt x="3731183" y="1003236"/>
                  </a:lnTo>
                  <a:lnTo>
                    <a:pt x="352374" y="1003236"/>
                  </a:lnTo>
                  <a:lnTo>
                    <a:pt x="346608" y="1003236"/>
                  </a:lnTo>
                  <a:lnTo>
                    <a:pt x="340842" y="1003096"/>
                  </a:lnTo>
                  <a:lnTo>
                    <a:pt x="300672" y="999413"/>
                  </a:lnTo>
                  <a:lnTo>
                    <a:pt x="294970" y="998575"/>
                  </a:lnTo>
                  <a:lnTo>
                    <a:pt x="289280" y="997597"/>
                  </a:lnTo>
                  <a:lnTo>
                    <a:pt x="283629" y="996467"/>
                  </a:lnTo>
                  <a:lnTo>
                    <a:pt x="277977" y="995349"/>
                  </a:lnTo>
                  <a:lnTo>
                    <a:pt x="272351" y="994079"/>
                  </a:lnTo>
                  <a:lnTo>
                    <a:pt x="266750" y="992670"/>
                  </a:lnTo>
                  <a:lnTo>
                    <a:pt x="261162" y="991273"/>
                  </a:lnTo>
                  <a:lnTo>
                    <a:pt x="233667" y="982637"/>
                  </a:lnTo>
                  <a:lnTo>
                    <a:pt x="228231" y="980694"/>
                  </a:lnTo>
                  <a:lnTo>
                    <a:pt x="201714" y="969403"/>
                  </a:lnTo>
                  <a:lnTo>
                    <a:pt x="196494" y="966939"/>
                  </a:lnTo>
                  <a:lnTo>
                    <a:pt x="171221" y="953096"/>
                  </a:lnTo>
                  <a:lnTo>
                    <a:pt x="166268" y="950137"/>
                  </a:lnTo>
                  <a:lnTo>
                    <a:pt x="133286" y="926909"/>
                  </a:lnTo>
                  <a:lnTo>
                    <a:pt x="128828" y="923251"/>
                  </a:lnTo>
                  <a:lnTo>
                    <a:pt x="124371" y="919594"/>
                  </a:lnTo>
                  <a:lnTo>
                    <a:pt x="120002" y="915822"/>
                  </a:lnTo>
                  <a:lnTo>
                    <a:pt x="115735" y="911948"/>
                  </a:lnTo>
                  <a:lnTo>
                    <a:pt x="111455" y="908075"/>
                  </a:lnTo>
                  <a:lnTo>
                    <a:pt x="83642" y="878865"/>
                  </a:lnTo>
                  <a:lnTo>
                    <a:pt x="79984" y="874407"/>
                  </a:lnTo>
                  <a:lnTo>
                    <a:pt x="76326" y="869950"/>
                  </a:lnTo>
                  <a:lnTo>
                    <a:pt x="72770" y="865403"/>
                  </a:lnTo>
                  <a:lnTo>
                    <a:pt x="69341" y="860767"/>
                  </a:lnTo>
                  <a:lnTo>
                    <a:pt x="65900" y="856132"/>
                  </a:lnTo>
                  <a:lnTo>
                    <a:pt x="62585" y="851420"/>
                  </a:lnTo>
                  <a:lnTo>
                    <a:pt x="59385" y="846632"/>
                  </a:lnTo>
                  <a:lnTo>
                    <a:pt x="56172" y="841832"/>
                  </a:lnTo>
                  <a:lnTo>
                    <a:pt x="41605" y="816965"/>
                  </a:lnTo>
                  <a:lnTo>
                    <a:pt x="38887" y="811885"/>
                  </a:lnTo>
                  <a:lnTo>
                    <a:pt x="36296" y="806729"/>
                  </a:lnTo>
                  <a:lnTo>
                    <a:pt x="33832" y="801522"/>
                  </a:lnTo>
                  <a:lnTo>
                    <a:pt x="31356" y="796302"/>
                  </a:lnTo>
                  <a:lnTo>
                    <a:pt x="29019" y="791032"/>
                  </a:lnTo>
                  <a:lnTo>
                    <a:pt x="26822" y="785710"/>
                  </a:lnTo>
                  <a:lnTo>
                    <a:pt x="24612" y="780376"/>
                  </a:lnTo>
                  <a:lnTo>
                    <a:pt x="11950" y="742073"/>
                  </a:lnTo>
                  <a:lnTo>
                    <a:pt x="10553" y="736473"/>
                  </a:lnTo>
                  <a:lnTo>
                    <a:pt x="9156" y="730885"/>
                  </a:lnTo>
                  <a:lnTo>
                    <a:pt x="7886" y="725258"/>
                  </a:lnTo>
                  <a:lnTo>
                    <a:pt x="6769" y="719607"/>
                  </a:lnTo>
                  <a:lnTo>
                    <a:pt x="5638" y="713943"/>
                  </a:lnTo>
                  <a:lnTo>
                    <a:pt x="4660" y="708266"/>
                  </a:lnTo>
                  <a:lnTo>
                    <a:pt x="3809" y="702564"/>
                  </a:lnTo>
                  <a:lnTo>
                    <a:pt x="2959" y="696861"/>
                  </a:lnTo>
                  <a:lnTo>
                    <a:pt x="0" y="656628"/>
                  </a:lnTo>
                  <a:lnTo>
                    <a:pt x="0" y="650849"/>
                  </a:lnTo>
                  <a:lnTo>
                    <a:pt x="0" y="352374"/>
                  </a:lnTo>
                  <a:lnTo>
                    <a:pt x="0" y="346608"/>
                  </a:lnTo>
                  <a:lnTo>
                    <a:pt x="139" y="340842"/>
                  </a:lnTo>
                  <a:lnTo>
                    <a:pt x="419" y="335089"/>
                  </a:lnTo>
                  <a:lnTo>
                    <a:pt x="698" y="329323"/>
                  </a:lnTo>
                  <a:lnTo>
                    <a:pt x="3809" y="300672"/>
                  </a:lnTo>
                  <a:lnTo>
                    <a:pt x="4660" y="294970"/>
                  </a:lnTo>
                  <a:lnTo>
                    <a:pt x="5638" y="289293"/>
                  </a:lnTo>
                  <a:lnTo>
                    <a:pt x="6769" y="283629"/>
                  </a:lnTo>
                  <a:lnTo>
                    <a:pt x="7886" y="277977"/>
                  </a:lnTo>
                  <a:lnTo>
                    <a:pt x="9156" y="272351"/>
                  </a:lnTo>
                  <a:lnTo>
                    <a:pt x="10553" y="266763"/>
                  </a:lnTo>
                  <a:lnTo>
                    <a:pt x="11950" y="261162"/>
                  </a:lnTo>
                  <a:lnTo>
                    <a:pt x="20599" y="233667"/>
                  </a:lnTo>
                  <a:lnTo>
                    <a:pt x="22542" y="228231"/>
                  </a:lnTo>
                  <a:lnTo>
                    <a:pt x="24612" y="222859"/>
                  </a:lnTo>
                  <a:lnTo>
                    <a:pt x="26822" y="217525"/>
                  </a:lnTo>
                  <a:lnTo>
                    <a:pt x="29019" y="212204"/>
                  </a:lnTo>
                  <a:lnTo>
                    <a:pt x="31356" y="206933"/>
                  </a:lnTo>
                  <a:lnTo>
                    <a:pt x="33832" y="201714"/>
                  </a:lnTo>
                  <a:lnTo>
                    <a:pt x="36296" y="196507"/>
                  </a:lnTo>
                  <a:lnTo>
                    <a:pt x="38887" y="191350"/>
                  </a:lnTo>
                  <a:lnTo>
                    <a:pt x="41605" y="186270"/>
                  </a:lnTo>
                  <a:lnTo>
                    <a:pt x="44322" y="181178"/>
                  </a:lnTo>
                  <a:lnTo>
                    <a:pt x="59385" y="156603"/>
                  </a:lnTo>
                  <a:lnTo>
                    <a:pt x="62585" y="151815"/>
                  </a:lnTo>
                  <a:lnTo>
                    <a:pt x="65900" y="147104"/>
                  </a:lnTo>
                  <a:lnTo>
                    <a:pt x="69341" y="142468"/>
                  </a:lnTo>
                  <a:lnTo>
                    <a:pt x="72770" y="137833"/>
                  </a:lnTo>
                  <a:lnTo>
                    <a:pt x="76326" y="133286"/>
                  </a:lnTo>
                  <a:lnTo>
                    <a:pt x="79984" y="128828"/>
                  </a:lnTo>
                  <a:lnTo>
                    <a:pt x="83642" y="124371"/>
                  </a:lnTo>
                  <a:lnTo>
                    <a:pt x="111455" y="95161"/>
                  </a:lnTo>
                  <a:lnTo>
                    <a:pt x="115735" y="91287"/>
                  </a:lnTo>
                  <a:lnTo>
                    <a:pt x="120002" y="87414"/>
                  </a:lnTo>
                  <a:lnTo>
                    <a:pt x="124371" y="83642"/>
                  </a:lnTo>
                  <a:lnTo>
                    <a:pt x="128828" y="79984"/>
                  </a:lnTo>
                  <a:lnTo>
                    <a:pt x="133286" y="76327"/>
                  </a:lnTo>
                  <a:lnTo>
                    <a:pt x="156603" y="59385"/>
                  </a:lnTo>
                  <a:lnTo>
                    <a:pt x="161404" y="56184"/>
                  </a:lnTo>
                  <a:lnTo>
                    <a:pt x="166268" y="53098"/>
                  </a:lnTo>
                  <a:lnTo>
                    <a:pt x="171221" y="50139"/>
                  </a:lnTo>
                  <a:lnTo>
                    <a:pt x="176161" y="47167"/>
                  </a:lnTo>
                  <a:lnTo>
                    <a:pt x="201714" y="33832"/>
                  </a:lnTo>
                  <a:lnTo>
                    <a:pt x="206921" y="31368"/>
                  </a:lnTo>
                  <a:lnTo>
                    <a:pt x="212191" y="29032"/>
                  </a:lnTo>
                  <a:lnTo>
                    <a:pt x="217525" y="26822"/>
                  </a:lnTo>
                  <a:lnTo>
                    <a:pt x="222846" y="24612"/>
                  </a:lnTo>
                  <a:lnTo>
                    <a:pt x="228231" y="22542"/>
                  </a:lnTo>
                  <a:lnTo>
                    <a:pt x="233667" y="20599"/>
                  </a:lnTo>
                  <a:lnTo>
                    <a:pt x="239090" y="18656"/>
                  </a:lnTo>
                  <a:lnTo>
                    <a:pt x="244563" y="16852"/>
                  </a:lnTo>
                  <a:lnTo>
                    <a:pt x="250088" y="15176"/>
                  </a:lnTo>
                  <a:lnTo>
                    <a:pt x="255600" y="13500"/>
                  </a:lnTo>
                  <a:lnTo>
                    <a:pt x="261162" y="11963"/>
                  </a:lnTo>
                  <a:lnTo>
                    <a:pt x="266750" y="10566"/>
                  </a:lnTo>
                  <a:lnTo>
                    <a:pt x="272351" y="9156"/>
                  </a:lnTo>
                  <a:lnTo>
                    <a:pt x="312089" y="2260"/>
                  </a:lnTo>
                  <a:lnTo>
                    <a:pt x="317830" y="1701"/>
                  </a:lnTo>
                  <a:lnTo>
                    <a:pt x="323570" y="1130"/>
                  </a:lnTo>
                  <a:lnTo>
                    <a:pt x="329323" y="711"/>
                  </a:lnTo>
                  <a:lnTo>
                    <a:pt x="335089" y="419"/>
                  </a:lnTo>
                  <a:lnTo>
                    <a:pt x="340842" y="139"/>
                  </a:lnTo>
                  <a:lnTo>
                    <a:pt x="346608" y="0"/>
                  </a:lnTo>
                  <a:lnTo>
                    <a:pt x="352374" y="0"/>
                  </a:lnTo>
                  <a:close/>
                </a:path>
              </a:pathLst>
            </a:custGeom>
            <a:ln w="4992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9729904" y="6609007"/>
              <a:ext cx="4705985" cy="1198880"/>
            </a:xfrm>
            <a:custGeom>
              <a:avLst/>
              <a:gdLst/>
              <a:ahLst/>
              <a:cxnLst/>
              <a:rect l="l" t="t" r="r" b="b"/>
              <a:pathLst>
                <a:path w="4705984" h="1198879">
                  <a:moveTo>
                    <a:pt x="352374" y="0"/>
                  </a:moveTo>
                  <a:lnTo>
                    <a:pt x="4353039" y="0"/>
                  </a:lnTo>
                  <a:lnTo>
                    <a:pt x="4358805" y="0"/>
                  </a:lnTo>
                  <a:lnTo>
                    <a:pt x="4364558" y="139"/>
                  </a:lnTo>
                  <a:lnTo>
                    <a:pt x="4370324" y="419"/>
                  </a:lnTo>
                  <a:lnTo>
                    <a:pt x="4376077" y="711"/>
                  </a:lnTo>
                  <a:lnTo>
                    <a:pt x="4381830" y="1130"/>
                  </a:lnTo>
                  <a:lnTo>
                    <a:pt x="4387570" y="1701"/>
                  </a:lnTo>
                  <a:lnTo>
                    <a:pt x="4393311" y="2260"/>
                  </a:lnTo>
                  <a:lnTo>
                    <a:pt x="4433062" y="9156"/>
                  </a:lnTo>
                  <a:lnTo>
                    <a:pt x="4438650" y="10566"/>
                  </a:lnTo>
                  <a:lnTo>
                    <a:pt x="4444250" y="11963"/>
                  </a:lnTo>
                  <a:lnTo>
                    <a:pt x="4482553" y="24612"/>
                  </a:lnTo>
                  <a:lnTo>
                    <a:pt x="4487875" y="26822"/>
                  </a:lnTo>
                  <a:lnTo>
                    <a:pt x="4493209" y="29032"/>
                  </a:lnTo>
                  <a:lnTo>
                    <a:pt x="4498479" y="31369"/>
                  </a:lnTo>
                  <a:lnTo>
                    <a:pt x="4503686" y="33832"/>
                  </a:lnTo>
                  <a:lnTo>
                    <a:pt x="4508906" y="36296"/>
                  </a:lnTo>
                  <a:lnTo>
                    <a:pt x="4534192" y="50139"/>
                  </a:lnTo>
                  <a:lnTo>
                    <a:pt x="4539132" y="53098"/>
                  </a:lnTo>
                  <a:lnTo>
                    <a:pt x="4544009" y="56184"/>
                  </a:lnTo>
                  <a:lnTo>
                    <a:pt x="4548797" y="59385"/>
                  </a:lnTo>
                  <a:lnTo>
                    <a:pt x="4553597" y="62585"/>
                  </a:lnTo>
                  <a:lnTo>
                    <a:pt x="4576571" y="79984"/>
                  </a:lnTo>
                  <a:lnTo>
                    <a:pt x="4581029" y="83642"/>
                  </a:lnTo>
                  <a:lnTo>
                    <a:pt x="4610252" y="111467"/>
                  </a:lnTo>
                  <a:lnTo>
                    <a:pt x="4625416" y="128828"/>
                  </a:lnTo>
                  <a:lnTo>
                    <a:pt x="4629073" y="133286"/>
                  </a:lnTo>
                  <a:lnTo>
                    <a:pt x="4632629" y="137833"/>
                  </a:lnTo>
                  <a:lnTo>
                    <a:pt x="4636058" y="142468"/>
                  </a:lnTo>
                  <a:lnTo>
                    <a:pt x="4639500" y="147104"/>
                  </a:lnTo>
                  <a:lnTo>
                    <a:pt x="4661077" y="181178"/>
                  </a:lnTo>
                  <a:lnTo>
                    <a:pt x="4663795" y="186270"/>
                  </a:lnTo>
                  <a:lnTo>
                    <a:pt x="4666526" y="191350"/>
                  </a:lnTo>
                  <a:lnTo>
                    <a:pt x="4682870" y="228231"/>
                  </a:lnTo>
                  <a:lnTo>
                    <a:pt x="4684814" y="233667"/>
                  </a:lnTo>
                  <a:lnTo>
                    <a:pt x="4686757" y="239090"/>
                  </a:lnTo>
                  <a:lnTo>
                    <a:pt x="4694847" y="266763"/>
                  </a:lnTo>
                  <a:lnTo>
                    <a:pt x="4696256" y="272351"/>
                  </a:lnTo>
                  <a:lnTo>
                    <a:pt x="4701590" y="300672"/>
                  </a:lnTo>
                  <a:lnTo>
                    <a:pt x="4702441" y="306374"/>
                  </a:lnTo>
                  <a:lnTo>
                    <a:pt x="4703152" y="312102"/>
                  </a:lnTo>
                  <a:lnTo>
                    <a:pt x="4703711" y="317842"/>
                  </a:lnTo>
                  <a:lnTo>
                    <a:pt x="4704283" y="323583"/>
                  </a:lnTo>
                  <a:lnTo>
                    <a:pt x="4704702" y="329323"/>
                  </a:lnTo>
                  <a:lnTo>
                    <a:pt x="4704981" y="335089"/>
                  </a:lnTo>
                  <a:lnTo>
                    <a:pt x="4705273" y="340842"/>
                  </a:lnTo>
                  <a:lnTo>
                    <a:pt x="4705413" y="346608"/>
                  </a:lnTo>
                  <a:lnTo>
                    <a:pt x="4705413" y="352374"/>
                  </a:lnTo>
                  <a:lnTo>
                    <a:pt x="4705413" y="846493"/>
                  </a:lnTo>
                  <a:lnTo>
                    <a:pt x="4705413" y="852258"/>
                  </a:lnTo>
                  <a:lnTo>
                    <a:pt x="4705273" y="858024"/>
                  </a:lnTo>
                  <a:lnTo>
                    <a:pt x="4704981" y="863790"/>
                  </a:lnTo>
                  <a:lnTo>
                    <a:pt x="4704702" y="869543"/>
                  </a:lnTo>
                  <a:lnTo>
                    <a:pt x="4704283" y="875296"/>
                  </a:lnTo>
                  <a:lnTo>
                    <a:pt x="4703711" y="881037"/>
                  </a:lnTo>
                  <a:lnTo>
                    <a:pt x="4703152" y="886777"/>
                  </a:lnTo>
                  <a:lnTo>
                    <a:pt x="4702441" y="892492"/>
                  </a:lnTo>
                  <a:lnTo>
                    <a:pt x="4701590" y="898194"/>
                  </a:lnTo>
                  <a:lnTo>
                    <a:pt x="4700752" y="903909"/>
                  </a:lnTo>
                  <a:lnTo>
                    <a:pt x="4694847" y="932116"/>
                  </a:lnTo>
                  <a:lnTo>
                    <a:pt x="4693450" y="937704"/>
                  </a:lnTo>
                  <a:lnTo>
                    <a:pt x="4691913" y="943267"/>
                  </a:lnTo>
                  <a:lnTo>
                    <a:pt x="4690237" y="948778"/>
                  </a:lnTo>
                  <a:lnTo>
                    <a:pt x="4688560" y="954303"/>
                  </a:lnTo>
                  <a:lnTo>
                    <a:pt x="4674044" y="991933"/>
                  </a:lnTo>
                  <a:lnTo>
                    <a:pt x="4663795" y="1012596"/>
                  </a:lnTo>
                  <a:lnTo>
                    <a:pt x="4661077" y="1017689"/>
                  </a:lnTo>
                  <a:lnTo>
                    <a:pt x="4639500" y="1051775"/>
                  </a:lnTo>
                  <a:lnTo>
                    <a:pt x="4636058" y="1056411"/>
                  </a:lnTo>
                  <a:lnTo>
                    <a:pt x="4632629" y="1061034"/>
                  </a:lnTo>
                  <a:lnTo>
                    <a:pt x="4629073" y="1065580"/>
                  </a:lnTo>
                  <a:lnTo>
                    <a:pt x="4625416" y="1070038"/>
                  </a:lnTo>
                  <a:lnTo>
                    <a:pt x="4621758" y="1074496"/>
                  </a:lnTo>
                  <a:lnTo>
                    <a:pt x="4617999" y="1078865"/>
                  </a:lnTo>
                  <a:lnTo>
                    <a:pt x="4614125" y="1083132"/>
                  </a:lnTo>
                  <a:lnTo>
                    <a:pt x="4610252" y="1087412"/>
                  </a:lnTo>
                  <a:lnTo>
                    <a:pt x="4606277" y="1091590"/>
                  </a:lnTo>
                  <a:lnTo>
                    <a:pt x="4602200" y="1095654"/>
                  </a:lnTo>
                  <a:lnTo>
                    <a:pt x="4598123" y="1099743"/>
                  </a:lnTo>
                  <a:lnTo>
                    <a:pt x="4576571" y="1118882"/>
                  </a:lnTo>
                  <a:lnTo>
                    <a:pt x="4572114" y="1122540"/>
                  </a:lnTo>
                  <a:lnTo>
                    <a:pt x="4567580" y="1126096"/>
                  </a:lnTo>
                  <a:lnTo>
                    <a:pt x="4562944" y="1129525"/>
                  </a:lnTo>
                  <a:lnTo>
                    <a:pt x="4558309" y="1132967"/>
                  </a:lnTo>
                  <a:lnTo>
                    <a:pt x="4553597" y="1136281"/>
                  </a:lnTo>
                  <a:lnTo>
                    <a:pt x="4548797" y="1139482"/>
                  </a:lnTo>
                  <a:lnTo>
                    <a:pt x="4544009" y="1142695"/>
                  </a:lnTo>
                  <a:lnTo>
                    <a:pt x="4539132" y="1145781"/>
                  </a:lnTo>
                  <a:lnTo>
                    <a:pt x="4534192" y="1148740"/>
                  </a:lnTo>
                  <a:lnTo>
                    <a:pt x="4529239" y="1151712"/>
                  </a:lnTo>
                  <a:lnTo>
                    <a:pt x="4503686" y="1165047"/>
                  </a:lnTo>
                  <a:lnTo>
                    <a:pt x="4498479" y="1167511"/>
                  </a:lnTo>
                  <a:lnTo>
                    <a:pt x="4460836" y="1182027"/>
                  </a:lnTo>
                  <a:lnTo>
                    <a:pt x="4438650" y="1188313"/>
                  </a:lnTo>
                  <a:lnTo>
                    <a:pt x="4433062" y="1189710"/>
                  </a:lnTo>
                  <a:lnTo>
                    <a:pt x="4427435" y="1190980"/>
                  </a:lnTo>
                  <a:lnTo>
                    <a:pt x="4421771" y="1192098"/>
                  </a:lnTo>
                  <a:lnTo>
                    <a:pt x="4416120" y="1193228"/>
                  </a:lnTo>
                  <a:lnTo>
                    <a:pt x="4376077" y="1198168"/>
                  </a:lnTo>
                  <a:lnTo>
                    <a:pt x="4358805" y="1198880"/>
                  </a:lnTo>
                  <a:lnTo>
                    <a:pt x="4353039" y="1198880"/>
                  </a:lnTo>
                  <a:lnTo>
                    <a:pt x="352374" y="1198880"/>
                  </a:lnTo>
                  <a:lnTo>
                    <a:pt x="346608" y="1198880"/>
                  </a:lnTo>
                  <a:lnTo>
                    <a:pt x="340842" y="1198727"/>
                  </a:lnTo>
                  <a:lnTo>
                    <a:pt x="335089" y="1198448"/>
                  </a:lnTo>
                  <a:lnTo>
                    <a:pt x="329323" y="1198168"/>
                  </a:lnTo>
                  <a:lnTo>
                    <a:pt x="323570" y="1197749"/>
                  </a:lnTo>
                  <a:lnTo>
                    <a:pt x="317830" y="1197178"/>
                  </a:lnTo>
                  <a:lnTo>
                    <a:pt x="312089" y="1196606"/>
                  </a:lnTo>
                  <a:lnTo>
                    <a:pt x="283629" y="1192098"/>
                  </a:lnTo>
                  <a:lnTo>
                    <a:pt x="277977" y="1190980"/>
                  </a:lnTo>
                  <a:lnTo>
                    <a:pt x="250088" y="1183703"/>
                  </a:lnTo>
                  <a:lnTo>
                    <a:pt x="244563" y="1182027"/>
                  </a:lnTo>
                  <a:lnTo>
                    <a:pt x="239090" y="1180211"/>
                  </a:lnTo>
                  <a:lnTo>
                    <a:pt x="233667" y="1178267"/>
                  </a:lnTo>
                  <a:lnTo>
                    <a:pt x="228231" y="1176324"/>
                  </a:lnTo>
                  <a:lnTo>
                    <a:pt x="201714" y="1165047"/>
                  </a:lnTo>
                  <a:lnTo>
                    <a:pt x="196494" y="1162583"/>
                  </a:lnTo>
                  <a:lnTo>
                    <a:pt x="171221" y="1148740"/>
                  </a:lnTo>
                  <a:lnTo>
                    <a:pt x="166268" y="1145781"/>
                  </a:lnTo>
                  <a:lnTo>
                    <a:pt x="161404" y="1142695"/>
                  </a:lnTo>
                  <a:lnTo>
                    <a:pt x="156603" y="1139482"/>
                  </a:lnTo>
                  <a:lnTo>
                    <a:pt x="151803" y="1136281"/>
                  </a:lnTo>
                  <a:lnTo>
                    <a:pt x="147091" y="1132967"/>
                  </a:lnTo>
                  <a:lnTo>
                    <a:pt x="142455" y="1129525"/>
                  </a:lnTo>
                  <a:lnTo>
                    <a:pt x="137833" y="1126096"/>
                  </a:lnTo>
                  <a:lnTo>
                    <a:pt x="133286" y="1122540"/>
                  </a:lnTo>
                  <a:lnTo>
                    <a:pt x="128828" y="1118882"/>
                  </a:lnTo>
                  <a:lnTo>
                    <a:pt x="124371" y="1115225"/>
                  </a:lnTo>
                  <a:lnTo>
                    <a:pt x="120002" y="1111465"/>
                  </a:lnTo>
                  <a:lnTo>
                    <a:pt x="115735" y="1107592"/>
                  </a:lnTo>
                  <a:lnTo>
                    <a:pt x="111455" y="1103718"/>
                  </a:lnTo>
                  <a:lnTo>
                    <a:pt x="107276" y="1099743"/>
                  </a:lnTo>
                  <a:lnTo>
                    <a:pt x="103200" y="1095654"/>
                  </a:lnTo>
                  <a:lnTo>
                    <a:pt x="99123" y="1091590"/>
                  </a:lnTo>
                  <a:lnTo>
                    <a:pt x="95148" y="1087412"/>
                  </a:lnTo>
                  <a:lnTo>
                    <a:pt x="91274" y="1083132"/>
                  </a:lnTo>
                  <a:lnTo>
                    <a:pt x="87401" y="1078865"/>
                  </a:lnTo>
                  <a:lnTo>
                    <a:pt x="83642" y="1074496"/>
                  </a:lnTo>
                  <a:lnTo>
                    <a:pt x="79984" y="1070038"/>
                  </a:lnTo>
                  <a:lnTo>
                    <a:pt x="76326" y="1065580"/>
                  </a:lnTo>
                  <a:lnTo>
                    <a:pt x="72770" y="1061034"/>
                  </a:lnTo>
                  <a:lnTo>
                    <a:pt x="69341" y="1056411"/>
                  </a:lnTo>
                  <a:lnTo>
                    <a:pt x="65900" y="1051775"/>
                  </a:lnTo>
                  <a:lnTo>
                    <a:pt x="62585" y="1047051"/>
                  </a:lnTo>
                  <a:lnTo>
                    <a:pt x="59385" y="1042263"/>
                  </a:lnTo>
                  <a:lnTo>
                    <a:pt x="56172" y="1037475"/>
                  </a:lnTo>
                  <a:lnTo>
                    <a:pt x="41605" y="1012596"/>
                  </a:lnTo>
                  <a:lnTo>
                    <a:pt x="38887" y="1007516"/>
                  </a:lnTo>
                  <a:lnTo>
                    <a:pt x="36296" y="1002360"/>
                  </a:lnTo>
                  <a:lnTo>
                    <a:pt x="33832" y="997153"/>
                  </a:lnTo>
                  <a:lnTo>
                    <a:pt x="31356" y="991933"/>
                  </a:lnTo>
                  <a:lnTo>
                    <a:pt x="29019" y="986663"/>
                  </a:lnTo>
                  <a:lnTo>
                    <a:pt x="26822" y="981341"/>
                  </a:lnTo>
                  <a:lnTo>
                    <a:pt x="24612" y="976020"/>
                  </a:lnTo>
                  <a:lnTo>
                    <a:pt x="11950" y="937704"/>
                  </a:lnTo>
                  <a:lnTo>
                    <a:pt x="6769" y="915238"/>
                  </a:lnTo>
                  <a:lnTo>
                    <a:pt x="5638" y="909586"/>
                  </a:lnTo>
                  <a:lnTo>
                    <a:pt x="4660" y="903909"/>
                  </a:lnTo>
                  <a:lnTo>
                    <a:pt x="3809" y="898194"/>
                  </a:lnTo>
                  <a:lnTo>
                    <a:pt x="2959" y="892492"/>
                  </a:lnTo>
                  <a:lnTo>
                    <a:pt x="0" y="852258"/>
                  </a:lnTo>
                  <a:lnTo>
                    <a:pt x="0" y="846493"/>
                  </a:lnTo>
                  <a:lnTo>
                    <a:pt x="0" y="352374"/>
                  </a:lnTo>
                  <a:lnTo>
                    <a:pt x="0" y="346608"/>
                  </a:lnTo>
                  <a:lnTo>
                    <a:pt x="139" y="340842"/>
                  </a:lnTo>
                  <a:lnTo>
                    <a:pt x="419" y="335089"/>
                  </a:lnTo>
                  <a:lnTo>
                    <a:pt x="698" y="329323"/>
                  </a:lnTo>
                  <a:lnTo>
                    <a:pt x="3809" y="300672"/>
                  </a:lnTo>
                  <a:lnTo>
                    <a:pt x="4660" y="294970"/>
                  </a:lnTo>
                  <a:lnTo>
                    <a:pt x="5638" y="289293"/>
                  </a:lnTo>
                  <a:lnTo>
                    <a:pt x="6769" y="283629"/>
                  </a:lnTo>
                  <a:lnTo>
                    <a:pt x="7886" y="277977"/>
                  </a:lnTo>
                  <a:lnTo>
                    <a:pt x="9156" y="272351"/>
                  </a:lnTo>
                  <a:lnTo>
                    <a:pt x="10553" y="266763"/>
                  </a:lnTo>
                  <a:lnTo>
                    <a:pt x="11950" y="261162"/>
                  </a:lnTo>
                  <a:lnTo>
                    <a:pt x="20599" y="233667"/>
                  </a:lnTo>
                  <a:lnTo>
                    <a:pt x="22542" y="228231"/>
                  </a:lnTo>
                  <a:lnTo>
                    <a:pt x="24612" y="222859"/>
                  </a:lnTo>
                  <a:lnTo>
                    <a:pt x="26822" y="217525"/>
                  </a:lnTo>
                  <a:lnTo>
                    <a:pt x="29019" y="212204"/>
                  </a:lnTo>
                  <a:lnTo>
                    <a:pt x="31356" y="206933"/>
                  </a:lnTo>
                  <a:lnTo>
                    <a:pt x="33832" y="201714"/>
                  </a:lnTo>
                  <a:lnTo>
                    <a:pt x="36296" y="196507"/>
                  </a:lnTo>
                  <a:lnTo>
                    <a:pt x="38887" y="191350"/>
                  </a:lnTo>
                  <a:lnTo>
                    <a:pt x="41605" y="186270"/>
                  </a:lnTo>
                  <a:lnTo>
                    <a:pt x="44322" y="181178"/>
                  </a:lnTo>
                  <a:lnTo>
                    <a:pt x="59385" y="156603"/>
                  </a:lnTo>
                  <a:lnTo>
                    <a:pt x="62585" y="151815"/>
                  </a:lnTo>
                  <a:lnTo>
                    <a:pt x="65900" y="147104"/>
                  </a:lnTo>
                  <a:lnTo>
                    <a:pt x="69341" y="142468"/>
                  </a:lnTo>
                  <a:lnTo>
                    <a:pt x="72770" y="137833"/>
                  </a:lnTo>
                  <a:lnTo>
                    <a:pt x="76326" y="133286"/>
                  </a:lnTo>
                  <a:lnTo>
                    <a:pt x="79984" y="128828"/>
                  </a:lnTo>
                  <a:lnTo>
                    <a:pt x="83642" y="124371"/>
                  </a:lnTo>
                  <a:lnTo>
                    <a:pt x="111455" y="95161"/>
                  </a:lnTo>
                  <a:lnTo>
                    <a:pt x="115735" y="91287"/>
                  </a:lnTo>
                  <a:lnTo>
                    <a:pt x="120002" y="87414"/>
                  </a:lnTo>
                  <a:lnTo>
                    <a:pt x="124371" y="83642"/>
                  </a:lnTo>
                  <a:lnTo>
                    <a:pt x="128828" y="79984"/>
                  </a:lnTo>
                  <a:lnTo>
                    <a:pt x="133286" y="76327"/>
                  </a:lnTo>
                  <a:lnTo>
                    <a:pt x="156603" y="59385"/>
                  </a:lnTo>
                  <a:lnTo>
                    <a:pt x="161404" y="56184"/>
                  </a:lnTo>
                  <a:lnTo>
                    <a:pt x="166268" y="53098"/>
                  </a:lnTo>
                  <a:lnTo>
                    <a:pt x="171221" y="50139"/>
                  </a:lnTo>
                  <a:lnTo>
                    <a:pt x="176161" y="47167"/>
                  </a:lnTo>
                  <a:lnTo>
                    <a:pt x="201714" y="33832"/>
                  </a:lnTo>
                  <a:lnTo>
                    <a:pt x="206921" y="31369"/>
                  </a:lnTo>
                  <a:lnTo>
                    <a:pt x="212191" y="29032"/>
                  </a:lnTo>
                  <a:lnTo>
                    <a:pt x="217525" y="26822"/>
                  </a:lnTo>
                  <a:lnTo>
                    <a:pt x="222846" y="24612"/>
                  </a:lnTo>
                  <a:lnTo>
                    <a:pt x="228231" y="22542"/>
                  </a:lnTo>
                  <a:lnTo>
                    <a:pt x="233667" y="20599"/>
                  </a:lnTo>
                  <a:lnTo>
                    <a:pt x="239090" y="18656"/>
                  </a:lnTo>
                  <a:lnTo>
                    <a:pt x="244563" y="16852"/>
                  </a:lnTo>
                  <a:lnTo>
                    <a:pt x="250088" y="15176"/>
                  </a:lnTo>
                  <a:lnTo>
                    <a:pt x="255600" y="13500"/>
                  </a:lnTo>
                  <a:lnTo>
                    <a:pt x="261162" y="11963"/>
                  </a:lnTo>
                  <a:lnTo>
                    <a:pt x="266750" y="10566"/>
                  </a:lnTo>
                  <a:lnTo>
                    <a:pt x="272351" y="9156"/>
                  </a:lnTo>
                  <a:lnTo>
                    <a:pt x="312089" y="2260"/>
                  </a:lnTo>
                  <a:lnTo>
                    <a:pt x="317830" y="1701"/>
                  </a:lnTo>
                  <a:lnTo>
                    <a:pt x="323570" y="1130"/>
                  </a:lnTo>
                  <a:lnTo>
                    <a:pt x="329323" y="711"/>
                  </a:lnTo>
                  <a:lnTo>
                    <a:pt x="335089" y="419"/>
                  </a:lnTo>
                  <a:lnTo>
                    <a:pt x="340842" y="139"/>
                  </a:lnTo>
                  <a:lnTo>
                    <a:pt x="346608" y="0"/>
                  </a:lnTo>
                  <a:lnTo>
                    <a:pt x="352374" y="0"/>
                  </a:lnTo>
                  <a:close/>
                </a:path>
              </a:pathLst>
            </a:custGeom>
            <a:ln w="4992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9860941" y="3516355"/>
            <a:ext cx="6755130" cy="421767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2984500">
              <a:lnSpc>
                <a:spcPct val="100000"/>
              </a:lnSpc>
              <a:spcBef>
                <a:spcPts val="114"/>
              </a:spcBef>
            </a:pPr>
            <a:r>
              <a:rPr sz="3650" dirty="0">
                <a:latin typeface="Magallanes"/>
                <a:cs typeface="Magallanes"/>
              </a:rPr>
              <a:t>Data</a:t>
            </a:r>
            <a:r>
              <a:rPr sz="3650" spc="-200" dirty="0">
                <a:latin typeface="Magallanes"/>
                <a:cs typeface="Magallanes"/>
              </a:rPr>
              <a:t> </a:t>
            </a:r>
            <a:r>
              <a:rPr sz="3650" spc="-10" dirty="0">
                <a:latin typeface="Magallanes"/>
                <a:cs typeface="Magallanes"/>
              </a:rPr>
              <a:t>Warehouse</a:t>
            </a:r>
            <a:endParaRPr sz="3650">
              <a:latin typeface="Magallanes"/>
              <a:cs typeface="Magallanes"/>
            </a:endParaRPr>
          </a:p>
          <a:p>
            <a:pPr>
              <a:lnSpc>
                <a:spcPct val="100000"/>
              </a:lnSpc>
              <a:spcBef>
                <a:spcPts val="4415"/>
              </a:spcBef>
            </a:pPr>
            <a:endParaRPr sz="3650">
              <a:latin typeface="Magallanes"/>
              <a:cs typeface="Magallanes"/>
            </a:endParaRPr>
          </a:p>
          <a:p>
            <a:pPr marL="2727960">
              <a:lnSpc>
                <a:spcPct val="100000"/>
              </a:lnSpc>
            </a:pPr>
            <a:r>
              <a:rPr sz="3650" dirty="0">
                <a:latin typeface="Magallanes"/>
                <a:cs typeface="Magallanes"/>
              </a:rPr>
              <a:t>ML</a:t>
            </a:r>
            <a:r>
              <a:rPr sz="3650" spc="-220" dirty="0">
                <a:latin typeface="Magallanes"/>
                <a:cs typeface="Magallanes"/>
              </a:rPr>
              <a:t> </a:t>
            </a:r>
            <a:r>
              <a:rPr sz="3650" spc="-10" dirty="0">
                <a:latin typeface="Magallanes"/>
                <a:cs typeface="Magallanes"/>
              </a:rPr>
              <a:t>Analytics</a:t>
            </a:r>
            <a:endParaRPr sz="3650">
              <a:latin typeface="Magallanes"/>
              <a:cs typeface="Magallanes"/>
            </a:endParaRPr>
          </a:p>
          <a:p>
            <a:pPr>
              <a:lnSpc>
                <a:spcPct val="100000"/>
              </a:lnSpc>
              <a:spcBef>
                <a:spcPts val="1720"/>
              </a:spcBef>
            </a:pPr>
            <a:endParaRPr sz="3650">
              <a:latin typeface="Magallanes"/>
              <a:cs typeface="Magallanes"/>
            </a:endParaRPr>
          </a:p>
          <a:p>
            <a:pPr marL="988060" marR="2304415" indent="-975994">
              <a:lnSpc>
                <a:spcPct val="100499"/>
              </a:lnSpc>
            </a:pPr>
            <a:r>
              <a:rPr sz="3650" dirty="0">
                <a:latin typeface="Magallanes"/>
                <a:cs typeface="Magallanes"/>
              </a:rPr>
              <a:t>Business &amp; </a:t>
            </a:r>
            <a:r>
              <a:rPr sz="3650" spc="-10" dirty="0">
                <a:latin typeface="Magallanes"/>
                <a:cs typeface="Magallanes"/>
              </a:rPr>
              <a:t>Security Dashboard</a:t>
            </a:r>
            <a:endParaRPr sz="3650">
              <a:latin typeface="Magallanes"/>
              <a:cs typeface="Magallanes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1503964" y="1924989"/>
            <a:ext cx="12871450" cy="7217409"/>
            <a:chOff x="1503964" y="1924989"/>
            <a:chExt cx="12871450" cy="7217409"/>
          </a:xfrm>
        </p:grpSpPr>
        <p:pic>
          <p:nvPicPr>
            <p:cNvPr id="18" name="object 1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713833" y="2035797"/>
              <a:ext cx="895730" cy="221615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733539" y="7918945"/>
              <a:ext cx="913523" cy="541032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2315430" y="7744104"/>
              <a:ext cx="627926" cy="890765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695370" y="1924989"/>
              <a:ext cx="895730" cy="221621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3788758" y="2562377"/>
              <a:ext cx="221623" cy="766102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4153604" y="4381652"/>
              <a:ext cx="221626" cy="653554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3296354" y="6088367"/>
              <a:ext cx="221626" cy="539254"/>
            </a:xfrm>
            <a:prstGeom prst="rect">
              <a:avLst/>
            </a:prstGeom>
          </p:spPr>
        </p:pic>
        <p:sp>
          <p:nvSpPr>
            <p:cNvPr id="25" name="object 25"/>
            <p:cNvSpPr/>
            <p:nvPr/>
          </p:nvSpPr>
          <p:spPr>
            <a:xfrm>
              <a:off x="7835105" y="8113957"/>
              <a:ext cx="4550410" cy="1003300"/>
            </a:xfrm>
            <a:custGeom>
              <a:avLst/>
              <a:gdLst/>
              <a:ahLst/>
              <a:cxnLst/>
              <a:rect l="l" t="t" r="r" b="b"/>
              <a:pathLst>
                <a:path w="4550409" h="1003300">
                  <a:moveTo>
                    <a:pt x="4203687" y="0"/>
                  </a:moveTo>
                  <a:lnTo>
                    <a:pt x="352374" y="0"/>
                  </a:lnTo>
                  <a:lnTo>
                    <a:pt x="340842" y="139"/>
                  </a:lnTo>
                  <a:lnTo>
                    <a:pt x="289280" y="5651"/>
                  </a:lnTo>
                  <a:lnTo>
                    <a:pt x="239090" y="18656"/>
                  </a:lnTo>
                  <a:lnTo>
                    <a:pt x="191350" y="38887"/>
                  </a:lnTo>
                  <a:lnTo>
                    <a:pt x="147091" y="65913"/>
                  </a:lnTo>
                  <a:lnTo>
                    <a:pt x="107276" y="99136"/>
                  </a:lnTo>
                  <a:lnTo>
                    <a:pt x="72770" y="137833"/>
                  </a:lnTo>
                  <a:lnTo>
                    <a:pt x="44322" y="181178"/>
                  </a:lnTo>
                  <a:lnTo>
                    <a:pt x="22542" y="228231"/>
                  </a:lnTo>
                  <a:lnTo>
                    <a:pt x="7886" y="277977"/>
                  </a:lnTo>
                  <a:lnTo>
                    <a:pt x="698" y="329323"/>
                  </a:lnTo>
                  <a:lnTo>
                    <a:pt x="0" y="346608"/>
                  </a:lnTo>
                  <a:lnTo>
                    <a:pt x="0" y="650849"/>
                  </a:lnTo>
                  <a:lnTo>
                    <a:pt x="2959" y="696861"/>
                  </a:lnTo>
                  <a:lnTo>
                    <a:pt x="13500" y="747623"/>
                  </a:lnTo>
                  <a:lnTo>
                    <a:pt x="31356" y="796302"/>
                  </a:lnTo>
                  <a:lnTo>
                    <a:pt x="56172" y="841832"/>
                  </a:lnTo>
                  <a:lnTo>
                    <a:pt x="87401" y="883221"/>
                  </a:lnTo>
                  <a:lnTo>
                    <a:pt x="124371" y="919594"/>
                  </a:lnTo>
                  <a:lnTo>
                    <a:pt x="166268" y="950137"/>
                  </a:lnTo>
                  <a:lnTo>
                    <a:pt x="212191" y="974204"/>
                  </a:lnTo>
                  <a:lnTo>
                    <a:pt x="261162" y="991273"/>
                  </a:lnTo>
                  <a:lnTo>
                    <a:pt x="312089" y="1000963"/>
                  </a:lnTo>
                  <a:lnTo>
                    <a:pt x="346608" y="1003236"/>
                  </a:lnTo>
                  <a:lnTo>
                    <a:pt x="4197908" y="1003236"/>
                  </a:lnTo>
                  <a:lnTo>
                    <a:pt x="4243908" y="1000264"/>
                  </a:lnTo>
                  <a:lnTo>
                    <a:pt x="4294682" y="989736"/>
                  </a:lnTo>
                  <a:lnTo>
                    <a:pt x="4343361" y="971867"/>
                  </a:lnTo>
                  <a:lnTo>
                    <a:pt x="4388891" y="947051"/>
                  </a:lnTo>
                  <a:lnTo>
                    <a:pt x="4430280" y="915822"/>
                  </a:lnTo>
                  <a:lnTo>
                    <a:pt x="4466653" y="878865"/>
                  </a:lnTo>
                  <a:lnTo>
                    <a:pt x="4497196" y="836968"/>
                  </a:lnTo>
                  <a:lnTo>
                    <a:pt x="4521263" y="791032"/>
                  </a:lnTo>
                  <a:lnTo>
                    <a:pt x="4538332" y="742073"/>
                  </a:lnTo>
                  <a:lnTo>
                    <a:pt x="4548035" y="691134"/>
                  </a:lnTo>
                  <a:lnTo>
                    <a:pt x="4550295" y="656628"/>
                  </a:lnTo>
                  <a:lnTo>
                    <a:pt x="4550295" y="352374"/>
                  </a:lnTo>
                  <a:lnTo>
                    <a:pt x="4547323" y="306374"/>
                  </a:lnTo>
                  <a:lnTo>
                    <a:pt x="4536795" y="255612"/>
                  </a:lnTo>
                  <a:lnTo>
                    <a:pt x="4518926" y="206933"/>
                  </a:lnTo>
                  <a:lnTo>
                    <a:pt x="4494110" y="161404"/>
                  </a:lnTo>
                  <a:lnTo>
                    <a:pt x="4462881" y="120015"/>
                  </a:lnTo>
                  <a:lnTo>
                    <a:pt x="4425924" y="83642"/>
                  </a:lnTo>
                  <a:lnTo>
                    <a:pt x="4384027" y="53098"/>
                  </a:lnTo>
                  <a:lnTo>
                    <a:pt x="4338091" y="29032"/>
                  </a:lnTo>
                  <a:lnTo>
                    <a:pt x="4289132" y="11963"/>
                  </a:lnTo>
                  <a:lnTo>
                    <a:pt x="4238193" y="2260"/>
                  </a:lnTo>
                  <a:lnTo>
                    <a:pt x="420368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7835105" y="8113957"/>
              <a:ext cx="4550410" cy="1003300"/>
            </a:xfrm>
            <a:custGeom>
              <a:avLst/>
              <a:gdLst/>
              <a:ahLst/>
              <a:cxnLst/>
              <a:rect l="l" t="t" r="r" b="b"/>
              <a:pathLst>
                <a:path w="4550409" h="1003300">
                  <a:moveTo>
                    <a:pt x="352374" y="0"/>
                  </a:moveTo>
                  <a:lnTo>
                    <a:pt x="4197908" y="0"/>
                  </a:lnTo>
                  <a:lnTo>
                    <a:pt x="4203687" y="0"/>
                  </a:lnTo>
                  <a:lnTo>
                    <a:pt x="4209453" y="139"/>
                  </a:lnTo>
                  <a:lnTo>
                    <a:pt x="4215206" y="419"/>
                  </a:lnTo>
                  <a:lnTo>
                    <a:pt x="4220971" y="711"/>
                  </a:lnTo>
                  <a:lnTo>
                    <a:pt x="4226712" y="1130"/>
                  </a:lnTo>
                  <a:lnTo>
                    <a:pt x="4232452" y="1701"/>
                  </a:lnTo>
                  <a:lnTo>
                    <a:pt x="4238193" y="2260"/>
                  </a:lnTo>
                  <a:lnTo>
                    <a:pt x="4277944" y="9156"/>
                  </a:lnTo>
                  <a:lnTo>
                    <a:pt x="4283544" y="10566"/>
                  </a:lnTo>
                  <a:lnTo>
                    <a:pt x="4289132" y="11963"/>
                  </a:lnTo>
                  <a:lnTo>
                    <a:pt x="4294682" y="13500"/>
                  </a:lnTo>
                  <a:lnTo>
                    <a:pt x="4300207" y="15176"/>
                  </a:lnTo>
                  <a:lnTo>
                    <a:pt x="4305731" y="16852"/>
                  </a:lnTo>
                  <a:lnTo>
                    <a:pt x="4311205" y="18656"/>
                  </a:lnTo>
                  <a:lnTo>
                    <a:pt x="4316628" y="20599"/>
                  </a:lnTo>
                  <a:lnTo>
                    <a:pt x="4322064" y="22542"/>
                  </a:lnTo>
                  <a:lnTo>
                    <a:pt x="4358944" y="38887"/>
                  </a:lnTo>
                  <a:lnTo>
                    <a:pt x="4364024" y="41605"/>
                  </a:lnTo>
                  <a:lnTo>
                    <a:pt x="4369117" y="44323"/>
                  </a:lnTo>
                  <a:lnTo>
                    <a:pt x="4374133" y="47167"/>
                  </a:lnTo>
                  <a:lnTo>
                    <a:pt x="4379074" y="50139"/>
                  </a:lnTo>
                  <a:lnTo>
                    <a:pt x="4384027" y="53098"/>
                  </a:lnTo>
                  <a:lnTo>
                    <a:pt x="4417009" y="76327"/>
                  </a:lnTo>
                  <a:lnTo>
                    <a:pt x="4421466" y="79984"/>
                  </a:lnTo>
                  <a:lnTo>
                    <a:pt x="4425924" y="83642"/>
                  </a:lnTo>
                  <a:lnTo>
                    <a:pt x="4455134" y="111467"/>
                  </a:lnTo>
                  <a:lnTo>
                    <a:pt x="4470311" y="128828"/>
                  </a:lnTo>
                  <a:lnTo>
                    <a:pt x="4473968" y="133286"/>
                  </a:lnTo>
                  <a:lnTo>
                    <a:pt x="4477512" y="137833"/>
                  </a:lnTo>
                  <a:lnTo>
                    <a:pt x="4480941" y="142468"/>
                  </a:lnTo>
                  <a:lnTo>
                    <a:pt x="4484382" y="147104"/>
                  </a:lnTo>
                  <a:lnTo>
                    <a:pt x="4500156" y="171221"/>
                  </a:lnTo>
                  <a:lnTo>
                    <a:pt x="4503127" y="176161"/>
                  </a:lnTo>
                  <a:lnTo>
                    <a:pt x="4505959" y="181178"/>
                  </a:lnTo>
                  <a:lnTo>
                    <a:pt x="4508677" y="186270"/>
                  </a:lnTo>
                  <a:lnTo>
                    <a:pt x="4511395" y="191350"/>
                  </a:lnTo>
                  <a:lnTo>
                    <a:pt x="4527753" y="228231"/>
                  </a:lnTo>
                  <a:lnTo>
                    <a:pt x="4529696" y="233667"/>
                  </a:lnTo>
                  <a:lnTo>
                    <a:pt x="4531639" y="239090"/>
                  </a:lnTo>
                  <a:lnTo>
                    <a:pt x="4539729" y="266763"/>
                  </a:lnTo>
                  <a:lnTo>
                    <a:pt x="4541139" y="272351"/>
                  </a:lnTo>
                  <a:lnTo>
                    <a:pt x="4546473" y="300672"/>
                  </a:lnTo>
                  <a:lnTo>
                    <a:pt x="4547323" y="306374"/>
                  </a:lnTo>
                  <a:lnTo>
                    <a:pt x="4549863" y="335089"/>
                  </a:lnTo>
                  <a:lnTo>
                    <a:pt x="4550156" y="340842"/>
                  </a:lnTo>
                  <a:lnTo>
                    <a:pt x="4550295" y="346608"/>
                  </a:lnTo>
                  <a:lnTo>
                    <a:pt x="4550295" y="352374"/>
                  </a:lnTo>
                  <a:lnTo>
                    <a:pt x="4550295" y="650849"/>
                  </a:lnTo>
                  <a:lnTo>
                    <a:pt x="4550295" y="656628"/>
                  </a:lnTo>
                  <a:lnTo>
                    <a:pt x="4550156" y="662381"/>
                  </a:lnTo>
                  <a:lnTo>
                    <a:pt x="4549863" y="668147"/>
                  </a:lnTo>
                  <a:lnTo>
                    <a:pt x="4549584" y="673900"/>
                  </a:lnTo>
                  <a:lnTo>
                    <a:pt x="4546473" y="702564"/>
                  </a:lnTo>
                  <a:lnTo>
                    <a:pt x="4545634" y="708266"/>
                  </a:lnTo>
                  <a:lnTo>
                    <a:pt x="4539729" y="736473"/>
                  </a:lnTo>
                  <a:lnTo>
                    <a:pt x="4538332" y="742073"/>
                  </a:lnTo>
                  <a:lnTo>
                    <a:pt x="4525683" y="780376"/>
                  </a:lnTo>
                  <a:lnTo>
                    <a:pt x="4508677" y="816965"/>
                  </a:lnTo>
                  <a:lnTo>
                    <a:pt x="4505959" y="822058"/>
                  </a:lnTo>
                  <a:lnTo>
                    <a:pt x="4503127" y="827074"/>
                  </a:lnTo>
                  <a:lnTo>
                    <a:pt x="4500156" y="832015"/>
                  </a:lnTo>
                  <a:lnTo>
                    <a:pt x="4497196" y="836968"/>
                  </a:lnTo>
                  <a:lnTo>
                    <a:pt x="4480941" y="860767"/>
                  </a:lnTo>
                  <a:lnTo>
                    <a:pt x="4477512" y="865403"/>
                  </a:lnTo>
                  <a:lnTo>
                    <a:pt x="4473968" y="869950"/>
                  </a:lnTo>
                  <a:lnTo>
                    <a:pt x="4470311" y="874407"/>
                  </a:lnTo>
                  <a:lnTo>
                    <a:pt x="4466653" y="878865"/>
                  </a:lnTo>
                  <a:lnTo>
                    <a:pt x="4438827" y="908075"/>
                  </a:lnTo>
                  <a:lnTo>
                    <a:pt x="4421466" y="923251"/>
                  </a:lnTo>
                  <a:lnTo>
                    <a:pt x="4417009" y="926909"/>
                  </a:lnTo>
                  <a:lnTo>
                    <a:pt x="4384027" y="950137"/>
                  </a:lnTo>
                  <a:lnTo>
                    <a:pt x="4379074" y="953096"/>
                  </a:lnTo>
                  <a:lnTo>
                    <a:pt x="4374133" y="956068"/>
                  </a:lnTo>
                  <a:lnTo>
                    <a:pt x="4369117" y="958913"/>
                  </a:lnTo>
                  <a:lnTo>
                    <a:pt x="4364024" y="961618"/>
                  </a:lnTo>
                  <a:lnTo>
                    <a:pt x="4358944" y="964336"/>
                  </a:lnTo>
                  <a:lnTo>
                    <a:pt x="4332770" y="976401"/>
                  </a:lnTo>
                  <a:lnTo>
                    <a:pt x="4327436" y="978611"/>
                  </a:lnTo>
                  <a:lnTo>
                    <a:pt x="4322064" y="980694"/>
                  </a:lnTo>
                  <a:lnTo>
                    <a:pt x="4316628" y="982637"/>
                  </a:lnTo>
                  <a:lnTo>
                    <a:pt x="4311205" y="984580"/>
                  </a:lnTo>
                  <a:lnTo>
                    <a:pt x="4305731" y="986396"/>
                  </a:lnTo>
                  <a:lnTo>
                    <a:pt x="4300207" y="988060"/>
                  </a:lnTo>
                  <a:lnTo>
                    <a:pt x="4294682" y="989736"/>
                  </a:lnTo>
                  <a:lnTo>
                    <a:pt x="4289132" y="991273"/>
                  </a:lnTo>
                  <a:lnTo>
                    <a:pt x="4283544" y="992670"/>
                  </a:lnTo>
                  <a:lnTo>
                    <a:pt x="4277944" y="994079"/>
                  </a:lnTo>
                  <a:lnTo>
                    <a:pt x="4238193" y="1000963"/>
                  </a:lnTo>
                  <a:lnTo>
                    <a:pt x="4232452" y="1001534"/>
                  </a:lnTo>
                  <a:lnTo>
                    <a:pt x="4226712" y="1002106"/>
                  </a:lnTo>
                  <a:lnTo>
                    <a:pt x="4220971" y="1002525"/>
                  </a:lnTo>
                  <a:lnTo>
                    <a:pt x="4215206" y="1002817"/>
                  </a:lnTo>
                  <a:lnTo>
                    <a:pt x="4209453" y="1003096"/>
                  </a:lnTo>
                  <a:lnTo>
                    <a:pt x="4203687" y="1003236"/>
                  </a:lnTo>
                  <a:lnTo>
                    <a:pt x="4197908" y="1003236"/>
                  </a:lnTo>
                  <a:lnTo>
                    <a:pt x="352374" y="1003236"/>
                  </a:lnTo>
                  <a:lnTo>
                    <a:pt x="346608" y="1003236"/>
                  </a:lnTo>
                  <a:lnTo>
                    <a:pt x="340842" y="1003096"/>
                  </a:lnTo>
                  <a:lnTo>
                    <a:pt x="335089" y="1002817"/>
                  </a:lnTo>
                  <a:lnTo>
                    <a:pt x="329323" y="1002525"/>
                  </a:lnTo>
                  <a:lnTo>
                    <a:pt x="323570" y="1002106"/>
                  </a:lnTo>
                  <a:lnTo>
                    <a:pt x="317830" y="1001534"/>
                  </a:lnTo>
                  <a:lnTo>
                    <a:pt x="312089" y="1000963"/>
                  </a:lnTo>
                  <a:lnTo>
                    <a:pt x="272351" y="994079"/>
                  </a:lnTo>
                  <a:lnTo>
                    <a:pt x="266750" y="992670"/>
                  </a:lnTo>
                  <a:lnTo>
                    <a:pt x="261162" y="991273"/>
                  </a:lnTo>
                  <a:lnTo>
                    <a:pt x="255600" y="989736"/>
                  </a:lnTo>
                  <a:lnTo>
                    <a:pt x="250088" y="988060"/>
                  </a:lnTo>
                  <a:lnTo>
                    <a:pt x="244563" y="986396"/>
                  </a:lnTo>
                  <a:lnTo>
                    <a:pt x="239090" y="984580"/>
                  </a:lnTo>
                  <a:lnTo>
                    <a:pt x="233667" y="982637"/>
                  </a:lnTo>
                  <a:lnTo>
                    <a:pt x="228231" y="980694"/>
                  </a:lnTo>
                  <a:lnTo>
                    <a:pt x="222846" y="978611"/>
                  </a:lnTo>
                  <a:lnTo>
                    <a:pt x="217525" y="976401"/>
                  </a:lnTo>
                  <a:lnTo>
                    <a:pt x="212191" y="974204"/>
                  </a:lnTo>
                  <a:lnTo>
                    <a:pt x="206921" y="971867"/>
                  </a:lnTo>
                  <a:lnTo>
                    <a:pt x="201714" y="969403"/>
                  </a:lnTo>
                  <a:lnTo>
                    <a:pt x="196494" y="966939"/>
                  </a:lnTo>
                  <a:lnTo>
                    <a:pt x="191350" y="964336"/>
                  </a:lnTo>
                  <a:lnTo>
                    <a:pt x="186258" y="961618"/>
                  </a:lnTo>
                  <a:lnTo>
                    <a:pt x="181178" y="958913"/>
                  </a:lnTo>
                  <a:lnTo>
                    <a:pt x="176161" y="956068"/>
                  </a:lnTo>
                  <a:lnTo>
                    <a:pt x="171221" y="953096"/>
                  </a:lnTo>
                  <a:lnTo>
                    <a:pt x="166268" y="950137"/>
                  </a:lnTo>
                  <a:lnTo>
                    <a:pt x="133286" y="926909"/>
                  </a:lnTo>
                  <a:lnTo>
                    <a:pt x="128828" y="923251"/>
                  </a:lnTo>
                  <a:lnTo>
                    <a:pt x="124371" y="919594"/>
                  </a:lnTo>
                  <a:lnTo>
                    <a:pt x="120002" y="915822"/>
                  </a:lnTo>
                  <a:lnTo>
                    <a:pt x="115735" y="911948"/>
                  </a:lnTo>
                  <a:lnTo>
                    <a:pt x="111455" y="908075"/>
                  </a:lnTo>
                  <a:lnTo>
                    <a:pt x="83642" y="878865"/>
                  </a:lnTo>
                  <a:lnTo>
                    <a:pt x="79984" y="874407"/>
                  </a:lnTo>
                  <a:lnTo>
                    <a:pt x="76326" y="869950"/>
                  </a:lnTo>
                  <a:lnTo>
                    <a:pt x="72770" y="865403"/>
                  </a:lnTo>
                  <a:lnTo>
                    <a:pt x="69341" y="860767"/>
                  </a:lnTo>
                  <a:lnTo>
                    <a:pt x="65900" y="856132"/>
                  </a:lnTo>
                  <a:lnTo>
                    <a:pt x="62585" y="851420"/>
                  </a:lnTo>
                  <a:lnTo>
                    <a:pt x="59385" y="846632"/>
                  </a:lnTo>
                  <a:lnTo>
                    <a:pt x="56172" y="841832"/>
                  </a:lnTo>
                  <a:lnTo>
                    <a:pt x="41605" y="816965"/>
                  </a:lnTo>
                  <a:lnTo>
                    <a:pt x="38887" y="811885"/>
                  </a:lnTo>
                  <a:lnTo>
                    <a:pt x="36296" y="806729"/>
                  </a:lnTo>
                  <a:lnTo>
                    <a:pt x="33832" y="801522"/>
                  </a:lnTo>
                  <a:lnTo>
                    <a:pt x="31356" y="796302"/>
                  </a:lnTo>
                  <a:lnTo>
                    <a:pt x="29019" y="791032"/>
                  </a:lnTo>
                  <a:lnTo>
                    <a:pt x="26822" y="785710"/>
                  </a:lnTo>
                  <a:lnTo>
                    <a:pt x="24612" y="780376"/>
                  </a:lnTo>
                  <a:lnTo>
                    <a:pt x="11950" y="742073"/>
                  </a:lnTo>
                  <a:lnTo>
                    <a:pt x="10553" y="736473"/>
                  </a:lnTo>
                  <a:lnTo>
                    <a:pt x="9156" y="730885"/>
                  </a:lnTo>
                  <a:lnTo>
                    <a:pt x="7886" y="725258"/>
                  </a:lnTo>
                  <a:lnTo>
                    <a:pt x="6769" y="719607"/>
                  </a:lnTo>
                  <a:lnTo>
                    <a:pt x="5638" y="713943"/>
                  </a:lnTo>
                  <a:lnTo>
                    <a:pt x="4660" y="708266"/>
                  </a:lnTo>
                  <a:lnTo>
                    <a:pt x="3809" y="702564"/>
                  </a:lnTo>
                  <a:lnTo>
                    <a:pt x="2959" y="696861"/>
                  </a:lnTo>
                  <a:lnTo>
                    <a:pt x="0" y="656628"/>
                  </a:lnTo>
                  <a:lnTo>
                    <a:pt x="0" y="650849"/>
                  </a:lnTo>
                  <a:lnTo>
                    <a:pt x="0" y="352374"/>
                  </a:lnTo>
                  <a:lnTo>
                    <a:pt x="0" y="346608"/>
                  </a:lnTo>
                  <a:lnTo>
                    <a:pt x="139" y="340842"/>
                  </a:lnTo>
                  <a:lnTo>
                    <a:pt x="419" y="335089"/>
                  </a:lnTo>
                  <a:lnTo>
                    <a:pt x="698" y="329323"/>
                  </a:lnTo>
                  <a:lnTo>
                    <a:pt x="3809" y="300672"/>
                  </a:lnTo>
                  <a:lnTo>
                    <a:pt x="4660" y="294970"/>
                  </a:lnTo>
                  <a:lnTo>
                    <a:pt x="5638" y="289293"/>
                  </a:lnTo>
                  <a:lnTo>
                    <a:pt x="6769" y="283629"/>
                  </a:lnTo>
                  <a:lnTo>
                    <a:pt x="7886" y="277977"/>
                  </a:lnTo>
                  <a:lnTo>
                    <a:pt x="9156" y="272351"/>
                  </a:lnTo>
                  <a:lnTo>
                    <a:pt x="10553" y="266763"/>
                  </a:lnTo>
                  <a:lnTo>
                    <a:pt x="11950" y="261162"/>
                  </a:lnTo>
                  <a:lnTo>
                    <a:pt x="20599" y="233667"/>
                  </a:lnTo>
                  <a:lnTo>
                    <a:pt x="22542" y="228231"/>
                  </a:lnTo>
                  <a:lnTo>
                    <a:pt x="24612" y="222859"/>
                  </a:lnTo>
                  <a:lnTo>
                    <a:pt x="26822" y="217525"/>
                  </a:lnTo>
                  <a:lnTo>
                    <a:pt x="29019" y="212204"/>
                  </a:lnTo>
                  <a:lnTo>
                    <a:pt x="31356" y="206933"/>
                  </a:lnTo>
                  <a:lnTo>
                    <a:pt x="33832" y="201714"/>
                  </a:lnTo>
                  <a:lnTo>
                    <a:pt x="36296" y="196507"/>
                  </a:lnTo>
                  <a:lnTo>
                    <a:pt x="38887" y="191350"/>
                  </a:lnTo>
                  <a:lnTo>
                    <a:pt x="41605" y="186270"/>
                  </a:lnTo>
                  <a:lnTo>
                    <a:pt x="44322" y="181178"/>
                  </a:lnTo>
                  <a:lnTo>
                    <a:pt x="59385" y="156603"/>
                  </a:lnTo>
                  <a:lnTo>
                    <a:pt x="62585" y="151815"/>
                  </a:lnTo>
                  <a:lnTo>
                    <a:pt x="65900" y="147104"/>
                  </a:lnTo>
                  <a:lnTo>
                    <a:pt x="69341" y="142468"/>
                  </a:lnTo>
                  <a:lnTo>
                    <a:pt x="72770" y="137833"/>
                  </a:lnTo>
                  <a:lnTo>
                    <a:pt x="76326" y="133286"/>
                  </a:lnTo>
                  <a:lnTo>
                    <a:pt x="79984" y="128828"/>
                  </a:lnTo>
                  <a:lnTo>
                    <a:pt x="83642" y="124371"/>
                  </a:lnTo>
                  <a:lnTo>
                    <a:pt x="111455" y="95161"/>
                  </a:lnTo>
                  <a:lnTo>
                    <a:pt x="115735" y="91287"/>
                  </a:lnTo>
                  <a:lnTo>
                    <a:pt x="120002" y="87414"/>
                  </a:lnTo>
                  <a:lnTo>
                    <a:pt x="124371" y="83642"/>
                  </a:lnTo>
                  <a:lnTo>
                    <a:pt x="128828" y="79984"/>
                  </a:lnTo>
                  <a:lnTo>
                    <a:pt x="133286" y="76327"/>
                  </a:lnTo>
                  <a:lnTo>
                    <a:pt x="156603" y="59385"/>
                  </a:lnTo>
                  <a:lnTo>
                    <a:pt x="161404" y="56184"/>
                  </a:lnTo>
                  <a:lnTo>
                    <a:pt x="166268" y="53098"/>
                  </a:lnTo>
                  <a:lnTo>
                    <a:pt x="171221" y="50139"/>
                  </a:lnTo>
                  <a:lnTo>
                    <a:pt x="176161" y="47167"/>
                  </a:lnTo>
                  <a:lnTo>
                    <a:pt x="201714" y="33832"/>
                  </a:lnTo>
                  <a:lnTo>
                    <a:pt x="206921" y="31369"/>
                  </a:lnTo>
                  <a:lnTo>
                    <a:pt x="212191" y="29032"/>
                  </a:lnTo>
                  <a:lnTo>
                    <a:pt x="217525" y="26822"/>
                  </a:lnTo>
                  <a:lnTo>
                    <a:pt x="222846" y="24612"/>
                  </a:lnTo>
                  <a:lnTo>
                    <a:pt x="228231" y="22542"/>
                  </a:lnTo>
                  <a:lnTo>
                    <a:pt x="233667" y="20599"/>
                  </a:lnTo>
                  <a:lnTo>
                    <a:pt x="239090" y="18656"/>
                  </a:lnTo>
                  <a:lnTo>
                    <a:pt x="244563" y="16852"/>
                  </a:lnTo>
                  <a:lnTo>
                    <a:pt x="250088" y="15176"/>
                  </a:lnTo>
                  <a:lnTo>
                    <a:pt x="255600" y="13500"/>
                  </a:lnTo>
                  <a:lnTo>
                    <a:pt x="261162" y="11963"/>
                  </a:lnTo>
                  <a:lnTo>
                    <a:pt x="266750" y="10566"/>
                  </a:lnTo>
                  <a:lnTo>
                    <a:pt x="272351" y="9156"/>
                  </a:lnTo>
                  <a:lnTo>
                    <a:pt x="312089" y="2260"/>
                  </a:lnTo>
                  <a:lnTo>
                    <a:pt x="317830" y="1701"/>
                  </a:lnTo>
                  <a:lnTo>
                    <a:pt x="323570" y="1130"/>
                  </a:lnTo>
                  <a:lnTo>
                    <a:pt x="329323" y="711"/>
                  </a:lnTo>
                  <a:lnTo>
                    <a:pt x="335089" y="419"/>
                  </a:lnTo>
                  <a:lnTo>
                    <a:pt x="340842" y="139"/>
                  </a:lnTo>
                  <a:lnTo>
                    <a:pt x="346608" y="0"/>
                  </a:lnTo>
                  <a:lnTo>
                    <a:pt x="352374" y="0"/>
                  </a:lnTo>
                  <a:close/>
                </a:path>
              </a:pathLst>
            </a:custGeom>
            <a:ln w="4992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1529046" y="7474102"/>
              <a:ext cx="5055870" cy="1003300"/>
            </a:xfrm>
            <a:custGeom>
              <a:avLst/>
              <a:gdLst/>
              <a:ahLst/>
              <a:cxnLst/>
              <a:rect l="l" t="t" r="r" b="b"/>
              <a:pathLst>
                <a:path w="5055870" h="1003300">
                  <a:moveTo>
                    <a:pt x="352374" y="0"/>
                  </a:moveTo>
                  <a:lnTo>
                    <a:pt x="4703089" y="0"/>
                  </a:lnTo>
                  <a:lnTo>
                    <a:pt x="4708855" y="0"/>
                  </a:lnTo>
                  <a:lnTo>
                    <a:pt x="4714620" y="139"/>
                  </a:lnTo>
                  <a:lnTo>
                    <a:pt x="4720374" y="419"/>
                  </a:lnTo>
                  <a:lnTo>
                    <a:pt x="4726139" y="711"/>
                  </a:lnTo>
                  <a:lnTo>
                    <a:pt x="4731880" y="1130"/>
                  </a:lnTo>
                  <a:lnTo>
                    <a:pt x="4737620" y="1701"/>
                  </a:lnTo>
                  <a:lnTo>
                    <a:pt x="4743361" y="2260"/>
                  </a:lnTo>
                  <a:lnTo>
                    <a:pt x="4783112" y="9156"/>
                  </a:lnTo>
                  <a:lnTo>
                    <a:pt x="4788712" y="10566"/>
                  </a:lnTo>
                  <a:lnTo>
                    <a:pt x="4794300" y="11963"/>
                  </a:lnTo>
                  <a:lnTo>
                    <a:pt x="4799863" y="13500"/>
                  </a:lnTo>
                  <a:lnTo>
                    <a:pt x="4805375" y="15176"/>
                  </a:lnTo>
                  <a:lnTo>
                    <a:pt x="4810899" y="16852"/>
                  </a:lnTo>
                  <a:lnTo>
                    <a:pt x="4816373" y="18656"/>
                  </a:lnTo>
                  <a:lnTo>
                    <a:pt x="4821796" y="20599"/>
                  </a:lnTo>
                  <a:lnTo>
                    <a:pt x="4827231" y="22542"/>
                  </a:lnTo>
                  <a:lnTo>
                    <a:pt x="4864112" y="38887"/>
                  </a:lnTo>
                  <a:lnTo>
                    <a:pt x="4869192" y="41605"/>
                  </a:lnTo>
                  <a:lnTo>
                    <a:pt x="4874285" y="44323"/>
                  </a:lnTo>
                  <a:lnTo>
                    <a:pt x="4879301" y="47167"/>
                  </a:lnTo>
                  <a:lnTo>
                    <a:pt x="4884242" y="50139"/>
                  </a:lnTo>
                  <a:lnTo>
                    <a:pt x="4889195" y="53098"/>
                  </a:lnTo>
                  <a:lnTo>
                    <a:pt x="4894059" y="56184"/>
                  </a:lnTo>
                  <a:lnTo>
                    <a:pt x="4898859" y="59385"/>
                  </a:lnTo>
                  <a:lnTo>
                    <a:pt x="4903660" y="62585"/>
                  </a:lnTo>
                  <a:lnTo>
                    <a:pt x="4926634" y="79984"/>
                  </a:lnTo>
                  <a:lnTo>
                    <a:pt x="4931092" y="83642"/>
                  </a:lnTo>
                  <a:lnTo>
                    <a:pt x="4960315" y="111467"/>
                  </a:lnTo>
                  <a:lnTo>
                    <a:pt x="4975479" y="128828"/>
                  </a:lnTo>
                  <a:lnTo>
                    <a:pt x="4979136" y="133286"/>
                  </a:lnTo>
                  <a:lnTo>
                    <a:pt x="4982692" y="137833"/>
                  </a:lnTo>
                  <a:lnTo>
                    <a:pt x="4986121" y="142468"/>
                  </a:lnTo>
                  <a:lnTo>
                    <a:pt x="4989563" y="147104"/>
                  </a:lnTo>
                  <a:lnTo>
                    <a:pt x="5011140" y="181178"/>
                  </a:lnTo>
                  <a:lnTo>
                    <a:pt x="5013858" y="186270"/>
                  </a:lnTo>
                  <a:lnTo>
                    <a:pt x="5016576" y="191350"/>
                  </a:lnTo>
                  <a:lnTo>
                    <a:pt x="5019167" y="196507"/>
                  </a:lnTo>
                  <a:lnTo>
                    <a:pt x="5021630" y="201714"/>
                  </a:lnTo>
                  <a:lnTo>
                    <a:pt x="5024107" y="206933"/>
                  </a:lnTo>
                  <a:lnTo>
                    <a:pt x="5026444" y="212204"/>
                  </a:lnTo>
                  <a:lnTo>
                    <a:pt x="5028641" y="217525"/>
                  </a:lnTo>
                  <a:lnTo>
                    <a:pt x="5030851" y="222859"/>
                  </a:lnTo>
                  <a:lnTo>
                    <a:pt x="5032933" y="228231"/>
                  </a:lnTo>
                  <a:lnTo>
                    <a:pt x="5034876" y="233667"/>
                  </a:lnTo>
                  <a:lnTo>
                    <a:pt x="5036820" y="239090"/>
                  </a:lnTo>
                  <a:lnTo>
                    <a:pt x="5038623" y="244576"/>
                  </a:lnTo>
                  <a:lnTo>
                    <a:pt x="5040287" y="250088"/>
                  </a:lnTo>
                  <a:lnTo>
                    <a:pt x="5041963" y="255612"/>
                  </a:lnTo>
                  <a:lnTo>
                    <a:pt x="5043512" y="261162"/>
                  </a:lnTo>
                  <a:lnTo>
                    <a:pt x="5044909" y="266763"/>
                  </a:lnTo>
                  <a:lnTo>
                    <a:pt x="5046306" y="272351"/>
                  </a:lnTo>
                  <a:lnTo>
                    <a:pt x="5051653" y="300672"/>
                  </a:lnTo>
                  <a:lnTo>
                    <a:pt x="5052504" y="306374"/>
                  </a:lnTo>
                  <a:lnTo>
                    <a:pt x="5055044" y="335089"/>
                  </a:lnTo>
                  <a:lnTo>
                    <a:pt x="5055323" y="340842"/>
                  </a:lnTo>
                  <a:lnTo>
                    <a:pt x="5055463" y="346608"/>
                  </a:lnTo>
                  <a:lnTo>
                    <a:pt x="5055463" y="352374"/>
                  </a:lnTo>
                  <a:lnTo>
                    <a:pt x="5055463" y="650849"/>
                  </a:lnTo>
                  <a:lnTo>
                    <a:pt x="5055463" y="656628"/>
                  </a:lnTo>
                  <a:lnTo>
                    <a:pt x="5055323" y="662381"/>
                  </a:lnTo>
                  <a:lnTo>
                    <a:pt x="5055044" y="668147"/>
                  </a:lnTo>
                  <a:lnTo>
                    <a:pt x="5054765" y="673912"/>
                  </a:lnTo>
                  <a:lnTo>
                    <a:pt x="5051653" y="702564"/>
                  </a:lnTo>
                  <a:lnTo>
                    <a:pt x="5050815" y="708266"/>
                  </a:lnTo>
                  <a:lnTo>
                    <a:pt x="5044909" y="736473"/>
                  </a:lnTo>
                  <a:lnTo>
                    <a:pt x="5043512" y="742073"/>
                  </a:lnTo>
                  <a:lnTo>
                    <a:pt x="5041963" y="747623"/>
                  </a:lnTo>
                  <a:lnTo>
                    <a:pt x="5040287" y="753148"/>
                  </a:lnTo>
                  <a:lnTo>
                    <a:pt x="5038623" y="758659"/>
                  </a:lnTo>
                  <a:lnTo>
                    <a:pt x="5028641" y="785710"/>
                  </a:lnTo>
                  <a:lnTo>
                    <a:pt x="5026444" y="791032"/>
                  </a:lnTo>
                  <a:lnTo>
                    <a:pt x="5024107" y="796302"/>
                  </a:lnTo>
                  <a:lnTo>
                    <a:pt x="5021630" y="801522"/>
                  </a:lnTo>
                  <a:lnTo>
                    <a:pt x="5019167" y="806729"/>
                  </a:lnTo>
                  <a:lnTo>
                    <a:pt x="5016576" y="811885"/>
                  </a:lnTo>
                  <a:lnTo>
                    <a:pt x="5013858" y="816965"/>
                  </a:lnTo>
                  <a:lnTo>
                    <a:pt x="5011140" y="822058"/>
                  </a:lnTo>
                  <a:lnTo>
                    <a:pt x="4989563" y="856132"/>
                  </a:lnTo>
                  <a:lnTo>
                    <a:pt x="4986121" y="860767"/>
                  </a:lnTo>
                  <a:lnTo>
                    <a:pt x="4982692" y="865403"/>
                  </a:lnTo>
                  <a:lnTo>
                    <a:pt x="4979136" y="869950"/>
                  </a:lnTo>
                  <a:lnTo>
                    <a:pt x="4975479" y="874407"/>
                  </a:lnTo>
                  <a:lnTo>
                    <a:pt x="4971821" y="878865"/>
                  </a:lnTo>
                  <a:lnTo>
                    <a:pt x="4944008" y="908075"/>
                  </a:lnTo>
                  <a:lnTo>
                    <a:pt x="4926634" y="923251"/>
                  </a:lnTo>
                  <a:lnTo>
                    <a:pt x="4922177" y="926909"/>
                  </a:lnTo>
                  <a:lnTo>
                    <a:pt x="4898859" y="943851"/>
                  </a:lnTo>
                  <a:lnTo>
                    <a:pt x="4894059" y="947051"/>
                  </a:lnTo>
                  <a:lnTo>
                    <a:pt x="4889195" y="950137"/>
                  </a:lnTo>
                  <a:lnTo>
                    <a:pt x="4884242" y="953096"/>
                  </a:lnTo>
                  <a:lnTo>
                    <a:pt x="4879301" y="956068"/>
                  </a:lnTo>
                  <a:lnTo>
                    <a:pt x="4843271" y="974204"/>
                  </a:lnTo>
                  <a:lnTo>
                    <a:pt x="4821796" y="982637"/>
                  </a:lnTo>
                  <a:lnTo>
                    <a:pt x="4816373" y="984580"/>
                  </a:lnTo>
                  <a:lnTo>
                    <a:pt x="4788712" y="992670"/>
                  </a:lnTo>
                  <a:lnTo>
                    <a:pt x="4783112" y="994079"/>
                  </a:lnTo>
                  <a:lnTo>
                    <a:pt x="4777486" y="995349"/>
                  </a:lnTo>
                  <a:lnTo>
                    <a:pt x="4771834" y="996467"/>
                  </a:lnTo>
                  <a:lnTo>
                    <a:pt x="4766183" y="997597"/>
                  </a:lnTo>
                  <a:lnTo>
                    <a:pt x="4737620" y="1001534"/>
                  </a:lnTo>
                  <a:lnTo>
                    <a:pt x="4731880" y="1002106"/>
                  </a:lnTo>
                  <a:lnTo>
                    <a:pt x="4726139" y="1002525"/>
                  </a:lnTo>
                  <a:lnTo>
                    <a:pt x="4720374" y="1002817"/>
                  </a:lnTo>
                  <a:lnTo>
                    <a:pt x="4714620" y="1003096"/>
                  </a:lnTo>
                  <a:lnTo>
                    <a:pt x="4708855" y="1003236"/>
                  </a:lnTo>
                  <a:lnTo>
                    <a:pt x="4703089" y="1003236"/>
                  </a:lnTo>
                  <a:lnTo>
                    <a:pt x="352374" y="1003236"/>
                  </a:lnTo>
                  <a:lnTo>
                    <a:pt x="346608" y="1003236"/>
                  </a:lnTo>
                  <a:lnTo>
                    <a:pt x="340842" y="1003096"/>
                  </a:lnTo>
                  <a:lnTo>
                    <a:pt x="335089" y="1002817"/>
                  </a:lnTo>
                  <a:lnTo>
                    <a:pt x="329323" y="1002525"/>
                  </a:lnTo>
                  <a:lnTo>
                    <a:pt x="323570" y="1002106"/>
                  </a:lnTo>
                  <a:lnTo>
                    <a:pt x="317830" y="1001534"/>
                  </a:lnTo>
                  <a:lnTo>
                    <a:pt x="312089" y="1000963"/>
                  </a:lnTo>
                  <a:lnTo>
                    <a:pt x="283629" y="996467"/>
                  </a:lnTo>
                  <a:lnTo>
                    <a:pt x="277977" y="995349"/>
                  </a:lnTo>
                  <a:lnTo>
                    <a:pt x="272351" y="994079"/>
                  </a:lnTo>
                  <a:lnTo>
                    <a:pt x="266750" y="992670"/>
                  </a:lnTo>
                  <a:lnTo>
                    <a:pt x="261162" y="991273"/>
                  </a:lnTo>
                  <a:lnTo>
                    <a:pt x="233667" y="982637"/>
                  </a:lnTo>
                  <a:lnTo>
                    <a:pt x="228231" y="980694"/>
                  </a:lnTo>
                  <a:lnTo>
                    <a:pt x="201714" y="969403"/>
                  </a:lnTo>
                  <a:lnTo>
                    <a:pt x="196494" y="966939"/>
                  </a:lnTo>
                  <a:lnTo>
                    <a:pt x="171221" y="953096"/>
                  </a:lnTo>
                  <a:lnTo>
                    <a:pt x="166268" y="950137"/>
                  </a:lnTo>
                  <a:lnTo>
                    <a:pt x="161391" y="947051"/>
                  </a:lnTo>
                  <a:lnTo>
                    <a:pt x="156603" y="943851"/>
                  </a:lnTo>
                  <a:lnTo>
                    <a:pt x="151803" y="940650"/>
                  </a:lnTo>
                  <a:lnTo>
                    <a:pt x="128828" y="923251"/>
                  </a:lnTo>
                  <a:lnTo>
                    <a:pt x="124371" y="919594"/>
                  </a:lnTo>
                  <a:lnTo>
                    <a:pt x="120002" y="915822"/>
                  </a:lnTo>
                  <a:lnTo>
                    <a:pt x="115735" y="911948"/>
                  </a:lnTo>
                  <a:lnTo>
                    <a:pt x="111455" y="908075"/>
                  </a:lnTo>
                  <a:lnTo>
                    <a:pt x="83642" y="878865"/>
                  </a:lnTo>
                  <a:lnTo>
                    <a:pt x="79984" y="874407"/>
                  </a:lnTo>
                  <a:lnTo>
                    <a:pt x="76326" y="869950"/>
                  </a:lnTo>
                  <a:lnTo>
                    <a:pt x="72770" y="865403"/>
                  </a:lnTo>
                  <a:lnTo>
                    <a:pt x="69341" y="860767"/>
                  </a:lnTo>
                  <a:lnTo>
                    <a:pt x="65900" y="856132"/>
                  </a:lnTo>
                  <a:lnTo>
                    <a:pt x="62585" y="851420"/>
                  </a:lnTo>
                  <a:lnTo>
                    <a:pt x="59385" y="846632"/>
                  </a:lnTo>
                  <a:lnTo>
                    <a:pt x="56172" y="841832"/>
                  </a:lnTo>
                  <a:lnTo>
                    <a:pt x="41605" y="816965"/>
                  </a:lnTo>
                  <a:lnTo>
                    <a:pt x="38887" y="811885"/>
                  </a:lnTo>
                  <a:lnTo>
                    <a:pt x="36296" y="806729"/>
                  </a:lnTo>
                  <a:lnTo>
                    <a:pt x="33832" y="801522"/>
                  </a:lnTo>
                  <a:lnTo>
                    <a:pt x="31356" y="796302"/>
                  </a:lnTo>
                  <a:lnTo>
                    <a:pt x="29019" y="791032"/>
                  </a:lnTo>
                  <a:lnTo>
                    <a:pt x="26822" y="785710"/>
                  </a:lnTo>
                  <a:lnTo>
                    <a:pt x="24612" y="780376"/>
                  </a:lnTo>
                  <a:lnTo>
                    <a:pt x="11950" y="742073"/>
                  </a:lnTo>
                  <a:lnTo>
                    <a:pt x="10553" y="736473"/>
                  </a:lnTo>
                  <a:lnTo>
                    <a:pt x="9156" y="730885"/>
                  </a:lnTo>
                  <a:lnTo>
                    <a:pt x="7886" y="725258"/>
                  </a:lnTo>
                  <a:lnTo>
                    <a:pt x="6769" y="719607"/>
                  </a:lnTo>
                  <a:lnTo>
                    <a:pt x="5638" y="713943"/>
                  </a:lnTo>
                  <a:lnTo>
                    <a:pt x="4660" y="708266"/>
                  </a:lnTo>
                  <a:lnTo>
                    <a:pt x="3809" y="702564"/>
                  </a:lnTo>
                  <a:lnTo>
                    <a:pt x="2959" y="696861"/>
                  </a:lnTo>
                  <a:lnTo>
                    <a:pt x="0" y="656628"/>
                  </a:lnTo>
                  <a:lnTo>
                    <a:pt x="0" y="650849"/>
                  </a:lnTo>
                  <a:lnTo>
                    <a:pt x="0" y="352374"/>
                  </a:lnTo>
                  <a:lnTo>
                    <a:pt x="0" y="346608"/>
                  </a:lnTo>
                  <a:lnTo>
                    <a:pt x="139" y="340842"/>
                  </a:lnTo>
                  <a:lnTo>
                    <a:pt x="419" y="335089"/>
                  </a:lnTo>
                  <a:lnTo>
                    <a:pt x="698" y="329323"/>
                  </a:lnTo>
                  <a:lnTo>
                    <a:pt x="3809" y="300672"/>
                  </a:lnTo>
                  <a:lnTo>
                    <a:pt x="4660" y="294970"/>
                  </a:lnTo>
                  <a:lnTo>
                    <a:pt x="5638" y="289293"/>
                  </a:lnTo>
                  <a:lnTo>
                    <a:pt x="6769" y="283629"/>
                  </a:lnTo>
                  <a:lnTo>
                    <a:pt x="7886" y="277977"/>
                  </a:lnTo>
                  <a:lnTo>
                    <a:pt x="9156" y="272351"/>
                  </a:lnTo>
                  <a:lnTo>
                    <a:pt x="10553" y="266763"/>
                  </a:lnTo>
                  <a:lnTo>
                    <a:pt x="11950" y="261162"/>
                  </a:lnTo>
                  <a:lnTo>
                    <a:pt x="20599" y="233667"/>
                  </a:lnTo>
                  <a:lnTo>
                    <a:pt x="22542" y="228231"/>
                  </a:lnTo>
                  <a:lnTo>
                    <a:pt x="24612" y="222859"/>
                  </a:lnTo>
                  <a:lnTo>
                    <a:pt x="26822" y="217525"/>
                  </a:lnTo>
                  <a:lnTo>
                    <a:pt x="29019" y="212204"/>
                  </a:lnTo>
                  <a:lnTo>
                    <a:pt x="31356" y="206933"/>
                  </a:lnTo>
                  <a:lnTo>
                    <a:pt x="33832" y="201714"/>
                  </a:lnTo>
                  <a:lnTo>
                    <a:pt x="36296" y="196507"/>
                  </a:lnTo>
                  <a:lnTo>
                    <a:pt x="38887" y="191350"/>
                  </a:lnTo>
                  <a:lnTo>
                    <a:pt x="41605" y="186270"/>
                  </a:lnTo>
                  <a:lnTo>
                    <a:pt x="44322" y="181178"/>
                  </a:lnTo>
                  <a:lnTo>
                    <a:pt x="59385" y="156603"/>
                  </a:lnTo>
                  <a:lnTo>
                    <a:pt x="62585" y="151815"/>
                  </a:lnTo>
                  <a:lnTo>
                    <a:pt x="65900" y="147104"/>
                  </a:lnTo>
                  <a:lnTo>
                    <a:pt x="69341" y="142468"/>
                  </a:lnTo>
                  <a:lnTo>
                    <a:pt x="72770" y="137833"/>
                  </a:lnTo>
                  <a:lnTo>
                    <a:pt x="76326" y="133286"/>
                  </a:lnTo>
                  <a:lnTo>
                    <a:pt x="79984" y="128828"/>
                  </a:lnTo>
                  <a:lnTo>
                    <a:pt x="83642" y="124371"/>
                  </a:lnTo>
                  <a:lnTo>
                    <a:pt x="111455" y="95161"/>
                  </a:lnTo>
                  <a:lnTo>
                    <a:pt x="115735" y="91287"/>
                  </a:lnTo>
                  <a:lnTo>
                    <a:pt x="120002" y="87414"/>
                  </a:lnTo>
                  <a:lnTo>
                    <a:pt x="124371" y="83642"/>
                  </a:lnTo>
                  <a:lnTo>
                    <a:pt x="128828" y="79984"/>
                  </a:lnTo>
                  <a:lnTo>
                    <a:pt x="133286" y="76327"/>
                  </a:lnTo>
                  <a:lnTo>
                    <a:pt x="156603" y="59385"/>
                  </a:lnTo>
                  <a:lnTo>
                    <a:pt x="161391" y="56184"/>
                  </a:lnTo>
                  <a:lnTo>
                    <a:pt x="166268" y="53098"/>
                  </a:lnTo>
                  <a:lnTo>
                    <a:pt x="171221" y="50139"/>
                  </a:lnTo>
                  <a:lnTo>
                    <a:pt x="176161" y="47167"/>
                  </a:lnTo>
                  <a:lnTo>
                    <a:pt x="201714" y="33832"/>
                  </a:lnTo>
                  <a:lnTo>
                    <a:pt x="206921" y="31369"/>
                  </a:lnTo>
                  <a:lnTo>
                    <a:pt x="212191" y="29032"/>
                  </a:lnTo>
                  <a:lnTo>
                    <a:pt x="217525" y="26822"/>
                  </a:lnTo>
                  <a:lnTo>
                    <a:pt x="222846" y="24612"/>
                  </a:lnTo>
                  <a:lnTo>
                    <a:pt x="228231" y="22542"/>
                  </a:lnTo>
                  <a:lnTo>
                    <a:pt x="233667" y="20599"/>
                  </a:lnTo>
                  <a:lnTo>
                    <a:pt x="239090" y="18656"/>
                  </a:lnTo>
                  <a:lnTo>
                    <a:pt x="244563" y="16852"/>
                  </a:lnTo>
                  <a:lnTo>
                    <a:pt x="250088" y="15176"/>
                  </a:lnTo>
                  <a:lnTo>
                    <a:pt x="255600" y="13500"/>
                  </a:lnTo>
                  <a:lnTo>
                    <a:pt x="261162" y="11963"/>
                  </a:lnTo>
                  <a:lnTo>
                    <a:pt x="266750" y="10566"/>
                  </a:lnTo>
                  <a:lnTo>
                    <a:pt x="272351" y="9156"/>
                  </a:lnTo>
                  <a:lnTo>
                    <a:pt x="312089" y="2260"/>
                  </a:lnTo>
                  <a:lnTo>
                    <a:pt x="317830" y="1701"/>
                  </a:lnTo>
                  <a:lnTo>
                    <a:pt x="323570" y="1130"/>
                  </a:lnTo>
                  <a:lnTo>
                    <a:pt x="329323" y="711"/>
                  </a:lnTo>
                  <a:lnTo>
                    <a:pt x="335089" y="419"/>
                  </a:lnTo>
                  <a:lnTo>
                    <a:pt x="340842" y="139"/>
                  </a:lnTo>
                  <a:lnTo>
                    <a:pt x="346608" y="0"/>
                  </a:lnTo>
                  <a:lnTo>
                    <a:pt x="352374" y="0"/>
                  </a:lnTo>
                  <a:close/>
                </a:path>
              </a:pathLst>
            </a:custGeom>
            <a:ln w="4992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" name="object 28"/>
          <p:cNvSpPr txBox="1"/>
          <p:nvPr/>
        </p:nvSpPr>
        <p:spPr>
          <a:xfrm>
            <a:off x="1676363" y="7556025"/>
            <a:ext cx="10652125" cy="1305560"/>
          </a:xfrm>
          <a:prstGeom prst="rect">
            <a:avLst/>
          </a:prstGeom>
        </p:spPr>
        <p:txBody>
          <a:bodyPr vert="horz" wrap="square" lIns="0" tIns="958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5"/>
              </a:spcBef>
            </a:pPr>
            <a:r>
              <a:rPr sz="3650" dirty="0">
                <a:latin typeface="Magallanes"/>
                <a:cs typeface="Magallanes"/>
              </a:rPr>
              <a:t>AI</a:t>
            </a:r>
            <a:r>
              <a:rPr sz="3650" spc="-10" dirty="0">
                <a:latin typeface="Magallanes"/>
                <a:cs typeface="Magallanes"/>
              </a:rPr>
              <a:t> </a:t>
            </a:r>
            <a:r>
              <a:rPr sz="3650" dirty="0">
                <a:latin typeface="Magallanes"/>
                <a:cs typeface="Magallanes"/>
              </a:rPr>
              <a:t>Security</a:t>
            </a:r>
            <a:r>
              <a:rPr sz="3650" spc="-90" dirty="0">
                <a:latin typeface="Magallanes"/>
                <a:cs typeface="Magallanes"/>
              </a:rPr>
              <a:t> </a:t>
            </a:r>
            <a:r>
              <a:rPr sz="3650" spc="-10" dirty="0">
                <a:latin typeface="Magallanes"/>
                <a:cs typeface="Magallanes"/>
              </a:rPr>
              <a:t>Guardrails</a:t>
            </a:r>
            <a:endParaRPr sz="3650">
              <a:latin typeface="Magallanes"/>
              <a:cs typeface="Magallanes"/>
            </a:endParaRPr>
          </a:p>
          <a:p>
            <a:pPr marL="6256020">
              <a:lnSpc>
                <a:spcPct val="100000"/>
              </a:lnSpc>
              <a:spcBef>
                <a:spcPts val="655"/>
              </a:spcBef>
            </a:pPr>
            <a:r>
              <a:rPr sz="3650" dirty="0">
                <a:latin typeface="Magallanes"/>
                <a:cs typeface="Magallanes"/>
              </a:rPr>
              <a:t>AI</a:t>
            </a:r>
            <a:r>
              <a:rPr sz="3650" spc="-10" dirty="0">
                <a:latin typeface="Magallanes"/>
                <a:cs typeface="Magallanes"/>
              </a:rPr>
              <a:t> </a:t>
            </a:r>
            <a:r>
              <a:rPr sz="3650" dirty="0">
                <a:latin typeface="Magallanes"/>
                <a:cs typeface="Magallanes"/>
              </a:rPr>
              <a:t>Business</a:t>
            </a:r>
            <a:r>
              <a:rPr sz="3650" spc="-100" dirty="0">
                <a:latin typeface="Magallanes"/>
                <a:cs typeface="Magallanes"/>
              </a:rPr>
              <a:t> </a:t>
            </a:r>
            <a:r>
              <a:rPr sz="3650" spc="-10" dirty="0">
                <a:latin typeface="Magallanes"/>
                <a:cs typeface="Magallanes"/>
              </a:rPr>
              <a:t>Analyst</a:t>
            </a:r>
            <a:endParaRPr sz="3650">
              <a:latin typeface="Magallanes"/>
              <a:cs typeface="Magallanes"/>
            </a:endParaRPr>
          </a:p>
        </p:txBody>
      </p:sp>
      <p:pic>
        <p:nvPicPr>
          <p:cNvPr id="29" name="object 29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237894" y="2827532"/>
            <a:ext cx="7390549" cy="4233921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76260" rIns="0" bIns="0" rtlCol="0">
            <a:spAutoFit/>
          </a:bodyPr>
          <a:lstStyle/>
          <a:p>
            <a:pPr marL="219075">
              <a:lnSpc>
                <a:spcPct val="100000"/>
              </a:lnSpc>
              <a:spcBef>
                <a:spcPts val="100"/>
              </a:spcBef>
            </a:pPr>
            <a:r>
              <a:rPr dirty="0">
                <a:latin typeface="Times New Roman"/>
                <a:cs typeface="Times New Roman"/>
              </a:rPr>
              <a:t>7.</a:t>
            </a:r>
            <a:r>
              <a:rPr spc="-85" dirty="0">
                <a:latin typeface="Times New Roman"/>
                <a:cs typeface="Times New Roman"/>
              </a:rPr>
              <a:t> </a:t>
            </a:r>
            <a:r>
              <a:rPr spc="-20" dirty="0">
                <a:latin typeface="Times New Roman"/>
                <a:cs typeface="Times New Roman"/>
              </a:rPr>
              <a:t>PERT</a:t>
            </a:r>
            <a:r>
              <a:rPr spc="-170" dirty="0">
                <a:latin typeface="Times New Roman"/>
                <a:cs typeface="Times New Roman"/>
              </a:rPr>
              <a:t> </a:t>
            </a:r>
            <a:r>
              <a:rPr spc="-10" dirty="0">
                <a:latin typeface="Times New Roman"/>
                <a:cs typeface="Times New Roman"/>
              </a:rPr>
              <a:t>Chart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92285" y="1456490"/>
            <a:ext cx="12658721" cy="843914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23199" y="2697611"/>
            <a:ext cx="14050644" cy="3713479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93700" indent="-381000">
              <a:lnSpc>
                <a:spcPts val="4165"/>
              </a:lnSpc>
              <a:spcBef>
                <a:spcPts val="130"/>
              </a:spcBef>
              <a:buFont typeface="Times New Roman"/>
              <a:buChar char="•"/>
              <a:tabLst>
                <a:tab pos="393700" algn="l"/>
              </a:tabLst>
            </a:pPr>
            <a:r>
              <a:rPr sz="3500" dirty="0">
                <a:latin typeface="Times New Roman"/>
                <a:cs typeface="Times New Roman"/>
              </a:rPr>
              <a:t>RetailPulse</a:t>
            </a:r>
            <a:r>
              <a:rPr sz="3500" spc="50" dirty="0">
                <a:latin typeface="Times New Roman"/>
                <a:cs typeface="Times New Roman"/>
              </a:rPr>
              <a:t> </a:t>
            </a:r>
            <a:r>
              <a:rPr sz="3500" dirty="0">
                <a:latin typeface="Times New Roman"/>
                <a:cs typeface="Times New Roman"/>
              </a:rPr>
              <a:t>integrates</a:t>
            </a:r>
            <a:r>
              <a:rPr sz="3500" spc="55" dirty="0">
                <a:latin typeface="Times New Roman"/>
                <a:cs typeface="Times New Roman"/>
              </a:rPr>
              <a:t> </a:t>
            </a:r>
            <a:r>
              <a:rPr sz="3500" dirty="0">
                <a:latin typeface="Times New Roman"/>
                <a:cs typeface="Times New Roman"/>
              </a:rPr>
              <a:t>multi-source</a:t>
            </a:r>
            <a:r>
              <a:rPr sz="3500" spc="55" dirty="0">
                <a:latin typeface="Times New Roman"/>
                <a:cs typeface="Times New Roman"/>
              </a:rPr>
              <a:t> </a:t>
            </a:r>
            <a:r>
              <a:rPr sz="3500" dirty="0">
                <a:latin typeface="Times New Roman"/>
                <a:cs typeface="Times New Roman"/>
              </a:rPr>
              <a:t>e-commerce</a:t>
            </a:r>
            <a:r>
              <a:rPr sz="3500" spc="55" dirty="0">
                <a:latin typeface="Times New Roman"/>
                <a:cs typeface="Times New Roman"/>
              </a:rPr>
              <a:t> </a:t>
            </a:r>
            <a:r>
              <a:rPr sz="3500" dirty="0">
                <a:latin typeface="Times New Roman"/>
                <a:cs typeface="Times New Roman"/>
              </a:rPr>
              <a:t>data</a:t>
            </a:r>
            <a:r>
              <a:rPr sz="3500" spc="55" dirty="0">
                <a:latin typeface="Times New Roman"/>
                <a:cs typeface="Times New Roman"/>
              </a:rPr>
              <a:t> </a:t>
            </a:r>
            <a:r>
              <a:rPr sz="3500" dirty="0">
                <a:latin typeface="Times New Roman"/>
                <a:cs typeface="Times New Roman"/>
              </a:rPr>
              <a:t>into</a:t>
            </a:r>
            <a:r>
              <a:rPr sz="3500" spc="50" dirty="0">
                <a:latin typeface="Times New Roman"/>
                <a:cs typeface="Times New Roman"/>
              </a:rPr>
              <a:t> </a:t>
            </a:r>
            <a:r>
              <a:rPr sz="3500" dirty="0">
                <a:latin typeface="Times New Roman"/>
                <a:cs typeface="Times New Roman"/>
              </a:rPr>
              <a:t>a</a:t>
            </a:r>
            <a:r>
              <a:rPr sz="3500" spc="55" dirty="0">
                <a:latin typeface="Times New Roman"/>
                <a:cs typeface="Times New Roman"/>
              </a:rPr>
              <a:t> </a:t>
            </a:r>
            <a:r>
              <a:rPr sz="3500" dirty="0">
                <a:latin typeface="Times New Roman"/>
                <a:cs typeface="Times New Roman"/>
              </a:rPr>
              <a:t>unified</a:t>
            </a:r>
            <a:r>
              <a:rPr sz="3500" spc="55" dirty="0">
                <a:latin typeface="Times New Roman"/>
                <a:cs typeface="Times New Roman"/>
              </a:rPr>
              <a:t> </a:t>
            </a:r>
            <a:r>
              <a:rPr sz="3500" spc="-10" dirty="0">
                <a:latin typeface="Times New Roman"/>
                <a:cs typeface="Times New Roman"/>
              </a:rPr>
              <a:t>pipeline.</a:t>
            </a:r>
            <a:endParaRPr sz="3500">
              <a:latin typeface="Times New Roman"/>
              <a:cs typeface="Times New Roman"/>
            </a:endParaRPr>
          </a:p>
          <a:p>
            <a:pPr marL="393700" indent="-381000">
              <a:lnSpc>
                <a:spcPts val="4135"/>
              </a:lnSpc>
              <a:buFont typeface="Times New Roman"/>
              <a:buChar char="•"/>
              <a:tabLst>
                <a:tab pos="393700" algn="l"/>
              </a:tabLst>
            </a:pPr>
            <a:r>
              <a:rPr sz="3500" dirty="0">
                <a:latin typeface="Times New Roman"/>
                <a:cs typeface="Times New Roman"/>
              </a:rPr>
              <a:t>Automated</a:t>
            </a:r>
            <a:r>
              <a:rPr sz="3500" spc="20" dirty="0">
                <a:latin typeface="Times New Roman"/>
                <a:cs typeface="Times New Roman"/>
              </a:rPr>
              <a:t> </a:t>
            </a:r>
            <a:r>
              <a:rPr sz="3500" dirty="0">
                <a:latin typeface="Times New Roman"/>
                <a:cs typeface="Times New Roman"/>
              </a:rPr>
              <a:t>validation</a:t>
            </a:r>
            <a:r>
              <a:rPr sz="3500" spc="25" dirty="0">
                <a:latin typeface="Times New Roman"/>
                <a:cs typeface="Times New Roman"/>
              </a:rPr>
              <a:t> </a:t>
            </a:r>
            <a:r>
              <a:rPr sz="3500" dirty="0">
                <a:latin typeface="Times New Roman"/>
                <a:cs typeface="Times New Roman"/>
              </a:rPr>
              <a:t>and</a:t>
            </a:r>
            <a:r>
              <a:rPr sz="3500" spc="25" dirty="0">
                <a:latin typeface="Times New Roman"/>
                <a:cs typeface="Times New Roman"/>
              </a:rPr>
              <a:t> </a:t>
            </a:r>
            <a:r>
              <a:rPr sz="3500" dirty="0">
                <a:latin typeface="Times New Roman"/>
                <a:cs typeface="Times New Roman"/>
              </a:rPr>
              <a:t>Data</a:t>
            </a:r>
            <a:r>
              <a:rPr sz="3500" spc="-45" dirty="0">
                <a:latin typeface="Times New Roman"/>
                <a:cs typeface="Times New Roman"/>
              </a:rPr>
              <a:t> </a:t>
            </a:r>
            <a:r>
              <a:rPr sz="3500" spc="-25" dirty="0">
                <a:latin typeface="Times New Roman"/>
                <a:cs typeface="Times New Roman"/>
              </a:rPr>
              <a:t>Trust</a:t>
            </a:r>
            <a:r>
              <a:rPr sz="3500" spc="-175" dirty="0">
                <a:latin typeface="Times New Roman"/>
                <a:cs typeface="Times New Roman"/>
              </a:rPr>
              <a:t> </a:t>
            </a:r>
            <a:r>
              <a:rPr sz="3500" dirty="0">
                <a:latin typeface="Times New Roman"/>
                <a:cs typeface="Times New Roman"/>
              </a:rPr>
              <a:t>Assessment</a:t>
            </a:r>
            <a:r>
              <a:rPr sz="3500" spc="20" dirty="0">
                <a:latin typeface="Times New Roman"/>
                <a:cs typeface="Times New Roman"/>
              </a:rPr>
              <a:t> </a:t>
            </a:r>
            <a:r>
              <a:rPr sz="3500" dirty="0">
                <a:latin typeface="Times New Roman"/>
                <a:cs typeface="Times New Roman"/>
              </a:rPr>
              <a:t>improve</a:t>
            </a:r>
            <a:r>
              <a:rPr sz="3500" spc="25" dirty="0">
                <a:latin typeface="Times New Roman"/>
                <a:cs typeface="Times New Roman"/>
              </a:rPr>
              <a:t> </a:t>
            </a:r>
            <a:r>
              <a:rPr sz="3500" spc="-10" dirty="0">
                <a:latin typeface="Times New Roman"/>
                <a:cs typeface="Times New Roman"/>
              </a:rPr>
              <a:t>reliability.</a:t>
            </a:r>
            <a:endParaRPr sz="3500">
              <a:latin typeface="Times New Roman"/>
              <a:cs typeface="Times New Roman"/>
            </a:endParaRPr>
          </a:p>
          <a:p>
            <a:pPr marL="393700" indent="-381000">
              <a:lnSpc>
                <a:spcPts val="4135"/>
              </a:lnSpc>
              <a:buFont typeface="Times New Roman"/>
              <a:buChar char="•"/>
              <a:tabLst>
                <a:tab pos="393700" algn="l"/>
              </a:tabLst>
            </a:pPr>
            <a:r>
              <a:rPr sz="3500" dirty="0">
                <a:latin typeface="Times New Roman"/>
                <a:cs typeface="Times New Roman"/>
              </a:rPr>
              <a:t>ML</a:t>
            </a:r>
            <a:r>
              <a:rPr sz="3500" spc="-95" dirty="0">
                <a:latin typeface="Times New Roman"/>
                <a:cs typeface="Times New Roman"/>
              </a:rPr>
              <a:t> </a:t>
            </a:r>
            <a:r>
              <a:rPr sz="3500" dirty="0">
                <a:latin typeface="Times New Roman"/>
                <a:cs typeface="Times New Roman"/>
              </a:rPr>
              <a:t>models</a:t>
            </a:r>
            <a:r>
              <a:rPr sz="3500" spc="40" dirty="0">
                <a:latin typeface="Times New Roman"/>
                <a:cs typeface="Times New Roman"/>
              </a:rPr>
              <a:t> </a:t>
            </a:r>
            <a:r>
              <a:rPr sz="3500" dirty="0">
                <a:latin typeface="Times New Roman"/>
                <a:cs typeface="Times New Roman"/>
              </a:rPr>
              <a:t>enable</a:t>
            </a:r>
            <a:r>
              <a:rPr sz="3500" spc="40" dirty="0">
                <a:latin typeface="Times New Roman"/>
                <a:cs typeface="Times New Roman"/>
              </a:rPr>
              <a:t> </a:t>
            </a:r>
            <a:r>
              <a:rPr sz="3500" dirty="0">
                <a:latin typeface="Times New Roman"/>
                <a:cs typeface="Times New Roman"/>
              </a:rPr>
              <a:t>forecasting,</a:t>
            </a:r>
            <a:r>
              <a:rPr sz="3500" spc="40" dirty="0">
                <a:latin typeface="Times New Roman"/>
                <a:cs typeface="Times New Roman"/>
              </a:rPr>
              <a:t> </a:t>
            </a:r>
            <a:r>
              <a:rPr sz="3500" dirty="0">
                <a:latin typeface="Times New Roman"/>
                <a:cs typeface="Times New Roman"/>
              </a:rPr>
              <a:t>inventory</a:t>
            </a:r>
            <a:r>
              <a:rPr sz="3500" spc="40" dirty="0">
                <a:latin typeface="Times New Roman"/>
                <a:cs typeface="Times New Roman"/>
              </a:rPr>
              <a:t> </a:t>
            </a:r>
            <a:r>
              <a:rPr sz="3500" dirty="0">
                <a:latin typeface="Times New Roman"/>
                <a:cs typeface="Times New Roman"/>
              </a:rPr>
              <a:t>prediction</a:t>
            </a:r>
            <a:r>
              <a:rPr sz="3500" spc="40" dirty="0">
                <a:latin typeface="Times New Roman"/>
                <a:cs typeface="Times New Roman"/>
              </a:rPr>
              <a:t> </a:t>
            </a:r>
            <a:r>
              <a:rPr sz="3500" dirty="0">
                <a:latin typeface="Times New Roman"/>
                <a:cs typeface="Times New Roman"/>
              </a:rPr>
              <a:t>and</a:t>
            </a:r>
            <a:r>
              <a:rPr sz="3500" spc="45" dirty="0">
                <a:latin typeface="Times New Roman"/>
                <a:cs typeface="Times New Roman"/>
              </a:rPr>
              <a:t> </a:t>
            </a:r>
            <a:r>
              <a:rPr sz="3500" dirty="0">
                <a:latin typeface="Times New Roman"/>
                <a:cs typeface="Times New Roman"/>
              </a:rPr>
              <a:t>anomaly</a:t>
            </a:r>
            <a:r>
              <a:rPr sz="3500" spc="40" dirty="0">
                <a:latin typeface="Times New Roman"/>
                <a:cs typeface="Times New Roman"/>
              </a:rPr>
              <a:t> </a:t>
            </a:r>
            <a:r>
              <a:rPr sz="3500" spc="-10" dirty="0">
                <a:latin typeface="Times New Roman"/>
                <a:cs typeface="Times New Roman"/>
              </a:rPr>
              <a:t>detection.</a:t>
            </a:r>
            <a:endParaRPr sz="3500">
              <a:latin typeface="Times New Roman"/>
              <a:cs typeface="Times New Roman"/>
            </a:endParaRPr>
          </a:p>
          <a:p>
            <a:pPr marL="393700" indent="-381000">
              <a:lnSpc>
                <a:spcPts val="4135"/>
              </a:lnSpc>
              <a:buFont typeface="Times New Roman"/>
              <a:buChar char="•"/>
              <a:tabLst>
                <a:tab pos="393700" algn="l"/>
              </a:tabLst>
            </a:pPr>
            <a:r>
              <a:rPr sz="3500" dirty="0">
                <a:latin typeface="Times New Roman"/>
                <a:cs typeface="Times New Roman"/>
              </a:rPr>
              <a:t>An</a:t>
            </a:r>
            <a:r>
              <a:rPr sz="3500" spc="-155" dirty="0">
                <a:latin typeface="Times New Roman"/>
                <a:cs typeface="Times New Roman"/>
              </a:rPr>
              <a:t> </a:t>
            </a:r>
            <a:r>
              <a:rPr sz="3500" dirty="0">
                <a:latin typeface="Times New Roman"/>
                <a:cs typeface="Times New Roman"/>
              </a:rPr>
              <a:t>AI</a:t>
            </a:r>
            <a:r>
              <a:rPr sz="3500" spc="60" dirty="0">
                <a:latin typeface="Times New Roman"/>
                <a:cs typeface="Times New Roman"/>
              </a:rPr>
              <a:t> </a:t>
            </a:r>
            <a:r>
              <a:rPr sz="3500" spc="-10" dirty="0">
                <a:latin typeface="Times New Roman"/>
                <a:cs typeface="Times New Roman"/>
              </a:rPr>
              <a:t>Business</a:t>
            </a:r>
            <a:r>
              <a:rPr sz="3500" spc="-150" dirty="0">
                <a:latin typeface="Times New Roman"/>
                <a:cs typeface="Times New Roman"/>
              </a:rPr>
              <a:t> </a:t>
            </a:r>
            <a:r>
              <a:rPr sz="3500" dirty="0">
                <a:latin typeface="Times New Roman"/>
                <a:cs typeface="Times New Roman"/>
              </a:rPr>
              <a:t>Analyst</a:t>
            </a:r>
            <a:r>
              <a:rPr sz="3500" spc="55" dirty="0">
                <a:latin typeface="Times New Roman"/>
                <a:cs typeface="Times New Roman"/>
              </a:rPr>
              <a:t> </a:t>
            </a:r>
            <a:r>
              <a:rPr sz="3500" dirty="0">
                <a:latin typeface="Times New Roman"/>
                <a:cs typeface="Times New Roman"/>
              </a:rPr>
              <a:t>provides</a:t>
            </a:r>
            <a:r>
              <a:rPr sz="3500" spc="55" dirty="0">
                <a:latin typeface="Times New Roman"/>
                <a:cs typeface="Times New Roman"/>
              </a:rPr>
              <a:t> </a:t>
            </a:r>
            <a:r>
              <a:rPr sz="3500" dirty="0">
                <a:latin typeface="Times New Roman"/>
                <a:cs typeface="Times New Roman"/>
              </a:rPr>
              <a:t>explainable,</a:t>
            </a:r>
            <a:r>
              <a:rPr sz="3500" spc="55" dirty="0">
                <a:latin typeface="Times New Roman"/>
                <a:cs typeface="Times New Roman"/>
              </a:rPr>
              <a:t> </a:t>
            </a:r>
            <a:r>
              <a:rPr sz="3500" dirty="0">
                <a:latin typeface="Times New Roman"/>
                <a:cs typeface="Times New Roman"/>
              </a:rPr>
              <a:t>evidence-based</a:t>
            </a:r>
            <a:r>
              <a:rPr sz="3500" spc="55" dirty="0">
                <a:latin typeface="Times New Roman"/>
                <a:cs typeface="Times New Roman"/>
              </a:rPr>
              <a:t> </a:t>
            </a:r>
            <a:r>
              <a:rPr sz="3500" spc="-10" dirty="0">
                <a:latin typeface="Times New Roman"/>
                <a:cs typeface="Times New Roman"/>
              </a:rPr>
              <a:t>insights.</a:t>
            </a:r>
            <a:endParaRPr sz="3500">
              <a:latin typeface="Times New Roman"/>
              <a:cs typeface="Times New Roman"/>
            </a:endParaRPr>
          </a:p>
          <a:p>
            <a:pPr marL="393700" indent="-381000">
              <a:lnSpc>
                <a:spcPts val="4135"/>
              </a:lnSpc>
              <a:buFont typeface="Times New Roman"/>
              <a:buChar char="•"/>
              <a:tabLst>
                <a:tab pos="393700" algn="l"/>
              </a:tabLst>
            </a:pPr>
            <a:r>
              <a:rPr sz="3500" dirty="0">
                <a:latin typeface="Times New Roman"/>
                <a:cs typeface="Times New Roman"/>
              </a:rPr>
              <a:t>Security</a:t>
            </a:r>
            <a:r>
              <a:rPr sz="3500" spc="35" dirty="0">
                <a:latin typeface="Times New Roman"/>
                <a:cs typeface="Times New Roman"/>
              </a:rPr>
              <a:t> </a:t>
            </a:r>
            <a:r>
              <a:rPr sz="3500" dirty="0">
                <a:latin typeface="Times New Roman"/>
                <a:cs typeface="Times New Roman"/>
              </a:rPr>
              <a:t>guardrails</a:t>
            </a:r>
            <a:r>
              <a:rPr sz="3500" spc="35" dirty="0">
                <a:latin typeface="Times New Roman"/>
                <a:cs typeface="Times New Roman"/>
              </a:rPr>
              <a:t> </a:t>
            </a:r>
            <a:r>
              <a:rPr sz="3500" dirty="0">
                <a:latin typeface="Times New Roman"/>
                <a:cs typeface="Times New Roman"/>
              </a:rPr>
              <a:t>ensure</a:t>
            </a:r>
            <a:r>
              <a:rPr sz="3500" spc="35" dirty="0">
                <a:latin typeface="Times New Roman"/>
                <a:cs typeface="Times New Roman"/>
              </a:rPr>
              <a:t> </a:t>
            </a:r>
            <a:r>
              <a:rPr sz="3500" dirty="0">
                <a:latin typeface="Times New Roman"/>
                <a:cs typeface="Times New Roman"/>
              </a:rPr>
              <a:t>safer</a:t>
            </a:r>
            <a:r>
              <a:rPr sz="3500" spc="35" dirty="0">
                <a:latin typeface="Times New Roman"/>
                <a:cs typeface="Times New Roman"/>
              </a:rPr>
              <a:t> </a:t>
            </a:r>
            <a:r>
              <a:rPr sz="3500" dirty="0">
                <a:latin typeface="Times New Roman"/>
                <a:cs typeface="Times New Roman"/>
              </a:rPr>
              <a:t>interaction</a:t>
            </a:r>
            <a:r>
              <a:rPr sz="3500" spc="40" dirty="0">
                <a:latin typeface="Times New Roman"/>
                <a:cs typeface="Times New Roman"/>
              </a:rPr>
              <a:t> </a:t>
            </a:r>
            <a:r>
              <a:rPr sz="3500" dirty="0">
                <a:latin typeface="Times New Roman"/>
                <a:cs typeface="Times New Roman"/>
              </a:rPr>
              <a:t>between</a:t>
            </a:r>
            <a:r>
              <a:rPr sz="3500" spc="-170" dirty="0">
                <a:latin typeface="Times New Roman"/>
                <a:cs typeface="Times New Roman"/>
              </a:rPr>
              <a:t> </a:t>
            </a:r>
            <a:r>
              <a:rPr sz="3500" dirty="0">
                <a:latin typeface="Times New Roman"/>
                <a:cs typeface="Times New Roman"/>
              </a:rPr>
              <a:t>AI</a:t>
            </a:r>
            <a:r>
              <a:rPr sz="3500" spc="40" dirty="0">
                <a:latin typeface="Times New Roman"/>
                <a:cs typeface="Times New Roman"/>
              </a:rPr>
              <a:t> </a:t>
            </a:r>
            <a:r>
              <a:rPr sz="3500" dirty="0">
                <a:latin typeface="Times New Roman"/>
                <a:cs typeface="Times New Roman"/>
              </a:rPr>
              <a:t>and</a:t>
            </a:r>
            <a:r>
              <a:rPr sz="3500" spc="35" dirty="0">
                <a:latin typeface="Times New Roman"/>
                <a:cs typeface="Times New Roman"/>
              </a:rPr>
              <a:t> </a:t>
            </a:r>
            <a:r>
              <a:rPr sz="3500" dirty="0">
                <a:latin typeface="Times New Roman"/>
                <a:cs typeface="Times New Roman"/>
              </a:rPr>
              <a:t>business</a:t>
            </a:r>
            <a:r>
              <a:rPr sz="3500" spc="35" dirty="0">
                <a:latin typeface="Times New Roman"/>
                <a:cs typeface="Times New Roman"/>
              </a:rPr>
              <a:t> </a:t>
            </a:r>
            <a:r>
              <a:rPr sz="3500" spc="-10" dirty="0">
                <a:latin typeface="Times New Roman"/>
                <a:cs typeface="Times New Roman"/>
              </a:rPr>
              <a:t>data.</a:t>
            </a:r>
            <a:endParaRPr sz="3500">
              <a:latin typeface="Times New Roman"/>
              <a:cs typeface="Times New Roman"/>
            </a:endParaRPr>
          </a:p>
          <a:p>
            <a:pPr marL="393700" marR="191135" indent="-381635">
              <a:lnSpc>
                <a:spcPts val="4130"/>
              </a:lnSpc>
              <a:spcBef>
                <a:spcPts val="150"/>
              </a:spcBef>
              <a:buFont typeface="Times New Roman"/>
              <a:buChar char="•"/>
              <a:tabLst>
                <a:tab pos="393700" algn="l"/>
              </a:tabLst>
            </a:pPr>
            <a:r>
              <a:rPr sz="3500" dirty="0">
                <a:latin typeface="Times New Roman"/>
                <a:cs typeface="Times New Roman"/>
              </a:rPr>
              <a:t>The</a:t>
            </a:r>
            <a:r>
              <a:rPr sz="3500" spc="10" dirty="0">
                <a:latin typeface="Times New Roman"/>
                <a:cs typeface="Times New Roman"/>
              </a:rPr>
              <a:t> </a:t>
            </a:r>
            <a:r>
              <a:rPr sz="3500" dirty="0">
                <a:latin typeface="Times New Roman"/>
                <a:cs typeface="Times New Roman"/>
              </a:rPr>
              <a:t>final</a:t>
            </a:r>
            <a:r>
              <a:rPr sz="3500" spc="10" dirty="0">
                <a:latin typeface="Times New Roman"/>
                <a:cs typeface="Times New Roman"/>
              </a:rPr>
              <a:t> </a:t>
            </a:r>
            <a:r>
              <a:rPr sz="3500" dirty="0">
                <a:latin typeface="Times New Roman"/>
                <a:cs typeface="Times New Roman"/>
              </a:rPr>
              <a:t>system</a:t>
            </a:r>
            <a:r>
              <a:rPr sz="3500" spc="15" dirty="0">
                <a:latin typeface="Times New Roman"/>
                <a:cs typeface="Times New Roman"/>
              </a:rPr>
              <a:t> </a:t>
            </a:r>
            <a:r>
              <a:rPr sz="3500" dirty="0">
                <a:latin typeface="Times New Roman"/>
                <a:cs typeface="Times New Roman"/>
              </a:rPr>
              <a:t>supports</a:t>
            </a:r>
            <a:r>
              <a:rPr sz="3500" spc="10" dirty="0">
                <a:latin typeface="Times New Roman"/>
                <a:cs typeface="Times New Roman"/>
              </a:rPr>
              <a:t> </a:t>
            </a:r>
            <a:r>
              <a:rPr sz="3500" dirty="0">
                <a:latin typeface="Times New Roman"/>
                <a:cs typeface="Times New Roman"/>
              </a:rPr>
              <a:t>analytics,</a:t>
            </a:r>
            <a:r>
              <a:rPr sz="3500" spc="10" dirty="0">
                <a:latin typeface="Times New Roman"/>
                <a:cs typeface="Times New Roman"/>
              </a:rPr>
              <a:t> </a:t>
            </a:r>
            <a:r>
              <a:rPr sz="3500" dirty="0">
                <a:latin typeface="Times New Roman"/>
                <a:cs typeface="Times New Roman"/>
              </a:rPr>
              <a:t>prediction</a:t>
            </a:r>
            <a:r>
              <a:rPr sz="3500" spc="10" dirty="0">
                <a:latin typeface="Times New Roman"/>
                <a:cs typeface="Times New Roman"/>
              </a:rPr>
              <a:t> </a:t>
            </a:r>
            <a:r>
              <a:rPr sz="3500" dirty="0">
                <a:latin typeface="Times New Roman"/>
                <a:cs typeface="Times New Roman"/>
              </a:rPr>
              <a:t>and</a:t>
            </a:r>
            <a:r>
              <a:rPr sz="3500" spc="15" dirty="0">
                <a:latin typeface="Times New Roman"/>
                <a:cs typeface="Times New Roman"/>
              </a:rPr>
              <a:t> </a:t>
            </a:r>
            <a:r>
              <a:rPr sz="3500" dirty="0">
                <a:latin typeface="Times New Roman"/>
                <a:cs typeface="Times New Roman"/>
              </a:rPr>
              <a:t>decision-making</a:t>
            </a:r>
            <a:r>
              <a:rPr sz="3500" spc="10" dirty="0">
                <a:latin typeface="Times New Roman"/>
                <a:cs typeface="Times New Roman"/>
              </a:rPr>
              <a:t> </a:t>
            </a:r>
            <a:r>
              <a:rPr sz="3500" dirty="0">
                <a:latin typeface="Times New Roman"/>
                <a:cs typeface="Times New Roman"/>
              </a:rPr>
              <a:t>in</a:t>
            </a:r>
            <a:r>
              <a:rPr sz="3500" spc="10" dirty="0">
                <a:latin typeface="Times New Roman"/>
                <a:cs typeface="Times New Roman"/>
              </a:rPr>
              <a:t> </a:t>
            </a:r>
            <a:r>
              <a:rPr sz="3500" spc="-25" dirty="0">
                <a:latin typeface="Times New Roman"/>
                <a:cs typeface="Times New Roman"/>
              </a:rPr>
              <a:t>one </a:t>
            </a:r>
            <a:r>
              <a:rPr sz="3500" spc="-10" dirty="0">
                <a:latin typeface="Times New Roman"/>
                <a:cs typeface="Times New Roman"/>
              </a:rPr>
              <a:t>platform.</a:t>
            </a:r>
            <a:endParaRPr sz="3500">
              <a:latin typeface="Times New Roman"/>
              <a:cs typeface="Times New Roman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97789" rIns="0" bIns="0" rtlCol="0">
            <a:spAutoFit/>
          </a:bodyPr>
          <a:lstStyle/>
          <a:p>
            <a:pPr marL="219075">
              <a:lnSpc>
                <a:spcPct val="100000"/>
              </a:lnSpc>
              <a:spcBef>
                <a:spcPts val="100"/>
              </a:spcBef>
            </a:pPr>
            <a:r>
              <a:rPr dirty="0">
                <a:latin typeface="Times New Roman"/>
                <a:cs typeface="Times New Roman"/>
              </a:rPr>
              <a:t>8. </a:t>
            </a:r>
            <a:r>
              <a:rPr spc="-10" dirty="0">
                <a:latin typeface="Times New Roman"/>
                <a:cs typeface="Times New Roman"/>
              </a:rPr>
              <a:t>Conclusion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735050" y="5715000"/>
            <a:ext cx="4346475" cy="434647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97789" rIns="0" bIns="0" rtlCol="0">
            <a:spAutoFit/>
          </a:bodyPr>
          <a:lstStyle/>
          <a:p>
            <a:pPr marL="219075">
              <a:lnSpc>
                <a:spcPct val="100000"/>
              </a:lnSpc>
              <a:spcBef>
                <a:spcPts val="100"/>
              </a:spcBef>
            </a:pPr>
            <a:r>
              <a:rPr dirty="0"/>
              <a:t>9. </a:t>
            </a:r>
            <a:r>
              <a:rPr spc="-10" dirty="0"/>
              <a:t>References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67636" y="1708309"/>
            <a:ext cx="15759430" cy="6187591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87350" indent="-374650">
              <a:lnSpc>
                <a:spcPct val="100000"/>
              </a:lnSpc>
              <a:spcBef>
                <a:spcPts val="130"/>
              </a:spcBef>
              <a:buFont typeface="Times New Roman"/>
              <a:buChar char="•"/>
              <a:tabLst>
                <a:tab pos="387350" algn="l"/>
              </a:tabLst>
            </a:pP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Allwell, Bestman &amp; </a:t>
            </a:r>
            <a:r>
              <a:rPr lang="en-IN" sz="3600" dirty="0" err="1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Uwadiegwu</a:t>
            </a: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 (2025) — Optimizing ETL Processes for Real-Time Data Warehousing</a:t>
            </a:r>
            <a:endParaRPr lang="en-I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87350" indent="-374650">
              <a:lnSpc>
                <a:spcPct val="100000"/>
              </a:lnSpc>
              <a:spcBef>
                <a:spcPts val="130"/>
              </a:spcBef>
              <a:buFont typeface="Times New Roman"/>
              <a:buChar char="•"/>
              <a:tabLst>
                <a:tab pos="387350" algn="l"/>
              </a:tabLst>
            </a:pPr>
            <a:endParaRPr lang="en-IN" sz="3600" u="heavy" dirty="0">
              <a:uFill>
                <a:solidFill>
                  <a:srgbClr val="000000"/>
                </a:solidFill>
              </a:uFill>
              <a:latin typeface="Times New Roman" panose="02020603050405020304" pitchFamily="18" charset="0"/>
              <a:cs typeface="Times New Roman" panose="02020603050405020304" pitchFamily="18" charset="0"/>
              <a:hlinkClick r:id="rId3"/>
            </a:endParaRPr>
          </a:p>
          <a:p>
            <a:pPr marL="387350" indent="-374650">
              <a:lnSpc>
                <a:spcPct val="100000"/>
              </a:lnSpc>
              <a:spcBef>
                <a:spcPts val="130"/>
              </a:spcBef>
              <a:buFont typeface="Times New Roman"/>
              <a:buChar char="•"/>
              <a:tabLst>
                <a:tab pos="387350" algn="l"/>
              </a:tabLst>
            </a:pP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Luján-Mora &amp; Palomar — Reducing Inconsistency in Integrating Data From Different Sources</a:t>
            </a:r>
            <a:endParaRPr lang="en-I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87350" indent="-374650">
              <a:lnSpc>
                <a:spcPct val="100000"/>
              </a:lnSpc>
              <a:spcBef>
                <a:spcPts val="130"/>
              </a:spcBef>
              <a:buFont typeface="Times New Roman"/>
              <a:buChar char="•"/>
              <a:tabLst>
                <a:tab pos="387350" algn="l"/>
              </a:tabLst>
            </a:pPr>
            <a:endParaRPr lang="en-IN" sz="3600" u="heavy" dirty="0">
              <a:uFill>
                <a:solidFill>
                  <a:srgbClr val="000000"/>
                </a:solidFill>
              </a:uFill>
              <a:latin typeface="Times New Roman" panose="02020603050405020304" pitchFamily="18" charset="0"/>
              <a:cs typeface="Times New Roman" panose="02020603050405020304" pitchFamily="18" charset="0"/>
              <a:hlinkClick r:id="rId5"/>
            </a:endParaRPr>
          </a:p>
          <a:p>
            <a:pPr marL="387350" indent="-374650">
              <a:lnSpc>
                <a:spcPct val="100000"/>
              </a:lnSpc>
              <a:spcBef>
                <a:spcPts val="130"/>
              </a:spcBef>
              <a:buFont typeface="Times New Roman"/>
              <a:buChar char="•"/>
              <a:tabLst>
                <a:tab pos="387350" algn="l"/>
              </a:tabLst>
            </a:pP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  <a:hlinkClick r:id="rId6"/>
              </a:rPr>
              <a:t>Hobor, Brčić, </a:t>
            </a:r>
            <a:r>
              <a:rPr lang="en-IN" sz="3600" dirty="0" err="1">
                <a:latin typeface="Times New Roman" panose="02020603050405020304" pitchFamily="18" charset="0"/>
                <a:cs typeface="Times New Roman" panose="02020603050405020304" pitchFamily="18" charset="0"/>
                <a:hlinkClick r:id="rId6"/>
              </a:rPr>
              <a:t>Polutnik</a:t>
            </a: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  <a:hlinkClick r:id="rId6"/>
              </a:rPr>
              <a:t> &amp; Kapetanović (2026) — Comparative Analysis of Modern ML Models for Retail Sales Forecasting</a:t>
            </a:r>
            <a:endParaRPr lang="en-I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87350" indent="-374650">
              <a:lnSpc>
                <a:spcPct val="100000"/>
              </a:lnSpc>
              <a:spcBef>
                <a:spcPts val="130"/>
              </a:spcBef>
              <a:buFont typeface="Times New Roman"/>
              <a:buChar char="•"/>
              <a:tabLst>
                <a:tab pos="387350" algn="l"/>
              </a:tabLst>
            </a:pPr>
            <a:endParaRPr lang="en-IN" sz="3600" u="heavy" dirty="0">
              <a:uFill>
                <a:solidFill>
                  <a:srgbClr val="000000"/>
                </a:solidFill>
              </a:uFill>
              <a:latin typeface="Times New Roman" panose="02020603050405020304" pitchFamily="18" charset="0"/>
              <a:cs typeface="Times New Roman" panose="02020603050405020304" pitchFamily="18" charset="0"/>
              <a:hlinkClick r:id="rId7"/>
            </a:endParaRPr>
          </a:p>
          <a:p>
            <a:pPr marL="387350" indent="-374650">
              <a:lnSpc>
                <a:spcPct val="100000"/>
              </a:lnSpc>
              <a:spcBef>
                <a:spcPts val="130"/>
              </a:spcBef>
              <a:buFont typeface="Times New Roman"/>
              <a:buChar char="•"/>
              <a:tabLst>
                <a:tab pos="387350" algn="l"/>
              </a:tabLst>
            </a:pP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  <a:hlinkClick r:id="rId8"/>
              </a:rPr>
              <a:t>Bayram, Ahmed &amp; Hallin (2024) — Adaptive Data Quality Scoring Operations Framework using Drift-Aware Mechanism</a:t>
            </a:r>
            <a:endParaRPr sz="34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5689235" y="5309336"/>
            <a:ext cx="6908800" cy="1671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800" dirty="0">
                <a:solidFill>
                  <a:srgbClr val="46B0FA"/>
                </a:solidFill>
                <a:latin typeface="Arial"/>
                <a:cs typeface="Arial"/>
              </a:rPr>
              <a:t>Thank</a:t>
            </a:r>
            <a:r>
              <a:rPr sz="10800" spc="-540" dirty="0">
                <a:solidFill>
                  <a:srgbClr val="46B0FA"/>
                </a:solidFill>
                <a:latin typeface="Arial"/>
                <a:cs typeface="Arial"/>
              </a:rPr>
              <a:t> </a:t>
            </a:r>
            <a:r>
              <a:rPr sz="10800" spc="-875" dirty="0">
                <a:solidFill>
                  <a:srgbClr val="46B0FA"/>
                </a:solidFill>
                <a:latin typeface="Arial"/>
                <a:cs typeface="Arial"/>
              </a:rPr>
              <a:t>Y</a:t>
            </a:r>
            <a:r>
              <a:rPr sz="10800" spc="-70" dirty="0">
                <a:solidFill>
                  <a:srgbClr val="46B0FA"/>
                </a:solidFill>
                <a:latin typeface="Arial"/>
                <a:cs typeface="Arial"/>
              </a:rPr>
              <a:t>ou</a:t>
            </a:r>
            <a:endParaRPr sz="108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6002000" y="225704"/>
            <a:ext cx="2072005" cy="1024890"/>
          </a:xfrm>
          <a:custGeom>
            <a:avLst/>
            <a:gdLst/>
            <a:ahLst/>
            <a:cxnLst/>
            <a:rect l="l" t="t" r="r" b="b"/>
            <a:pathLst>
              <a:path w="2072005" h="1024890">
                <a:moveTo>
                  <a:pt x="2071877" y="0"/>
                </a:moveTo>
                <a:lnTo>
                  <a:pt x="0" y="0"/>
                </a:lnTo>
                <a:lnTo>
                  <a:pt x="0" y="1024318"/>
                </a:lnTo>
                <a:lnTo>
                  <a:pt x="2071877" y="1024318"/>
                </a:lnTo>
                <a:lnTo>
                  <a:pt x="2071877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936893" y="2241193"/>
            <a:ext cx="5179151" cy="175564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00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</TotalTime>
  <Words>688</Words>
  <Application>Microsoft Office PowerPoint</Application>
  <PresentationFormat>Custom</PresentationFormat>
  <Paragraphs>93</Paragraphs>
  <Slides>12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Aptos</vt:lpstr>
      <vt:lpstr>Arial</vt:lpstr>
      <vt:lpstr>Magallanes</vt:lpstr>
      <vt:lpstr>Times New Roman</vt:lpstr>
      <vt:lpstr>Office Theme</vt:lpstr>
      <vt:lpstr>Major Project</vt:lpstr>
      <vt:lpstr>Content</vt:lpstr>
      <vt:lpstr>1. Abstract</vt:lpstr>
      <vt:lpstr>2. Introduction</vt:lpstr>
      <vt:lpstr>3.Literature Review</vt:lpstr>
      <vt:lpstr>4. Problem Statement</vt:lpstr>
      <vt:lpstr>5. Objectives</vt:lpstr>
      <vt:lpstr>6.Methodology</vt:lpstr>
      <vt:lpstr>7. PERT Chart</vt:lpstr>
      <vt:lpstr>8. Conclusion</vt:lpstr>
      <vt:lpstr>9. References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Suryansh Chauhan</dc:creator>
  <cp:lastModifiedBy>Suryansh Chauhan</cp:lastModifiedBy>
  <cp:revision>1</cp:revision>
  <dcterms:created xsi:type="dcterms:W3CDTF">2026-08-20T08:06:30Z</dcterms:created>
  <dcterms:modified xsi:type="dcterms:W3CDTF">2026-08-20T08:15:10Z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StructuredOutput v10.0.19912.1</vt:lpwstr>
  </property>
  <property fmtid="{D5CDD505-2E9C-101B-9397-08002B2CF9AE}" pid="3" name="Created">
    <vt:filetime>2026-08-20T00:00:00Z</vt:filetime>
  </property>
  <property fmtid="{D5CDD505-2E9C-101B-9397-08002B2CF9AE}" pid="4" name="CreationClient">
    <vt:lpwstr>pptx-direct-import</vt:lpwstr>
  </property>
  <property fmtid="{D5CDD505-2E9C-101B-9397-08002B2CF9AE}" pid="5" name="Creator">
    <vt:lpwstr>Adobe Express</vt:lpwstr>
  </property>
  <property fmtid="{D5CDD505-2E9C-101B-9397-08002B2CF9AE}" pid="6" name="LastSaved">
    <vt:filetime>2026-08-20T00:00:00Z</vt:filetime>
  </property>
  <property fmtid="{D5CDD505-2E9C-101B-9397-08002B2CF9AE}" pid="7" name="Producer">
    <vt:lpwstr>Adobe Express</vt:lpwstr>
  </property>
</Properties>
</file>